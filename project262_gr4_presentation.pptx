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autoAdjust="0"/>
  </p:normalViewPr>
  <p:slideViewPr>
    <p:cSldViewPr snapToGrid="0" snapToObjects="1">
      <p:cViewPr varScale="1">
        <p:scale>
          <a:sx n="93" d="100"/>
          <a:sy n="93" d="100"/>
        </p:scale>
        <p:origin x="120" y="13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16807558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614314258"/>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60648375"/>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78224494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pPr/>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99015873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pPr/>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2702771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212999818"/>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84072656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9236939"/>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1092796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61222379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Oval 1"/>
          <p:cNvSpPr/>
          <p:nvPr/>
        </p:nvSpPr>
        <p:spPr>
          <a:xfrm>
            <a:off x="-914400" y="-914400"/>
            <a:ext cx="3657600" cy="3657600"/>
          </a:xfrm>
          <a:prstGeom prst="ellipse">
            <a:avLst/>
          </a:prstGeom>
          <a:solidFill>
            <a:srgbClr val="1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144000" y="4572000"/>
            <a:ext cx="3657600" cy="3657600"/>
          </a:xfrm>
          <a:prstGeom prst="ellipse">
            <a:avLst/>
          </a:prstGeom>
          <a:solidFill>
            <a:srgbClr val="1424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058400" y="-457200"/>
            <a:ext cx="1828800" cy="1828800"/>
          </a:xfrm>
          <a:prstGeom prst="ellipse">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0" y="45720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006840" y="45720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9326880" y="45720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646920" y="45720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966960" y="45720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0287000" y="45720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686800" y="77724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006840" y="77724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9326880" y="77724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9646920" y="77724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966960" y="77724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287000" y="77724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686800" y="109728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9006840" y="109728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9326880" y="109728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646920" y="109728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9966960" y="109728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287000" y="1097280"/>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686800" y="1417319"/>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006840" y="1417319"/>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9326880" y="1417319"/>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9646920" y="1417319"/>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966960" y="1417319"/>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287000" y="1417319"/>
            <a:ext cx="54864" cy="54864"/>
          </a:xfrm>
          <a:prstGeom prst="ellipse">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 y="1371600"/>
            <a:ext cx="7315200" cy="1645920"/>
          </a:xfrm>
          <a:prstGeom prst="rect">
            <a:avLst/>
          </a:prstGeom>
          <a:noFill/>
        </p:spPr>
        <p:txBody>
          <a:bodyPr wrap="square">
            <a:spAutoFit/>
          </a:bodyPr>
          <a:lstStyle/>
          <a:p>
            <a:pPr algn="l"/>
            <a:r>
              <a:rPr sz="4400" b="1">
                <a:solidFill>
                  <a:srgbClr val="FFFFFF"/>
                </a:solidFill>
                <a:latin typeface="Segoe UI"/>
              </a:rPr>
              <a:t>Natural Language &amp;
Recommender Systems</a:t>
            </a:r>
          </a:p>
        </p:txBody>
      </p:sp>
      <p:sp>
        <p:nvSpPr>
          <p:cNvPr id="30" name="Rounded Rectangle 29"/>
          <p:cNvSpPr/>
          <p:nvPr/>
        </p:nvSpPr>
        <p:spPr>
          <a:xfrm>
            <a:off x="914400" y="3108960"/>
            <a:ext cx="36576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advTm="37108">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0">
                <a:solidFill>
                  <a:srgbClr val="6C757D"/>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5486400" cy="640080"/>
          </a:xfrm>
          <a:prstGeom prst="rect">
            <a:avLst/>
          </a:prstGeom>
          <a:noFill/>
        </p:spPr>
        <p:txBody>
          <a:bodyPr wrap="square">
            <a:spAutoFit/>
          </a:bodyPr>
          <a:lstStyle/>
          <a:p>
            <a:pPr algn="l"/>
            <a:r>
              <a:rPr sz="3000" b="1">
                <a:solidFill>
                  <a:srgbClr val="FFFFFF"/>
                </a:solidFill>
                <a:latin typeface="Segoe UI"/>
              </a:rPr>
              <a:t>Project Overview</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645920"/>
            <a:ext cx="5303520" cy="45720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1783080"/>
            <a:ext cx="1828800" cy="365760"/>
          </a:xfrm>
          <a:prstGeom prst="rect">
            <a:avLst/>
          </a:prstGeom>
          <a:noFill/>
        </p:spPr>
        <p:txBody>
          <a:bodyPr wrap="square">
            <a:spAutoFit/>
          </a:bodyPr>
          <a:lstStyle/>
          <a:p>
            <a:pPr algn="l"/>
            <a:r>
              <a:rPr sz="1400" b="1">
                <a:solidFill>
                  <a:srgbClr val="00B4D8"/>
                </a:solidFill>
                <a:latin typeface="Segoe UI"/>
              </a:rPr>
              <a:t>PHASE 1</a:t>
            </a:r>
          </a:p>
        </p:txBody>
      </p:sp>
      <p:sp>
        <p:nvSpPr>
          <p:cNvPr id="13" name="TextBox 12"/>
          <p:cNvSpPr txBox="1"/>
          <p:nvPr/>
        </p:nvSpPr>
        <p:spPr>
          <a:xfrm>
            <a:off x="731520" y="2103120"/>
            <a:ext cx="4572000" cy="365760"/>
          </a:xfrm>
          <a:prstGeom prst="rect">
            <a:avLst/>
          </a:prstGeom>
          <a:noFill/>
        </p:spPr>
        <p:txBody>
          <a:bodyPr wrap="square">
            <a:spAutoFit/>
          </a:bodyPr>
          <a:lstStyle/>
          <a:p>
            <a:pPr algn="l"/>
            <a:r>
              <a:rPr sz="1800" b="1">
                <a:solidFill>
                  <a:srgbClr val="FFFFFF"/>
                </a:solidFill>
                <a:latin typeface="Segoe UI"/>
              </a:rPr>
              <a:t>Lexicon-Based Sentiment Analysis</a:t>
            </a:r>
          </a:p>
        </p:txBody>
      </p:sp>
      <p:sp>
        <p:nvSpPr>
          <p:cNvPr id="14" name="Rounded Rectangle 13"/>
          <p:cNvSpPr/>
          <p:nvPr/>
        </p:nvSpPr>
        <p:spPr>
          <a:xfrm>
            <a:off x="731520" y="274320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278892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16" name="TextBox 15"/>
          <p:cNvSpPr txBox="1"/>
          <p:nvPr/>
        </p:nvSpPr>
        <p:spPr>
          <a:xfrm>
            <a:off x="1280160" y="2761488"/>
            <a:ext cx="2286000" cy="274320"/>
          </a:xfrm>
          <a:prstGeom prst="rect">
            <a:avLst/>
          </a:prstGeom>
          <a:noFill/>
        </p:spPr>
        <p:txBody>
          <a:bodyPr wrap="square">
            <a:spAutoFit/>
          </a:bodyPr>
          <a:lstStyle/>
          <a:p>
            <a:pPr algn="l"/>
            <a:r>
              <a:rPr sz="1400" b="1">
                <a:solidFill>
                  <a:srgbClr val="FFFFFF"/>
                </a:solidFill>
                <a:latin typeface="Segoe UI"/>
              </a:rPr>
              <a:t>Dataset Exploration</a:t>
            </a:r>
          </a:p>
        </p:txBody>
      </p:sp>
      <p:sp>
        <p:nvSpPr>
          <p:cNvPr id="17" name="TextBox 16"/>
          <p:cNvSpPr txBox="1"/>
          <p:nvPr/>
        </p:nvSpPr>
        <p:spPr>
          <a:xfrm>
            <a:off x="1280160" y="2999232"/>
            <a:ext cx="3200400" cy="228600"/>
          </a:xfrm>
          <a:prstGeom prst="rect">
            <a:avLst/>
          </a:prstGeom>
          <a:noFill/>
        </p:spPr>
        <p:txBody>
          <a:bodyPr wrap="square">
            <a:spAutoFit/>
          </a:bodyPr>
          <a:lstStyle/>
          <a:p>
            <a:pPr algn="l"/>
            <a:r>
              <a:rPr sz="1100" b="0">
                <a:solidFill>
                  <a:srgbClr val="6C757D"/>
                </a:solidFill>
                <a:latin typeface="Segoe UI"/>
              </a:rPr>
              <a:t>1.7M Amazon reviews</a:t>
            </a:r>
          </a:p>
        </p:txBody>
      </p:sp>
      <p:sp>
        <p:nvSpPr>
          <p:cNvPr id="18" name="Rounded Rectangle 17"/>
          <p:cNvSpPr/>
          <p:nvPr/>
        </p:nvSpPr>
        <p:spPr>
          <a:xfrm>
            <a:off x="731520" y="338328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342900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20" name="TextBox 19"/>
          <p:cNvSpPr txBox="1"/>
          <p:nvPr/>
        </p:nvSpPr>
        <p:spPr>
          <a:xfrm>
            <a:off x="1280160" y="3401568"/>
            <a:ext cx="2286000" cy="274320"/>
          </a:xfrm>
          <a:prstGeom prst="rect">
            <a:avLst/>
          </a:prstGeom>
          <a:noFill/>
        </p:spPr>
        <p:txBody>
          <a:bodyPr wrap="square">
            <a:spAutoFit/>
          </a:bodyPr>
          <a:lstStyle/>
          <a:p>
            <a:pPr algn="l"/>
            <a:r>
              <a:rPr sz="1400" b="1">
                <a:solidFill>
                  <a:srgbClr val="FFFFFF"/>
                </a:solidFill>
                <a:latin typeface="Segoe UI"/>
              </a:rPr>
              <a:t>Pre-processing</a:t>
            </a:r>
          </a:p>
        </p:txBody>
      </p:sp>
      <p:sp>
        <p:nvSpPr>
          <p:cNvPr id="21" name="TextBox 20"/>
          <p:cNvSpPr txBox="1"/>
          <p:nvPr/>
        </p:nvSpPr>
        <p:spPr>
          <a:xfrm>
            <a:off x="1280160" y="3639312"/>
            <a:ext cx="3200400" cy="228600"/>
          </a:xfrm>
          <a:prstGeom prst="rect">
            <a:avLst/>
          </a:prstGeom>
          <a:noFill/>
        </p:spPr>
        <p:txBody>
          <a:bodyPr wrap="square">
            <a:spAutoFit/>
          </a:bodyPr>
          <a:lstStyle/>
          <a:p>
            <a:pPr algn="l"/>
            <a:r>
              <a:rPr sz="1100" b="0">
                <a:solidFill>
                  <a:srgbClr val="6C757D"/>
                </a:solidFill>
                <a:latin typeface="Segoe UI"/>
              </a:rPr>
              <a:t>Feature selection &amp; cleaning</a:t>
            </a:r>
          </a:p>
        </p:txBody>
      </p:sp>
      <p:sp>
        <p:nvSpPr>
          <p:cNvPr id="22" name="Rounded Rectangle 21"/>
          <p:cNvSpPr/>
          <p:nvPr/>
        </p:nvSpPr>
        <p:spPr>
          <a:xfrm>
            <a:off x="731520" y="402336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406908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24" name="TextBox 23"/>
          <p:cNvSpPr txBox="1"/>
          <p:nvPr/>
        </p:nvSpPr>
        <p:spPr>
          <a:xfrm>
            <a:off x="1280160" y="4041648"/>
            <a:ext cx="2286000" cy="274320"/>
          </a:xfrm>
          <a:prstGeom prst="rect">
            <a:avLst/>
          </a:prstGeom>
          <a:noFill/>
        </p:spPr>
        <p:txBody>
          <a:bodyPr wrap="square">
            <a:spAutoFit/>
          </a:bodyPr>
          <a:lstStyle/>
          <a:p>
            <a:pPr algn="l"/>
            <a:r>
              <a:rPr sz="1400" b="1">
                <a:solidFill>
                  <a:srgbClr val="FFFFFF"/>
                </a:solidFill>
                <a:latin typeface="Segoe UI"/>
              </a:rPr>
              <a:t>VADER &amp; TextBlob</a:t>
            </a:r>
          </a:p>
        </p:txBody>
      </p:sp>
      <p:sp>
        <p:nvSpPr>
          <p:cNvPr id="25" name="TextBox 24"/>
          <p:cNvSpPr txBox="1"/>
          <p:nvPr/>
        </p:nvSpPr>
        <p:spPr>
          <a:xfrm>
            <a:off x="1280160" y="4279392"/>
            <a:ext cx="3200400" cy="228600"/>
          </a:xfrm>
          <a:prstGeom prst="rect">
            <a:avLst/>
          </a:prstGeom>
          <a:noFill/>
        </p:spPr>
        <p:txBody>
          <a:bodyPr wrap="square">
            <a:spAutoFit/>
          </a:bodyPr>
          <a:lstStyle/>
          <a:p>
            <a:pPr algn="l"/>
            <a:r>
              <a:rPr sz="1100" b="0">
                <a:solidFill>
                  <a:srgbClr val="6C757D"/>
                </a:solidFill>
                <a:latin typeface="Segoe UI"/>
              </a:rPr>
              <a:t>Lexicon-based models</a:t>
            </a:r>
          </a:p>
        </p:txBody>
      </p:sp>
      <p:sp>
        <p:nvSpPr>
          <p:cNvPr id="26" name="Rounded Rectangle 25"/>
          <p:cNvSpPr/>
          <p:nvPr/>
        </p:nvSpPr>
        <p:spPr>
          <a:xfrm>
            <a:off x="731520" y="466344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 y="470916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28" name="TextBox 27"/>
          <p:cNvSpPr txBox="1"/>
          <p:nvPr/>
        </p:nvSpPr>
        <p:spPr>
          <a:xfrm>
            <a:off x="1280160" y="4681728"/>
            <a:ext cx="2286000" cy="274320"/>
          </a:xfrm>
          <a:prstGeom prst="rect">
            <a:avLst/>
          </a:prstGeom>
          <a:noFill/>
        </p:spPr>
        <p:txBody>
          <a:bodyPr wrap="square">
            <a:spAutoFit/>
          </a:bodyPr>
          <a:lstStyle/>
          <a:p>
            <a:pPr algn="l"/>
            <a:r>
              <a:rPr sz="1400" b="1">
                <a:solidFill>
                  <a:srgbClr val="FFFFFF"/>
                </a:solidFill>
                <a:latin typeface="Segoe UI"/>
              </a:rPr>
              <a:t>Evaluation</a:t>
            </a:r>
          </a:p>
        </p:txBody>
      </p:sp>
      <p:sp>
        <p:nvSpPr>
          <p:cNvPr id="29" name="TextBox 28"/>
          <p:cNvSpPr txBox="1"/>
          <p:nvPr/>
        </p:nvSpPr>
        <p:spPr>
          <a:xfrm>
            <a:off x="1280160" y="4919472"/>
            <a:ext cx="3200400" cy="228600"/>
          </a:xfrm>
          <a:prstGeom prst="rect">
            <a:avLst/>
          </a:prstGeom>
          <a:noFill/>
        </p:spPr>
        <p:txBody>
          <a:bodyPr wrap="square">
            <a:spAutoFit/>
          </a:bodyPr>
          <a:lstStyle/>
          <a:p>
            <a:pPr algn="l"/>
            <a:r>
              <a:rPr sz="1100" b="0">
                <a:solidFill>
                  <a:srgbClr val="6C757D"/>
                </a:solidFill>
                <a:latin typeface="Segoe UI"/>
              </a:rPr>
              <a:t>Confusion matrices &amp; F1</a:t>
            </a:r>
          </a:p>
        </p:txBody>
      </p:sp>
      <p:sp>
        <p:nvSpPr>
          <p:cNvPr id="30" name="Rounded Rectangle 29"/>
          <p:cNvSpPr/>
          <p:nvPr/>
        </p:nvSpPr>
        <p:spPr>
          <a:xfrm>
            <a:off x="731520" y="530352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 y="534924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32" name="TextBox 31"/>
          <p:cNvSpPr txBox="1"/>
          <p:nvPr/>
        </p:nvSpPr>
        <p:spPr>
          <a:xfrm>
            <a:off x="1280160" y="5321808"/>
            <a:ext cx="2286000" cy="274320"/>
          </a:xfrm>
          <a:prstGeom prst="rect">
            <a:avLst/>
          </a:prstGeom>
          <a:noFill/>
        </p:spPr>
        <p:txBody>
          <a:bodyPr wrap="square">
            <a:spAutoFit/>
          </a:bodyPr>
          <a:lstStyle/>
          <a:p>
            <a:pPr algn="l"/>
            <a:r>
              <a:rPr sz="1400" b="1">
                <a:solidFill>
                  <a:srgbClr val="FFFFFF"/>
                </a:solidFill>
                <a:latin typeface="Segoe UI"/>
              </a:rPr>
              <a:t>Fine Tuning</a:t>
            </a:r>
          </a:p>
        </p:txBody>
      </p:sp>
      <p:sp>
        <p:nvSpPr>
          <p:cNvPr id="33" name="TextBox 32"/>
          <p:cNvSpPr txBox="1"/>
          <p:nvPr/>
        </p:nvSpPr>
        <p:spPr>
          <a:xfrm>
            <a:off x="1280160" y="5559552"/>
            <a:ext cx="3200400" cy="228600"/>
          </a:xfrm>
          <a:prstGeom prst="rect">
            <a:avLst/>
          </a:prstGeom>
          <a:noFill/>
        </p:spPr>
        <p:txBody>
          <a:bodyPr wrap="square">
            <a:spAutoFit/>
          </a:bodyPr>
          <a:lstStyle/>
          <a:p>
            <a:pPr algn="l"/>
            <a:r>
              <a:rPr sz="1100" b="0">
                <a:solidFill>
                  <a:srgbClr val="6C757D"/>
                </a:solidFill>
                <a:latin typeface="Segoe UI"/>
              </a:rPr>
              <a:t>Thresholds &amp; sampling</a:t>
            </a:r>
          </a:p>
        </p:txBody>
      </p:sp>
      <p:sp>
        <p:nvSpPr>
          <p:cNvPr id="34" name="Right Arrow 33"/>
          <p:cNvSpPr/>
          <p:nvPr/>
        </p:nvSpPr>
        <p:spPr>
          <a:xfrm>
            <a:off x="5784657" y="3474720"/>
            <a:ext cx="640080" cy="365760"/>
          </a:xfrm>
          <a:prstGeom prst="rightArrow">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6400800" y="1645920"/>
            <a:ext cx="5303520" cy="45720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75120" y="1783080"/>
            <a:ext cx="1828800" cy="365760"/>
          </a:xfrm>
          <a:prstGeom prst="rect">
            <a:avLst/>
          </a:prstGeom>
          <a:noFill/>
        </p:spPr>
        <p:txBody>
          <a:bodyPr wrap="square">
            <a:spAutoFit/>
          </a:bodyPr>
          <a:lstStyle/>
          <a:p>
            <a:pPr algn="l"/>
            <a:r>
              <a:rPr sz="1400" b="1">
                <a:solidFill>
                  <a:srgbClr val="FF6B35"/>
                </a:solidFill>
                <a:latin typeface="Segoe UI"/>
              </a:rPr>
              <a:t>PHASE 2</a:t>
            </a:r>
          </a:p>
        </p:txBody>
      </p:sp>
      <p:sp>
        <p:nvSpPr>
          <p:cNvPr id="37" name="TextBox 36"/>
          <p:cNvSpPr txBox="1"/>
          <p:nvPr/>
        </p:nvSpPr>
        <p:spPr>
          <a:xfrm>
            <a:off x="6675120" y="2103120"/>
            <a:ext cx="4572000" cy="365760"/>
          </a:xfrm>
          <a:prstGeom prst="rect">
            <a:avLst/>
          </a:prstGeom>
          <a:noFill/>
        </p:spPr>
        <p:txBody>
          <a:bodyPr wrap="square">
            <a:spAutoFit/>
          </a:bodyPr>
          <a:lstStyle/>
          <a:p>
            <a:pPr algn="l"/>
            <a:r>
              <a:rPr sz="1800" b="1">
                <a:solidFill>
                  <a:srgbClr val="FFFFFF"/>
                </a:solidFill>
                <a:latin typeface="Segoe UI"/>
              </a:rPr>
              <a:t>ML, Recommender &amp; LLM</a:t>
            </a:r>
          </a:p>
        </p:txBody>
      </p:sp>
      <p:sp>
        <p:nvSpPr>
          <p:cNvPr id="38" name="Rounded Rectangle 37"/>
          <p:cNvSpPr/>
          <p:nvPr/>
        </p:nvSpPr>
        <p:spPr>
          <a:xfrm>
            <a:off x="6675120" y="274320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766560" y="278892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40" name="TextBox 39"/>
          <p:cNvSpPr txBox="1"/>
          <p:nvPr/>
        </p:nvSpPr>
        <p:spPr>
          <a:xfrm>
            <a:off x="7223760" y="2761488"/>
            <a:ext cx="2286000" cy="274320"/>
          </a:xfrm>
          <a:prstGeom prst="rect">
            <a:avLst/>
          </a:prstGeom>
          <a:noFill/>
        </p:spPr>
        <p:txBody>
          <a:bodyPr wrap="square">
            <a:spAutoFit/>
          </a:bodyPr>
          <a:lstStyle/>
          <a:p>
            <a:pPr algn="l"/>
            <a:r>
              <a:rPr sz="1400" b="1">
                <a:solidFill>
                  <a:srgbClr val="FFFFFF"/>
                </a:solidFill>
                <a:latin typeface="Segoe UI"/>
              </a:rPr>
              <a:t>ML Models</a:t>
            </a:r>
          </a:p>
        </p:txBody>
      </p:sp>
      <p:sp>
        <p:nvSpPr>
          <p:cNvPr id="41" name="TextBox 40"/>
          <p:cNvSpPr txBox="1"/>
          <p:nvPr/>
        </p:nvSpPr>
        <p:spPr>
          <a:xfrm>
            <a:off x="7223760" y="2999232"/>
            <a:ext cx="3200400" cy="228600"/>
          </a:xfrm>
          <a:prstGeom prst="rect">
            <a:avLst/>
          </a:prstGeom>
          <a:noFill/>
        </p:spPr>
        <p:txBody>
          <a:bodyPr wrap="square">
            <a:spAutoFit/>
          </a:bodyPr>
          <a:lstStyle/>
          <a:p>
            <a:pPr algn="l"/>
            <a:r>
              <a:rPr sz="1100" b="0">
                <a:solidFill>
                  <a:srgbClr val="6C757D"/>
                </a:solidFill>
                <a:latin typeface="Segoe UI"/>
              </a:rPr>
              <a:t>Logistic Regression &amp; SVM</a:t>
            </a:r>
          </a:p>
        </p:txBody>
      </p:sp>
      <p:sp>
        <p:nvSpPr>
          <p:cNvPr id="42" name="Rounded Rectangle 41"/>
          <p:cNvSpPr/>
          <p:nvPr/>
        </p:nvSpPr>
        <p:spPr>
          <a:xfrm>
            <a:off x="6675120" y="338328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766560" y="342900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44" name="TextBox 43"/>
          <p:cNvSpPr txBox="1"/>
          <p:nvPr/>
        </p:nvSpPr>
        <p:spPr>
          <a:xfrm>
            <a:off x="7223760" y="3401568"/>
            <a:ext cx="2286000" cy="274320"/>
          </a:xfrm>
          <a:prstGeom prst="rect">
            <a:avLst/>
          </a:prstGeom>
          <a:noFill/>
        </p:spPr>
        <p:txBody>
          <a:bodyPr wrap="square">
            <a:spAutoFit/>
          </a:bodyPr>
          <a:lstStyle/>
          <a:p>
            <a:pPr algn="l"/>
            <a:r>
              <a:rPr sz="1400" b="1">
                <a:solidFill>
                  <a:srgbClr val="FFFFFF"/>
                </a:solidFill>
                <a:latin typeface="Segoe UI"/>
              </a:rPr>
              <a:t>Cross-Comparison</a:t>
            </a:r>
          </a:p>
        </p:txBody>
      </p:sp>
      <p:sp>
        <p:nvSpPr>
          <p:cNvPr id="45" name="TextBox 44"/>
          <p:cNvSpPr txBox="1"/>
          <p:nvPr/>
        </p:nvSpPr>
        <p:spPr>
          <a:xfrm>
            <a:off x="7223760" y="3639312"/>
            <a:ext cx="3200400" cy="228600"/>
          </a:xfrm>
          <a:prstGeom prst="rect">
            <a:avLst/>
          </a:prstGeom>
          <a:noFill/>
        </p:spPr>
        <p:txBody>
          <a:bodyPr wrap="square">
            <a:spAutoFit/>
          </a:bodyPr>
          <a:lstStyle/>
          <a:p>
            <a:pPr algn="l"/>
            <a:r>
              <a:rPr sz="1100" b="0">
                <a:solidFill>
                  <a:srgbClr val="6C757D"/>
                </a:solidFill>
                <a:latin typeface="Segoe UI"/>
              </a:rPr>
              <a:t>Lexicon vs ML models</a:t>
            </a:r>
          </a:p>
        </p:txBody>
      </p:sp>
      <p:sp>
        <p:nvSpPr>
          <p:cNvPr id="46" name="Rounded Rectangle 45"/>
          <p:cNvSpPr/>
          <p:nvPr/>
        </p:nvSpPr>
        <p:spPr>
          <a:xfrm>
            <a:off x="6675120" y="402336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766560" y="406908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48" name="TextBox 47"/>
          <p:cNvSpPr txBox="1"/>
          <p:nvPr/>
        </p:nvSpPr>
        <p:spPr>
          <a:xfrm>
            <a:off x="7223760" y="4041648"/>
            <a:ext cx="2286000" cy="274320"/>
          </a:xfrm>
          <a:prstGeom prst="rect">
            <a:avLst/>
          </a:prstGeom>
          <a:noFill/>
        </p:spPr>
        <p:txBody>
          <a:bodyPr wrap="square">
            <a:spAutoFit/>
          </a:bodyPr>
          <a:lstStyle/>
          <a:p>
            <a:pPr algn="l"/>
            <a:r>
              <a:rPr sz="1400" b="1">
                <a:solidFill>
                  <a:srgbClr val="FFFFFF"/>
                </a:solidFill>
                <a:latin typeface="Segoe UI"/>
              </a:rPr>
              <a:t>Recommender System</a:t>
            </a:r>
          </a:p>
        </p:txBody>
      </p:sp>
      <p:sp>
        <p:nvSpPr>
          <p:cNvPr id="49" name="TextBox 48"/>
          <p:cNvSpPr txBox="1"/>
          <p:nvPr/>
        </p:nvSpPr>
        <p:spPr>
          <a:xfrm>
            <a:off x="7223760" y="4279392"/>
            <a:ext cx="3200400" cy="228600"/>
          </a:xfrm>
          <a:prstGeom prst="rect">
            <a:avLst/>
          </a:prstGeom>
          <a:noFill/>
        </p:spPr>
        <p:txBody>
          <a:bodyPr wrap="square">
            <a:spAutoFit/>
          </a:bodyPr>
          <a:lstStyle/>
          <a:p>
            <a:pPr algn="l"/>
            <a:r>
              <a:rPr sz="1100" b="0">
                <a:solidFill>
                  <a:srgbClr val="6C757D"/>
                </a:solidFill>
                <a:latin typeface="Segoe UI"/>
              </a:rPr>
              <a:t>Sentiment-enhanced CF</a:t>
            </a:r>
          </a:p>
        </p:txBody>
      </p:sp>
      <p:sp>
        <p:nvSpPr>
          <p:cNvPr id="50" name="Rounded Rectangle 49"/>
          <p:cNvSpPr/>
          <p:nvPr/>
        </p:nvSpPr>
        <p:spPr>
          <a:xfrm>
            <a:off x="6675120" y="466344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766560" y="470916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52" name="TextBox 51"/>
          <p:cNvSpPr txBox="1"/>
          <p:nvPr/>
        </p:nvSpPr>
        <p:spPr>
          <a:xfrm>
            <a:off x="7223760" y="4681728"/>
            <a:ext cx="2286000" cy="274320"/>
          </a:xfrm>
          <a:prstGeom prst="rect">
            <a:avLst/>
          </a:prstGeom>
          <a:noFill/>
        </p:spPr>
        <p:txBody>
          <a:bodyPr wrap="square">
            <a:spAutoFit/>
          </a:bodyPr>
          <a:lstStyle/>
          <a:p>
            <a:pPr algn="l"/>
            <a:r>
              <a:rPr sz="1400" b="1">
                <a:solidFill>
                  <a:srgbClr val="FFFFFF"/>
                </a:solidFill>
                <a:latin typeface="Segoe UI"/>
              </a:rPr>
              <a:t>LLM Summarization</a:t>
            </a:r>
          </a:p>
        </p:txBody>
      </p:sp>
      <p:sp>
        <p:nvSpPr>
          <p:cNvPr id="53" name="TextBox 52"/>
          <p:cNvSpPr txBox="1"/>
          <p:nvPr/>
        </p:nvSpPr>
        <p:spPr>
          <a:xfrm>
            <a:off x="7223760" y="4919472"/>
            <a:ext cx="3200400" cy="228600"/>
          </a:xfrm>
          <a:prstGeom prst="rect">
            <a:avLst/>
          </a:prstGeom>
          <a:noFill/>
        </p:spPr>
        <p:txBody>
          <a:bodyPr wrap="square">
            <a:spAutoFit/>
          </a:bodyPr>
          <a:lstStyle/>
          <a:p>
            <a:pPr algn="l"/>
            <a:r>
              <a:rPr sz="1100" b="0">
                <a:solidFill>
                  <a:srgbClr val="6C757D"/>
                </a:solidFill>
                <a:latin typeface="Segoe UI"/>
              </a:rPr>
              <a:t>DistilBART review summaries</a:t>
            </a:r>
          </a:p>
        </p:txBody>
      </p:sp>
      <p:sp>
        <p:nvSpPr>
          <p:cNvPr id="54" name="Rounded Rectangle 53"/>
          <p:cNvSpPr/>
          <p:nvPr/>
        </p:nvSpPr>
        <p:spPr>
          <a:xfrm>
            <a:off x="6675120" y="5303520"/>
            <a:ext cx="4754880" cy="530352"/>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766560" y="5349240"/>
            <a:ext cx="365760" cy="411480"/>
          </a:xfrm>
          <a:prstGeom prst="rect">
            <a:avLst/>
          </a:prstGeom>
          <a:noFill/>
        </p:spPr>
        <p:txBody>
          <a:bodyPr wrap="square">
            <a:spAutoFit/>
          </a:bodyPr>
          <a:lstStyle/>
          <a:p>
            <a:pPr algn="l"/>
            <a:r>
              <a:rPr sz="1800" b="0">
                <a:solidFill>
                  <a:srgbClr val="FFFFFF"/>
                </a:solidFill>
                <a:latin typeface="Segoe UI Emoji"/>
              </a:rPr>
              <a:t>💬</a:t>
            </a:r>
          </a:p>
        </p:txBody>
      </p:sp>
      <p:sp>
        <p:nvSpPr>
          <p:cNvPr id="56" name="TextBox 55"/>
          <p:cNvSpPr txBox="1"/>
          <p:nvPr/>
        </p:nvSpPr>
        <p:spPr>
          <a:xfrm>
            <a:off x="7223760" y="5321808"/>
            <a:ext cx="2286000" cy="274320"/>
          </a:xfrm>
          <a:prstGeom prst="rect">
            <a:avLst/>
          </a:prstGeom>
          <a:noFill/>
        </p:spPr>
        <p:txBody>
          <a:bodyPr wrap="square">
            <a:spAutoFit/>
          </a:bodyPr>
          <a:lstStyle/>
          <a:p>
            <a:pPr algn="l"/>
            <a:r>
              <a:rPr sz="1400" b="1">
                <a:solidFill>
                  <a:srgbClr val="FFFFFF"/>
                </a:solidFill>
                <a:latin typeface="Segoe UI"/>
              </a:rPr>
              <a:t>CS Response Gen</a:t>
            </a:r>
          </a:p>
        </p:txBody>
      </p:sp>
      <p:sp>
        <p:nvSpPr>
          <p:cNvPr id="57" name="TextBox 56"/>
          <p:cNvSpPr txBox="1"/>
          <p:nvPr/>
        </p:nvSpPr>
        <p:spPr>
          <a:xfrm>
            <a:off x="7223760" y="5559552"/>
            <a:ext cx="3200400" cy="228600"/>
          </a:xfrm>
          <a:prstGeom prst="rect">
            <a:avLst/>
          </a:prstGeom>
          <a:noFill/>
        </p:spPr>
        <p:txBody>
          <a:bodyPr wrap="square">
            <a:spAutoFit/>
          </a:bodyPr>
          <a:lstStyle/>
          <a:p>
            <a:pPr algn="l"/>
            <a:r>
              <a:rPr sz="1100" b="0">
                <a:solidFill>
                  <a:srgbClr val="6C757D"/>
                </a:solidFill>
                <a:latin typeface="Segoe UI"/>
              </a:rPr>
              <a:t>Flan-T5 auto-responses</a:t>
            </a:r>
          </a:p>
        </p:txBody>
      </p:sp>
    </p:spTree>
  </p:cSld>
  <p:clrMapOvr>
    <a:masterClrMapping/>
  </p:clrMapOvr>
  <p:transition spd="med" advTm="43128">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3657600" cy="2743200"/>
          </a:xfrm>
          <a:prstGeom prst="rect">
            <a:avLst/>
          </a:prstGeom>
          <a:noFill/>
        </p:spPr>
        <p:txBody>
          <a:bodyPr wrap="square">
            <a:spAutoFit/>
          </a:bodyPr>
          <a:lstStyle/>
          <a:p>
            <a:pPr algn="l"/>
            <a:r>
              <a:rPr sz="12000" b="1">
                <a:solidFill>
                  <a:srgbClr val="1D3050"/>
                </a:solidFill>
                <a:latin typeface="Segoe UI Black"/>
              </a:rPr>
              <a:t>01</a:t>
            </a:r>
          </a:p>
        </p:txBody>
      </p:sp>
      <p:sp>
        <p:nvSpPr>
          <p:cNvPr id="3" name="Rounded Rectangle 2"/>
          <p:cNvSpPr/>
          <p:nvPr/>
        </p:nvSpPr>
        <p:spPr>
          <a:xfrm>
            <a:off x="914400" y="3200400"/>
            <a:ext cx="27432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474720"/>
            <a:ext cx="10058400" cy="1097280"/>
          </a:xfrm>
          <a:prstGeom prst="rect">
            <a:avLst/>
          </a:prstGeom>
          <a:noFill/>
        </p:spPr>
        <p:txBody>
          <a:bodyPr wrap="square">
            <a:spAutoFit/>
          </a:bodyPr>
          <a:lstStyle/>
          <a:p>
            <a:pPr algn="l"/>
            <a:r>
              <a:rPr sz="4000" b="1">
                <a:solidFill>
                  <a:srgbClr val="FFFFFF"/>
                </a:solidFill>
                <a:latin typeface="Segoe UI"/>
              </a:rPr>
              <a:t>Phase 1: Lexicon-Based
Sentiment Analysis</a:t>
            </a:r>
          </a:p>
        </p:txBody>
      </p:sp>
      <p:sp>
        <p:nvSpPr>
          <p:cNvPr id="5" name="TextBox 4"/>
          <p:cNvSpPr txBox="1"/>
          <p:nvPr/>
        </p:nvSpPr>
        <p:spPr>
          <a:xfrm>
            <a:off x="914400" y="4756446"/>
            <a:ext cx="9144000" cy="731520"/>
          </a:xfrm>
          <a:prstGeom prst="rect">
            <a:avLst/>
          </a:prstGeom>
          <a:noFill/>
        </p:spPr>
        <p:txBody>
          <a:bodyPr wrap="square">
            <a:spAutoFit/>
          </a:bodyPr>
          <a:lstStyle/>
          <a:p>
            <a:pPr algn="l"/>
            <a:r>
              <a:rPr sz="2000" b="0" dirty="0">
                <a:solidFill>
                  <a:srgbClr val="48CAE4"/>
                </a:solidFill>
                <a:latin typeface="Segoe UI"/>
              </a:rPr>
              <a:t>Amazon Industrial &amp; Scientific Reviews  •  VADER  •  </a:t>
            </a:r>
            <a:r>
              <a:rPr sz="2000" b="0" dirty="0" err="1">
                <a:solidFill>
                  <a:srgbClr val="48CAE4"/>
                </a:solidFill>
                <a:latin typeface="Segoe UI"/>
              </a:rPr>
              <a:t>TextBlob</a:t>
            </a:r>
            <a:endParaRPr sz="2000" b="0" dirty="0">
              <a:solidFill>
                <a:srgbClr val="48CAE4"/>
              </a:solidFill>
              <a:latin typeface="Segoe UI"/>
            </a:endParaRPr>
          </a:p>
        </p:txBody>
      </p:sp>
      <p:sp>
        <p:nvSpPr>
          <p:cNvPr id="6" name="Oval 5"/>
          <p:cNvSpPr/>
          <p:nvPr/>
        </p:nvSpPr>
        <p:spPr>
          <a:xfrm>
            <a:off x="10058400" y="914400"/>
            <a:ext cx="1371600" cy="1371600"/>
          </a:xfrm>
          <a:prstGeom prst="ellipse">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32720" y="1188720"/>
            <a:ext cx="822960" cy="8229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advTm="12058">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1">
                <a:solidFill>
                  <a:srgbClr val="00B4D8"/>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Dataset Exploration</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463040"/>
            <a:ext cx="2697480" cy="10972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517904"/>
            <a:ext cx="2697480" cy="1042415"/>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600200"/>
            <a:ext cx="2194560" cy="548640"/>
          </a:xfrm>
          <a:prstGeom prst="rect">
            <a:avLst/>
          </a:prstGeom>
          <a:noFill/>
        </p:spPr>
        <p:txBody>
          <a:bodyPr wrap="square">
            <a:spAutoFit/>
          </a:bodyPr>
          <a:lstStyle/>
          <a:p>
            <a:pPr algn="l"/>
            <a:r>
              <a:rPr sz="3000" b="1">
                <a:solidFill>
                  <a:srgbClr val="00B4D8"/>
                </a:solidFill>
                <a:latin typeface="Segoe UI"/>
              </a:rPr>
              <a:t>1.76M</a:t>
            </a:r>
          </a:p>
        </p:txBody>
      </p:sp>
      <p:sp>
        <p:nvSpPr>
          <p:cNvPr id="14" name="TextBox 13"/>
          <p:cNvSpPr txBox="1"/>
          <p:nvPr/>
        </p:nvSpPr>
        <p:spPr>
          <a:xfrm>
            <a:off x="731520" y="2057400"/>
            <a:ext cx="2194560" cy="365760"/>
          </a:xfrm>
          <a:prstGeom prst="rect">
            <a:avLst/>
          </a:prstGeom>
          <a:noFill/>
        </p:spPr>
        <p:txBody>
          <a:bodyPr wrap="square">
            <a:spAutoFit/>
          </a:bodyPr>
          <a:lstStyle/>
          <a:p>
            <a:pPr algn="l"/>
            <a:r>
              <a:rPr sz="1300" b="0">
                <a:solidFill>
                  <a:srgbClr val="6C757D"/>
                </a:solidFill>
                <a:latin typeface="Segoe UI"/>
              </a:rPr>
              <a:t>Total Reviews</a:t>
            </a:r>
          </a:p>
        </p:txBody>
      </p:sp>
      <p:sp>
        <p:nvSpPr>
          <p:cNvPr id="15" name="Rounded Rectangle 14"/>
          <p:cNvSpPr/>
          <p:nvPr/>
        </p:nvSpPr>
        <p:spPr>
          <a:xfrm>
            <a:off x="3337560" y="1463040"/>
            <a:ext cx="2697480" cy="1097280"/>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337560" y="1517904"/>
            <a:ext cx="2697480" cy="1042415"/>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11880" y="1600200"/>
            <a:ext cx="2194560" cy="548640"/>
          </a:xfrm>
          <a:prstGeom prst="rect">
            <a:avLst/>
          </a:prstGeom>
          <a:noFill/>
        </p:spPr>
        <p:txBody>
          <a:bodyPr wrap="square">
            <a:spAutoFit/>
          </a:bodyPr>
          <a:lstStyle/>
          <a:p>
            <a:pPr algn="l"/>
            <a:r>
              <a:rPr sz="3000" b="1">
                <a:solidFill>
                  <a:srgbClr val="06D6A0"/>
                </a:solidFill>
                <a:latin typeface="Segoe UI"/>
              </a:rPr>
              <a:t>165,764</a:t>
            </a:r>
          </a:p>
        </p:txBody>
      </p:sp>
      <p:sp>
        <p:nvSpPr>
          <p:cNvPr id="18" name="TextBox 17"/>
          <p:cNvSpPr txBox="1"/>
          <p:nvPr/>
        </p:nvSpPr>
        <p:spPr>
          <a:xfrm>
            <a:off x="3611880" y="2057400"/>
            <a:ext cx="2194560" cy="365760"/>
          </a:xfrm>
          <a:prstGeom prst="rect">
            <a:avLst/>
          </a:prstGeom>
          <a:noFill/>
        </p:spPr>
        <p:txBody>
          <a:bodyPr wrap="square">
            <a:spAutoFit/>
          </a:bodyPr>
          <a:lstStyle/>
          <a:p>
            <a:pPr algn="l"/>
            <a:r>
              <a:rPr sz="1300" b="0">
                <a:solidFill>
                  <a:srgbClr val="6C757D"/>
                </a:solidFill>
                <a:latin typeface="Segoe UI"/>
              </a:rPr>
              <a:t>Products</a:t>
            </a:r>
          </a:p>
        </p:txBody>
      </p:sp>
      <p:sp>
        <p:nvSpPr>
          <p:cNvPr id="19" name="Rounded Rectangle 18"/>
          <p:cNvSpPr/>
          <p:nvPr/>
        </p:nvSpPr>
        <p:spPr>
          <a:xfrm>
            <a:off x="6217920" y="1463040"/>
            <a:ext cx="2697480" cy="109728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217920" y="1517904"/>
            <a:ext cx="2697480" cy="1042415"/>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1600200"/>
            <a:ext cx="2194560" cy="548640"/>
          </a:xfrm>
          <a:prstGeom prst="rect">
            <a:avLst/>
          </a:prstGeom>
          <a:noFill/>
        </p:spPr>
        <p:txBody>
          <a:bodyPr wrap="square">
            <a:spAutoFit/>
          </a:bodyPr>
          <a:lstStyle/>
          <a:p>
            <a:pPr algn="l"/>
            <a:r>
              <a:rPr sz="3000" b="1">
                <a:solidFill>
                  <a:srgbClr val="FF6B35"/>
                </a:solidFill>
                <a:latin typeface="Segoe UI"/>
              </a:rPr>
              <a:t>1.25M</a:t>
            </a:r>
          </a:p>
        </p:txBody>
      </p:sp>
      <p:sp>
        <p:nvSpPr>
          <p:cNvPr id="22" name="TextBox 21"/>
          <p:cNvSpPr txBox="1"/>
          <p:nvPr/>
        </p:nvSpPr>
        <p:spPr>
          <a:xfrm>
            <a:off x="6492240" y="2057400"/>
            <a:ext cx="2194560" cy="365760"/>
          </a:xfrm>
          <a:prstGeom prst="rect">
            <a:avLst/>
          </a:prstGeom>
          <a:noFill/>
        </p:spPr>
        <p:txBody>
          <a:bodyPr wrap="square">
            <a:spAutoFit/>
          </a:bodyPr>
          <a:lstStyle/>
          <a:p>
            <a:pPr algn="l"/>
            <a:r>
              <a:rPr sz="1300" b="0">
                <a:solidFill>
                  <a:srgbClr val="6C757D"/>
                </a:solidFill>
                <a:latin typeface="Segoe UI"/>
              </a:rPr>
              <a:t>Unique Users</a:t>
            </a:r>
          </a:p>
        </p:txBody>
      </p:sp>
      <p:sp>
        <p:nvSpPr>
          <p:cNvPr id="23" name="Rounded Rectangle 22"/>
          <p:cNvSpPr/>
          <p:nvPr/>
        </p:nvSpPr>
        <p:spPr>
          <a:xfrm>
            <a:off x="9098280" y="1463040"/>
            <a:ext cx="2697480" cy="1097280"/>
          </a:xfrm>
          <a:prstGeom prst="roundRect">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098280" y="1517904"/>
            <a:ext cx="2697480" cy="1042415"/>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72600" y="1600200"/>
            <a:ext cx="2194560" cy="548640"/>
          </a:xfrm>
          <a:prstGeom prst="rect">
            <a:avLst/>
          </a:prstGeom>
          <a:noFill/>
        </p:spPr>
        <p:txBody>
          <a:bodyPr wrap="square">
            <a:spAutoFit/>
          </a:bodyPr>
          <a:lstStyle/>
          <a:p>
            <a:pPr algn="l"/>
            <a:r>
              <a:rPr sz="3000" b="1">
                <a:solidFill>
                  <a:srgbClr val="7B2D8E"/>
                </a:solidFill>
                <a:latin typeface="Segoe UI"/>
              </a:rPr>
              <a:t>4.29</a:t>
            </a:r>
          </a:p>
        </p:txBody>
      </p:sp>
      <p:sp>
        <p:nvSpPr>
          <p:cNvPr id="26" name="TextBox 25"/>
          <p:cNvSpPr txBox="1"/>
          <p:nvPr/>
        </p:nvSpPr>
        <p:spPr>
          <a:xfrm>
            <a:off x="9372600" y="2057400"/>
            <a:ext cx="2194560" cy="365760"/>
          </a:xfrm>
          <a:prstGeom prst="rect">
            <a:avLst/>
          </a:prstGeom>
          <a:noFill/>
        </p:spPr>
        <p:txBody>
          <a:bodyPr wrap="square">
            <a:spAutoFit/>
          </a:bodyPr>
          <a:lstStyle/>
          <a:p>
            <a:pPr algn="l"/>
            <a:r>
              <a:rPr sz="1300" b="0">
                <a:solidFill>
                  <a:srgbClr val="6C757D"/>
                </a:solidFill>
                <a:latin typeface="Segoe UI"/>
              </a:rPr>
              <a:t>Avg Rating</a:t>
            </a:r>
          </a:p>
        </p:txBody>
      </p:sp>
      <p:sp>
        <p:nvSpPr>
          <p:cNvPr id="27" name="Rounded Rectangle 26"/>
          <p:cNvSpPr/>
          <p:nvPr/>
        </p:nvSpPr>
        <p:spPr>
          <a:xfrm>
            <a:off x="457200" y="2834640"/>
            <a:ext cx="5486400" cy="356616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2971800"/>
            <a:ext cx="4572000" cy="365760"/>
          </a:xfrm>
          <a:prstGeom prst="rect">
            <a:avLst/>
          </a:prstGeom>
          <a:noFill/>
        </p:spPr>
        <p:txBody>
          <a:bodyPr wrap="square">
            <a:spAutoFit/>
          </a:bodyPr>
          <a:lstStyle/>
          <a:p>
            <a:pPr algn="l"/>
            <a:r>
              <a:rPr sz="1500" b="1">
                <a:solidFill>
                  <a:srgbClr val="FFFFFF"/>
                </a:solidFill>
                <a:latin typeface="Segoe UI"/>
              </a:rPr>
              <a:t>⭐  Rating Distribution (Heavily Imbalanced)</a:t>
            </a:r>
          </a:p>
        </p:txBody>
      </p:sp>
      <p:sp>
        <p:nvSpPr>
          <p:cNvPr id="29" name="TextBox 28"/>
          <p:cNvSpPr txBox="1"/>
          <p:nvPr/>
        </p:nvSpPr>
        <p:spPr>
          <a:xfrm>
            <a:off x="731520" y="3566160"/>
            <a:ext cx="914400" cy="320040"/>
          </a:xfrm>
          <a:prstGeom prst="rect">
            <a:avLst/>
          </a:prstGeom>
          <a:noFill/>
        </p:spPr>
        <p:txBody>
          <a:bodyPr wrap="square">
            <a:spAutoFit/>
          </a:bodyPr>
          <a:lstStyle/>
          <a:p>
            <a:pPr algn="l"/>
            <a:r>
              <a:rPr sz="1200" b="0">
                <a:solidFill>
                  <a:srgbClr val="6C757D"/>
                </a:solidFill>
                <a:latin typeface="Segoe UI"/>
              </a:rPr>
              <a:t>5 stars</a:t>
            </a:r>
          </a:p>
        </p:txBody>
      </p:sp>
      <p:sp>
        <p:nvSpPr>
          <p:cNvPr id="30" name="Rounded Rectangle 29"/>
          <p:cNvSpPr/>
          <p:nvPr/>
        </p:nvSpPr>
        <p:spPr>
          <a:xfrm>
            <a:off x="1828800" y="3611880"/>
            <a:ext cx="3195693" cy="25603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15933" y="3566160"/>
            <a:ext cx="731520" cy="320040"/>
          </a:xfrm>
          <a:prstGeom prst="rect">
            <a:avLst/>
          </a:prstGeom>
          <a:noFill/>
        </p:spPr>
        <p:txBody>
          <a:bodyPr wrap="square">
            <a:spAutoFit/>
          </a:bodyPr>
          <a:lstStyle/>
          <a:p>
            <a:pPr algn="l"/>
            <a:r>
              <a:rPr sz="1200" b="1">
                <a:solidFill>
                  <a:srgbClr val="00B4D8"/>
                </a:solidFill>
                <a:latin typeface="Segoe UI"/>
              </a:rPr>
              <a:t>67.9%</a:t>
            </a:r>
          </a:p>
        </p:txBody>
      </p:sp>
      <p:sp>
        <p:nvSpPr>
          <p:cNvPr id="32" name="TextBox 31"/>
          <p:cNvSpPr txBox="1"/>
          <p:nvPr/>
        </p:nvSpPr>
        <p:spPr>
          <a:xfrm>
            <a:off x="731520" y="4114800"/>
            <a:ext cx="914400" cy="320040"/>
          </a:xfrm>
          <a:prstGeom prst="rect">
            <a:avLst/>
          </a:prstGeom>
          <a:noFill/>
        </p:spPr>
        <p:txBody>
          <a:bodyPr wrap="square">
            <a:spAutoFit/>
          </a:bodyPr>
          <a:lstStyle/>
          <a:p>
            <a:pPr algn="l"/>
            <a:r>
              <a:rPr sz="1200" b="0">
                <a:solidFill>
                  <a:srgbClr val="6C757D"/>
                </a:solidFill>
                <a:latin typeface="Segoe UI"/>
              </a:rPr>
              <a:t>4 stars</a:t>
            </a:r>
          </a:p>
        </p:txBody>
      </p:sp>
      <p:sp>
        <p:nvSpPr>
          <p:cNvPr id="33" name="Rounded Rectangle 32"/>
          <p:cNvSpPr/>
          <p:nvPr/>
        </p:nvSpPr>
        <p:spPr>
          <a:xfrm>
            <a:off x="1828800" y="4160520"/>
            <a:ext cx="644786" cy="256032"/>
          </a:xfrm>
          <a:prstGeom prst="round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565026" y="4114800"/>
            <a:ext cx="731520" cy="320040"/>
          </a:xfrm>
          <a:prstGeom prst="rect">
            <a:avLst/>
          </a:prstGeom>
          <a:noFill/>
        </p:spPr>
        <p:txBody>
          <a:bodyPr wrap="square">
            <a:spAutoFit/>
          </a:bodyPr>
          <a:lstStyle/>
          <a:p>
            <a:pPr algn="l"/>
            <a:r>
              <a:rPr sz="1200" b="1">
                <a:solidFill>
                  <a:srgbClr val="48CAE4"/>
                </a:solidFill>
                <a:latin typeface="Segoe UI"/>
              </a:rPr>
              <a:t>13.7%</a:t>
            </a:r>
          </a:p>
        </p:txBody>
      </p:sp>
      <p:sp>
        <p:nvSpPr>
          <p:cNvPr id="35" name="TextBox 34"/>
          <p:cNvSpPr txBox="1"/>
          <p:nvPr/>
        </p:nvSpPr>
        <p:spPr>
          <a:xfrm>
            <a:off x="731520" y="4663440"/>
            <a:ext cx="914400" cy="320040"/>
          </a:xfrm>
          <a:prstGeom prst="rect">
            <a:avLst/>
          </a:prstGeom>
          <a:noFill/>
        </p:spPr>
        <p:txBody>
          <a:bodyPr wrap="square">
            <a:spAutoFit/>
          </a:bodyPr>
          <a:lstStyle/>
          <a:p>
            <a:pPr algn="l"/>
            <a:r>
              <a:rPr sz="1200" b="0">
                <a:solidFill>
                  <a:srgbClr val="6C757D"/>
                </a:solidFill>
                <a:latin typeface="Segoe UI"/>
              </a:rPr>
              <a:t>3 stars</a:t>
            </a:r>
          </a:p>
        </p:txBody>
      </p:sp>
      <p:sp>
        <p:nvSpPr>
          <p:cNvPr id="36" name="Rounded Rectangle 35"/>
          <p:cNvSpPr/>
          <p:nvPr/>
        </p:nvSpPr>
        <p:spPr>
          <a:xfrm>
            <a:off x="1828800" y="4709160"/>
            <a:ext cx="296507" cy="256032"/>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216747" y="4663440"/>
            <a:ext cx="731520" cy="320040"/>
          </a:xfrm>
          <a:prstGeom prst="rect">
            <a:avLst/>
          </a:prstGeom>
          <a:noFill/>
        </p:spPr>
        <p:txBody>
          <a:bodyPr wrap="square">
            <a:spAutoFit/>
          </a:bodyPr>
          <a:lstStyle/>
          <a:p>
            <a:pPr algn="l"/>
            <a:r>
              <a:rPr sz="1200" b="1">
                <a:solidFill>
                  <a:srgbClr val="6C757D"/>
                </a:solidFill>
                <a:latin typeface="Segoe UI"/>
              </a:rPr>
              <a:t>6.3%</a:t>
            </a:r>
          </a:p>
        </p:txBody>
      </p:sp>
      <p:sp>
        <p:nvSpPr>
          <p:cNvPr id="38" name="TextBox 37"/>
          <p:cNvSpPr txBox="1"/>
          <p:nvPr/>
        </p:nvSpPr>
        <p:spPr>
          <a:xfrm>
            <a:off x="731520" y="5212080"/>
            <a:ext cx="914400" cy="320040"/>
          </a:xfrm>
          <a:prstGeom prst="rect">
            <a:avLst/>
          </a:prstGeom>
          <a:noFill/>
        </p:spPr>
        <p:txBody>
          <a:bodyPr wrap="square">
            <a:spAutoFit/>
          </a:bodyPr>
          <a:lstStyle/>
          <a:p>
            <a:pPr algn="l"/>
            <a:r>
              <a:rPr sz="1200" b="0">
                <a:solidFill>
                  <a:srgbClr val="6C757D"/>
                </a:solidFill>
                <a:latin typeface="Segoe UI"/>
              </a:rPr>
              <a:t>2 stars</a:t>
            </a:r>
          </a:p>
        </p:txBody>
      </p:sp>
      <p:sp>
        <p:nvSpPr>
          <p:cNvPr id="39" name="Rounded Rectangle 38"/>
          <p:cNvSpPr/>
          <p:nvPr/>
        </p:nvSpPr>
        <p:spPr>
          <a:xfrm>
            <a:off x="1828800" y="5257800"/>
            <a:ext cx="192965" cy="256032"/>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13205" y="5212080"/>
            <a:ext cx="731520" cy="320040"/>
          </a:xfrm>
          <a:prstGeom prst="rect">
            <a:avLst/>
          </a:prstGeom>
          <a:noFill/>
        </p:spPr>
        <p:txBody>
          <a:bodyPr wrap="square">
            <a:spAutoFit/>
          </a:bodyPr>
          <a:lstStyle/>
          <a:p>
            <a:pPr algn="l"/>
            <a:r>
              <a:rPr sz="1200" b="1">
                <a:solidFill>
                  <a:srgbClr val="FF6B35"/>
                </a:solidFill>
                <a:latin typeface="Segoe UI"/>
              </a:rPr>
              <a:t>4.1%</a:t>
            </a:r>
          </a:p>
        </p:txBody>
      </p:sp>
      <p:sp>
        <p:nvSpPr>
          <p:cNvPr id="41" name="TextBox 40"/>
          <p:cNvSpPr txBox="1"/>
          <p:nvPr/>
        </p:nvSpPr>
        <p:spPr>
          <a:xfrm>
            <a:off x="731520" y="5760720"/>
            <a:ext cx="914400" cy="320040"/>
          </a:xfrm>
          <a:prstGeom prst="rect">
            <a:avLst/>
          </a:prstGeom>
          <a:noFill/>
        </p:spPr>
        <p:txBody>
          <a:bodyPr wrap="square">
            <a:spAutoFit/>
          </a:bodyPr>
          <a:lstStyle/>
          <a:p>
            <a:pPr algn="l"/>
            <a:r>
              <a:rPr sz="1200" b="0">
                <a:solidFill>
                  <a:srgbClr val="6C757D"/>
                </a:solidFill>
                <a:latin typeface="Segoe UI"/>
              </a:rPr>
              <a:t>1 star</a:t>
            </a:r>
          </a:p>
        </p:txBody>
      </p:sp>
      <p:sp>
        <p:nvSpPr>
          <p:cNvPr id="42" name="Rounded Rectangle 41"/>
          <p:cNvSpPr/>
          <p:nvPr/>
        </p:nvSpPr>
        <p:spPr>
          <a:xfrm>
            <a:off x="1828800" y="5806440"/>
            <a:ext cx="376517" cy="256032"/>
          </a:xfrm>
          <a:prstGeom prst="roundRect">
            <a:avLst/>
          </a:prstGeom>
          <a:solidFill>
            <a:srgbClr val="E0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296757" y="5760720"/>
            <a:ext cx="731520" cy="320040"/>
          </a:xfrm>
          <a:prstGeom prst="rect">
            <a:avLst/>
          </a:prstGeom>
          <a:noFill/>
        </p:spPr>
        <p:txBody>
          <a:bodyPr wrap="square">
            <a:spAutoFit/>
          </a:bodyPr>
          <a:lstStyle/>
          <a:p>
            <a:pPr algn="l"/>
            <a:r>
              <a:rPr sz="1200" b="1">
                <a:solidFill>
                  <a:srgbClr val="E04444"/>
                </a:solidFill>
                <a:latin typeface="Segoe UI"/>
              </a:rPr>
              <a:t>8.0%</a:t>
            </a:r>
          </a:p>
        </p:txBody>
      </p:sp>
      <p:sp>
        <p:nvSpPr>
          <p:cNvPr id="44" name="Rounded Rectangle 43"/>
          <p:cNvSpPr/>
          <p:nvPr/>
        </p:nvSpPr>
        <p:spPr>
          <a:xfrm>
            <a:off x="6217920" y="2834640"/>
            <a:ext cx="5486400" cy="164592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492240" y="2926080"/>
            <a:ext cx="5029200" cy="320040"/>
          </a:xfrm>
          <a:prstGeom prst="rect">
            <a:avLst/>
          </a:prstGeom>
          <a:noFill/>
        </p:spPr>
        <p:txBody>
          <a:bodyPr wrap="square">
            <a:spAutoFit/>
          </a:bodyPr>
          <a:lstStyle/>
          <a:p>
            <a:pPr algn="l"/>
            <a:r>
              <a:rPr sz="1500" b="1">
                <a:solidFill>
                  <a:srgbClr val="FFFFFF"/>
                </a:solidFill>
                <a:latin typeface="Segoe UI"/>
              </a:rPr>
              <a:t>📦  Reviews Per Product</a:t>
            </a:r>
          </a:p>
        </p:txBody>
      </p:sp>
      <p:sp>
        <p:nvSpPr>
          <p:cNvPr id="46" name="TextBox 45"/>
          <p:cNvSpPr txBox="1"/>
          <p:nvPr/>
        </p:nvSpPr>
        <p:spPr>
          <a:xfrm>
            <a:off x="6492240" y="3337560"/>
            <a:ext cx="5029200" cy="1097280"/>
          </a:xfrm>
          <a:prstGeom prst="rect">
            <a:avLst/>
          </a:prstGeom>
          <a:noFill/>
        </p:spPr>
        <p:txBody>
          <a:bodyPr wrap="square">
            <a:spAutoFit/>
          </a:bodyPr>
          <a:lstStyle/>
          <a:p>
            <a:pPr>
              <a:spcBef>
                <a:spcPts val="200"/>
              </a:spcBef>
              <a:spcAft>
                <a:spcPts val="800"/>
              </a:spcAft>
            </a:pPr>
            <a:r>
              <a:rPr sz="1200" b="0">
                <a:solidFill>
                  <a:srgbClr val="6C757D"/>
                </a:solidFill>
                <a:latin typeface="Segoe UI"/>
              </a:rPr>
              <a:t>Avg 10.61 reviews/product  •  Median: 2</a:t>
            </a:r>
          </a:p>
          <a:p>
            <a:pPr>
              <a:spcBef>
                <a:spcPts val="200"/>
              </a:spcBef>
              <a:spcAft>
                <a:spcPts val="800"/>
              </a:spcAft>
            </a:pPr>
            <a:r>
              <a:rPr sz="1200" b="0">
                <a:solidFill>
                  <a:srgbClr val="6C757D"/>
                </a:solidFill>
                <a:latin typeface="Segoe UI"/>
              </a:rPr>
              <a:t>78,651 products with only 1 review</a:t>
            </a:r>
          </a:p>
          <a:p>
            <a:pPr>
              <a:spcBef>
                <a:spcPts val="200"/>
              </a:spcBef>
              <a:spcAft>
                <a:spcPts val="800"/>
              </a:spcAft>
            </a:pPr>
            <a:r>
              <a:rPr sz="1200" b="0">
                <a:solidFill>
                  <a:srgbClr val="48CAE4"/>
                </a:solidFill>
                <a:latin typeface="Segoe UI"/>
              </a:rPr>
              <a:t>Most reviewed item: 14,331 reviews</a:t>
            </a:r>
          </a:p>
        </p:txBody>
      </p:sp>
      <p:sp>
        <p:nvSpPr>
          <p:cNvPr id="47" name="Rounded Rectangle 46"/>
          <p:cNvSpPr/>
          <p:nvPr/>
        </p:nvSpPr>
        <p:spPr>
          <a:xfrm>
            <a:off x="6217920" y="4709160"/>
            <a:ext cx="5486400" cy="169164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92240" y="4800600"/>
            <a:ext cx="5029200" cy="320040"/>
          </a:xfrm>
          <a:prstGeom prst="rect">
            <a:avLst/>
          </a:prstGeom>
          <a:noFill/>
        </p:spPr>
        <p:txBody>
          <a:bodyPr wrap="square">
            <a:spAutoFit/>
          </a:bodyPr>
          <a:lstStyle/>
          <a:p>
            <a:pPr algn="l"/>
            <a:r>
              <a:rPr sz="1500" b="1">
                <a:solidFill>
                  <a:srgbClr val="FFFFFF"/>
                </a:solidFill>
                <a:latin typeface="Segoe UI"/>
              </a:rPr>
              <a:t>⚠️  Data Quality</a:t>
            </a:r>
          </a:p>
        </p:txBody>
      </p:sp>
      <p:sp>
        <p:nvSpPr>
          <p:cNvPr id="49" name="TextBox 48"/>
          <p:cNvSpPr txBox="1"/>
          <p:nvPr/>
        </p:nvSpPr>
        <p:spPr>
          <a:xfrm>
            <a:off x="6492240" y="5137519"/>
            <a:ext cx="5029200" cy="1097280"/>
          </a:xfrm>
          <a:prstGeom prst="rect">
            <a:avLst/>
          </a:prstGeom>
          <a:noFill/>
        </p:spPr>
        <p:txBody>
          <a:bodyPr wrap="square">
            <a:spAutoFit/>
          </a:bodyPr>
          <a:lstStyle/>
          <a:p>
            <a:pPr>
              <a:spcBef>
                <a:spcPts val="200"/>
              </a:spcBef>
              <a:spcAft>
                <a:spcPts val="800"/>
              </a:spcAft>
            </a:pPr>
            <a:r>
              <a:rPr sz="1200" b="0" dirty="0">
                <a:solidFill>
                  <a:srgbClr val="6C757D"/>
                </a:solidFill>
                <a:latin typeface="Segoe UI"/>
              </a:rPr>
              <a:t>78% users wrote only 1 review</a:t>
            </a:r>
          </a:p>
          <a:p>
            <a:pPr>
              <a:spcBef>
                <a:spcPts val="200"/>
              </a:spcBef>
              <a:spcAft>
                <a:spcPts val="800"/>
              </a:spcAft>
            </a:pPr>
            <a:r>
              <a:rPr sz="1200" b="0" dirty="0">
                <a:solidFill>
                  <a:srgbClr val="6C757D"/>
                </a:solidFill>
                <a:latin typeface="Segoe UI"/>
              </a:rPr>
              <a:t>Images missing: 98%  •  Votes: 88%</a:t>
            </a:r>
          </a:p>
          <a:p>
            <a:pPr>
              <a:spcBef>
                <a:spcPts val="200"/>
              </a:spcBef>
              <a:spcAft>
                <a:spcPts val="800"/>
              </a:spcAft>
            </a:pPr>
            <a:r>
              <a:rPr sz="1200" b="0" dirty="0">
                <a:solidFill>
                  <a:srgbClr val="FF6B35"/>
                </a:solidFill>
                <a:latin typeface="Segoe UI"/>
              </a:rPr>
              <a:t>377,093 duplicate texts  •  87,081 full duplicates</a:t>
            </a:r>
          </a:p>
          <a:p>
            <a:pPr>
              <a:spcBef>
                <a:spcPts val="200"/>
              </a:spcBef>
              <a:spcAft>
                <a:spcPts val="800"/>
              </a:spcAft>
            </a:pPr>
            <a:r>
              <a:rPr sz="1200" b="0" dirty="0" err="1">
                <a:solidFill>
                  <a:srgbClr val="06D6A0"/>
                </a:solidFill>
                <a:latin typeface="Segoe UI"/>
              </a:rPr>
              <a:t>ReviewText</a:t>
            </a:r>
            <a:r>
              <a:rPr sz="1200" b="0" dirty="0">
                <a:solidFill>
                  <a:srgbClr val="06D6A0"/>
                </a:solidFill>
                <a:latin typeface="Segoe UI"/>
              </a:rPr>
              <a:t> &amp; Summary: &lt;1% missing ✓</a:t>
            </a:r>
          </a:p>
        </p:txBody>
      </p:sp>
    </p:spTree>
  </p:cSld>
  <p:clrMapOvr>
    <a:masterClrMapping/>
  </p:clrMapOvr>
  <p:transition spd="med" advTm="93568">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1">
                <a:solidFill>
                  <a:srgbClr val="00B4D8"/>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Dataset Pre-processing</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417320"/>
            <a:ext cx="3657600" cy="365760"/>
          </a:xfrm>
          <a:prstGeom prst="rect">
            <a:avLst/>
          </a:prstGeom>
          <a:noFill/>
        </p:spPr>
        <p:txBody>
          <a:bodyPr wrap="square">
            <a:spAutoFit/>
          </a:bodyPr>
          <a:lstStyle/>
          <a:p>
            <a:pPr algn="l"/>
            <a:r>
              <a:rPr sz="1600" b="1">
                <a:solidFill>
                  <a:srgbClr val="48CAE4"/>
                </a:solidFill>
                <a:latin typeface="Segoe UI"/>
              </a:rPr>
              <a:t>Processing Pipeline</a:t>
            </a:r>
          </a:p>
        </p:txBody>
      </p:sp>
      <p:sp>
        <p:nvSpPr>
          <p:cNvPr id="12" name="Rounded Rectangle 11"/>
          <p:cNvSpPr/>
          <p:nvPr/>
        </p:nvSpPr>
        <p:spPr>
          <a:xfrm>
            <a:off x="457200" y="1828800"/>
            <a:ext cx="2560320" cy="201168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94360" y="1920240"/>
            <a:ext cx="411480" cy="41148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1</a:t>
            </a:r>
          </a:p>
        </p:txBody>
      </p:sp>
      <p:sp>
        <p:nvSpPr>
          <p:cNvPr id="14" name="TextBox 13"/>
          <p:cNvSpPr txBox="1"/>
          <p:nvPr/>
        </p:nvSpPr>
        <p:spPr>
          <a:xfrm>
            <a:off x="1097280" y="1920240"/>
            <a:ext cx="1828800" cy="457200"/>
          </a:xfrm>
          <a:prstGeom prst="rect">
            <a:avLst/>
          </a:prstGeom>
          <a:noFill/>
        </p:spPr>
        <p:txBody>
          <a:bodyPr wrap="square">
            <a:spAutoFit/>
          </a:bodyPr>
          <a:lstStyle/>
          <a:p>
            <a:pPr algn="l"/>
            <a:r>
              <a:rPr sz="1500" b="1">
                <a:solidFill>
                  <a:srgbClr val="FFFFFF"/>
                </a:solidFill>
                <a:latin typeface="Segoe UI"/>
              </a:rPr>
              <a:t>Feature
Selection</a:t>
            </a:r>
          </a:p>
        </p:txBody>
      </p:sp>
      <p:sp>
        <p:nvSpPr>
          <p:cNvPr id="15" name="TextBox 14"/>
          <p:cNvSpPr txBox="1"/>
          <p:nvPr/>
        </p:nvSpPr>
        <p:spPr>
          <a:xfrm>
            <a:off x="640080" y="2514600"/>
            <a:ext cx="2194560" cy="1188720"/>
          </a:xfrm>
          <a:prstGeom prst="rect">
            <a:avLst/>
          </a:prstGeom>
          <a:noFill/>
        </p:spPr>
        <p:txBody>
          <a:bodyPr wrap="square">
            <a:spAutoFit/>
          </a:bodyPr>
          <a:lstStyle/>
          <a:p>
            <a:pPr algn="l"/>
            <a:r>
              <a:rPr sz="1200" b="0">
                <a:solidFill>
                  <a:srgbClr val="6C757D"/>
                </a:solidFill>
                <a:latin typeface="Segoe UI"/>
              </a:rPr>
              <a:t>Kept: reviewText,
summary, overall,
asin, reviewerID</a:t>
            </a:r>
          </a:p>
        </p:txBody>
      </p:sp>
      <p:sp>
        <p:nvSpPr>
          <p:cNvPr id="16" name="Right Arrow 15"/>
          <p:cNvSpPr/>
          <p:nvPr/>
        </p:nvSpPr>
        <p:spPr>
          <a:xfrm>
            <a:off x="3063240" y="2651760"/>
            <a:ext cx="274320" cy="182880"/>
          </a:xfrm>
          <a:prstGeom prst="rightArrow">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383280" y="1828800"/>
            <a:ext cx="2560320" cy="201168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3520440" y="1920240"/>
            <a:ext cx="411480" cy="411480"/>
          </a:xfrm>
          <a:prstGeom prst="ellipse">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2</a:t>
            </a:r>
          </a:p>
        </p:txBody>
      </p:sp>
      <p:sp>
        <p:nvSpPr>
          <p:cNvPr id="19" name="TextBox 18"/>
          <p:cNvSpPr txBox="1"/>
          <p:nvPr/>
        </p:nvSpPr>
        <p:spPr>
          <a:xfrm>
            <a:off x="4023360" y="1920240"/>
            <a:ext cx="1828800" cy="457200"/>
          </a:xfrm>
          <a:prstGeom prst="rect">
            <a:avLst/>
          </a:prstGeom>
          <a:noFill/>
        </p:spPr>
        <p:txBody>
          <a:bodyPr wrap="square">
            <a:spAutoFit/>
          </a:bodyPr>
          <a:lstStyle/>
          <a:p>
            <a:pPr algn="l"/>
            <a:r>
              <a:rPr sz="1500" b="1">
                <a:solidFill>
                  <a:srgbClr val="FFFFFF"/>
                </a:solidFill>
                <a:latin typeface="Segoe UI"/>
              </a:rPr>
              <a:t>Label
Mapping</a:t>
            </a:r>
          </a:p>
        </p:txBody>
      </p:sp>
      <p:sp>
        <p:nvSpPr>
          <p:cNvPr id="20" name="TextBox 19"/>
          <p:cNvSpPr txBox="1"/>
          <p:nvPr/>
        </p:nvSpPr>
        <p:spPr>
          <a:xfrm>
            <a:off x="3566160" y="2514600"/>
            <a:ext cx="2194560" cy="1188720"/>
          </a:xfrm>
          <a:prstGeom prst="rect">
            <a:avLst/>
          </a:prstGeom>
          <a:noFill/>
        </p:spPr>
        <p:txBody>
          <a:bodyPr wrap="square">
            <a:spAutoFit/>
          </a:bodyPr>
          <a:lstStyle/>
          <a:p>
            <a:pPr algn="l"/>
            <a:r>
              <a:rPr sz="1200" b="0">
                <a:solidFill>
                  <a:srgbClr val="6C757D"/>
                </a:solidFill>
                <a:latin typeface="Segoe UI"/>
              </a:rPr>
              <a:t>4-5★ → Positive
3★ → Neutral
1-2★ → Negative</a:t>
            </a:r>
          </a:p>
        </p:txBody>
      </p:sp>
      <p:sp>
        <p:nvSpPr>
          <p:cNvPr id="21" name="Right Arrow 20"/>
          <p:cNvSpPr/>
          <p:nvPr/>
        </p:nvSpPr>
        <p:spPr>
          <a:xfrm>
            <a:off x="5989320" y="2651760"/>
            <a:ext cx="274320" cy="182880"/>
          </a:xfrm>
          <a:prstGeom prst="rightArrow">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309360" y="1828800"/>
            <a:ext cx="2560320" cy="201168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46520" y="1920240"/>
            <a:ext cx="411480" cy="41148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3</a:t>
            </a:r>
          </a:p>
        </p:txBody>
      </p:sp>
      <p:sp>
        <p:nvSpPr>
          <p:cNvPr id="24" name="TextBox 23"/>
          <p:cNvSpPr txBox="1"/>
          <p:nvPr/>
        </p:nvSpPr>
        <p:spPr>
          <a:xfrm>
            <a:off x="6949440" y="1920240"/>
            <a:ext cx="1828800" cy="457200"/>
          </a:xfrm>
          <a:prstGeom prst="rect">
            <a:avLst/>
          </a:prstGeom>
          <a:noFill/>
        </p:spPr>
        <p:txBody>
          <a:bodyPr wrap="square">
            <a:spAutoFit/>
          </a:bodyPr>
          <a:lstStyle/>
          <a:p>
            <a:pPr algn="l"/>
            <a:r>
              <a:rPr sz="1500" b="1">
                <a:solidFill>
                  <a:srgbClr val="FFFFFF"/>
                </a:solidFill>
                <a:latin typeface="Segoe UI"/>
              </a:rPr>
              <a:t>Outlier
Decision</a:t>
            </a:r>
          </a:p>
        </p:txBody>
      </p:sp>
      <p:sp>
        <p:nvSpPr>
          <p:cNvPr id="25" name="TextBox 24"/>
          <p:cNvSpPr txBox="1"/>
          <p:nvPr/>
        </p:nvSpPr>
        <p:spPr>
          <a:xfrm>
            <a:off x="6492240" y="2514600"/>
            <a:ext cx="2194560" cy="1188720"/>
          </a:xfrm>
          <a:prstGeom prst="rect">
            <a:avLst/>
          </a:prstGeom>
          <a:noFill/>
        </p:spPr>
        <p:txBody>
          <a:bodyPr wrap="square">
            <a:spAutoFit/>
          </a:bodyPr>
          <a:lstStyle/>
          <a:p>
            <a:pPr algn="l"/>
            <a:r>
              <a:rPr sz="1200" b="0">
                <a:solidFill>
                  <a:srgbClr val="6C757D"/>
                </a:solidFill>
                <a:latin typeface="Segoe UI"/>
              </a:rPr>
              <a:t>Kept &lt;10%
outliers — lexicons
handle long text</a:t>
            </a:r>
          </a:p>
        </p:txBody>
      </p:sp>
      <p:sp>
        <p:nvSpPr>
          <p:cNvPr id="26" name="Right Arrow 25"/>
          <p:cNvSpPr/>
          <p:nvPr/>
        </p:nvSpPr>
        <p:spPr>
          <a:xfrm>
            <a:off x="8915400" y="2651760"/>
            <a:ext cx="274320" cy="182880"/>
          </a:xfrm>
          <a:prstGeom prst="rightArrow">
            <a:avLst/>
          </a:prstGeom>
          <a:solidFill>
            <a:srgbClr val="25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235440" y="1828800"/>
            <a:ext cx="2560320" cy="201168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9372600" y="1920240"/>
            <a:ext cx="411480" cy="411480"/>
          </a:xfrm>
          <a:prstGeom prst="ellipse">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4</a:t>
            </a:r>
          </a:p>
        </p:txBody>
      </p:sp>
      <p:sp>
        <p:nvSpPr>
          <p:cNvPr id="29" name="TextBox 28"/>
          <p:cNvSpPr txBox="1"/>
          <p:nvPr/>
        </p:nvSpPr>
        <p:spPr>
          <a:xfrm>
            <a:off x="9875520" y="1920240"/>
            <a:ext cx="1828800" cy="457200"/>
          </a:xfrm>
          <a:prstGeom prst="rect">
            <a:avLst/>
          </a:prstGeom>
          <a:noFill/>
        </p:spPr>
        <p:txBody>
          <a:bodyPr wrap="square">
            <a:spAutoFit/>
          </a:bodyPr>
          <a:lstStyle/>
          <a:p>
            <a:pPr algn="l"/>
            <a:r>
              <a:rPr sz="1500" b="1">
                <a:solidFill>
                  <a:srgbClr val="FFFFFF"/>
                </a:solidFill>
                <a:latin typeface="Segoe UI"/>
              </a:rPr>
              <a:t>Feature
Engineering</a:t>
            </a:r>
          </a:p>
        </p:txBody>
      </p:sp>
      <p:sp>
        <p:nvSpPr>
          <p:cNvPr id="30" name="TextBox 29"/>
          <p:cNvSpPr txBox="1"/>
          <p:nvPr/>
        </p:nvSpPr>
        <p:spPr>
          <a:xfrm>
            <a:off x="9418320" y="2514600"/>
            <a:ext cx="2194560" cy="1188720"/>
          </a:xfrm>
          <a:prstGeom prst="rect">
            <a:avLst/>
          </a:prstGeom>
          <a:noFill/>
        </p:spPr>
        <p:txBody>
          <a:bodyPr wrap="square">
            <a:spAutoFit/>
          </a:bodyPr>
          <a:lstStyle/>
          <a:p>
            <a:pPr algn="l"/>
            <a:r>
              <a:rPr sz="1200" b="0">
                <a:solidFill>
                  <a:srgbClr val="6C757D"/>
                </a:solidFill>
                <a:latin typeface="Segoe UI"/>
              </a:rPr>
              <a:t>Created 'full_text'
= summary +
reviewText</a:t>
            </a:r>
          </a:p>
        </p:txBody>
      </p:sp>
      <p:sp>
        <p:nvSpPr>
          <p:cNvPr id="31" name="TextBox 30"/>
          <p:cNvSpPr txBox="1"/>
          <p:nvPr/>
        </p:nvSpPr>
        <p:spPr>
          <a:xfrm>
            <a:off x="640080" y="4114800"/>
            <a:ext cx="5486400" cy="365760"/>
          </a:xfrm>
          <a:prstGeom prst="rect">
            <a:avLst/>
          </a:prstGeom>
          <a:noFill/>
        </p:spPr>
        <p:txBody>
          <a:bodyPr wrap="square">
            <a:spAutoFit/>
          </a:bodyPr>
          <a:lstStyle/>
          <a:p>
            <a:pPr algn="l"/>
            <a:r>
              <a:rPr sz="1600" b="1">
                <a:solidFill>
                  <a:srgbClr val="48CAE4"/>
                </a:solidFill>
                <a:latin typeface="Segoe UI"/>
              </a:rPr>
              <a:t>Model-Specific Pre-processing</a:t>
            </a:r>
          </a:p>
        </p:txBody>
      </p:sp>
      <p:sp>
        <p:nvSpPr>
          <p:cNvPr id="32" name="Rounded Rectangle 31"/>
          <p:cNvSpPr/>
          <p:nvPr/>
        </p:nvSpPr>
        <p:spPr>
          <a:xfrm>
            <a:off x="457200" y="4572000"/>
            <a:ext cx="5486400" cy="18288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521207" y="4572000"/>
            <a:ext cx="5422392" cy="18288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4663440"/>
            <a:ext cx="5029200" cy="365760"/>
          </a:xfrm>
          <a:prstGeom prst="rect">
            <a:avLst/>
          </a:prstGeom>
          <a:noFill/>
        </p:spPr>
        <p:txBody>
          <a:bodyPr wrap="square">
            <a:spAutoFit/>
          </a:bodyPr>
          <a:lstStyle/>
          <a:p>
            <a:pPr algn="l"/>
            <a:r>
              <a:rPr sz="1400" b="1">
                <a:solidFill>
                  <a:srgbClr val="00B4D8"/>
                </a:solidFill>
                <a:latin typeface="Segoe UI"/>
              </a:rPr>
              <a:t>🔵  VADER — Minimal Preprocessing</a:t>
            </a:r>
          </a:p>
        </p:txBody>
      </p:sp>
      <p:sp>
        <p:nvSpPr>
          <p:cNvPr id="35" name="TextBox 34"/>
          <p:cNvSpPr txBox="1"/>
          <p:nvPr/>
        </p:nvSpPr>
        <p:spPr>
          <a:xfrm>
            <a:off x="731520" y="5029200"/>
            <a:ext cx="5029200" cy="1097280"/>
          </a:xfrm>
          <a:prstGeom prst="rect">
            <a:avLst/>
          </a:prstGeom>
          <a:noFill/>
        </p:spPr>
        <p:txBody>
          <a:bodyPr wrap="square">
            <a:spAutoFit/>
          </a:bodyPr>
          <a:lstStyle/>
          <a:p>
            <a:pPr>
              <a:spcBef>
                <a:spcPts val="200"/>
              </a:spcBef>
              <a:spcAft>
                <a:spcPts val="800"/>
              </a:spcAft>
            </a:pPr>
            <a:r>
              <a:rPr sz="1200" b="0">
                <a:solidFill>
                  <a:srgbClr val="6C757D"/>
                </a:solidFill>
                <a:latin typeface="Segoe UI"/>
              </a:rPr>
              <a:t>✓ Preserved capitalization (intensity signal)</a:t>
            </a:r>
          </a:p>
          <a:p>
            <a:pPr>
              <a:spcBef>
                <a:spcPts val="200"/>
              </a:spcBef>
              <a:spcAft>
                <a:spcPts val="800"/>
              </a:spcAft>
            </a:pPr>
            <a:r>
              <a:rPr sz="1200" b="0">
                <a:solidFill>
                  <a:srgbClr val="6C757D"/>
                </a:solidFill>
                <a:latin typeface="Segoe UI"/>
              </a:rPr>
              <a:t>✓ Kept punctuation (!!!) as emphasis</a:t>
            </a:r>
          </a:p>
          <a:p>
            <a:pPr>
              <a:spcBef>
                <a:spcPts val="200"/>
              </a:spcBef>
              <a:spcAft>
                <a:spcPts val="800"/>
              </a:spcAft>
            </a:pPr>
            <a:r>
              <a:rPr sz="1200" b="0">
                <a:solidFill>
                  <a:srgbClr val="6C757D"/>
                </a:solidFill>
                <a:latin typeface="Segoe UI"/>
              </a:rPr>
              <a:t>✓ Retained degree modifiers ('very', 'extremely')</a:t>
            </a:r>
          </a:p>
        </p:txBody>
      </p:sp>
      <p:sp>
        <p:nvSpPr>
          <p:cNvPr id="36" name="Rounded Rectangle 35"/>
          <p:cNvSpPr/>
          <p:nvPr/>
        </p:nvSpPr>
        <p:spPr>
          <a:xfrm>
            <a:off x="6217920" y="4572000"/>
            <a:ext cx="5486400" cy="18288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281928" y="4572000"/>
            <a:ext cx="5422392" cy="18288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2240" y="4663440"/>
            <a:ext cx="5029200" cy="365760"/>
          </a:xfrm>
          <a:prstGeom prst="rect">
            <a:avLst/>
          </a:prstGeom>
          <a:noFill/>
        </p:spPr>
        <p:txBody>
          <a:bodyPr wrap="square">
            <a:spAutoFit/>
          </a:bodyPr>
          <a:lstStyle/>
          <a:p>
            <a:pPr algn="l"/>
            <a:r>
              <a:rPr sz="1400" b="1">
                <a:solidFill>
                  <a:srgbClr val="FF6B35"/>
                </a:solidFill>
                <a:latin typeface="Segoe UI"/>
              </a:rPr>
              <a:t>🟠  TextBlob — Light Cleaning</a:t>
            </a:r>
          </a:p>
        </p:txBody>
      </p:sp>
      <p:sp>
        <p:nvSpPr>
          <p:cNvPr id="39" name="TextBox 38"/>
          <p:cNvSpPr txBox="1"/>
          <p:nvPr/>
        </p:nvSpPr>
        <p:spPr>
          <a:xfrm>
            <a:off x="6492240" y="5029200"/>
            <a:ext cx="5029200" cy="1097280"/>
          </a:xfrm>
          <a:prstGeom prst="rect">
            <a:avLst/>
          </a:prstGeom>
          <a:noFill/>
        </p:spPr>
        <p:txBody>
          <a:bodyPr wrap="square">
            <a:spAutoFit/>
          </a:bodyPr>
          <a:lstStyle/>
          <a:p>
            <a:pPr>
              <a:spcBef>
                <a:spcPts val="200"/>
              </a:spcBef>
              <a:spcAft>
                <a:spcPts val="800"/>
              </a:spcAft>
            </a:pPr>
            <a:r>
              <a:rPr sz="1200" b="0">
                <a:solidFill>
                  <a:srgbClr val="6C757D"/>
                </a:solidFill>
                <a:latin typeface="Segoe UI"/>
              </a:rPr>
              <a:t>✓ HTML tag removal</a:t>
            </a:r>
          </a:p>
          <a:p>
            <a:pPr>
              <a:spcBef>
                <a:spcPts val="200"/>
              </a:spcBef>
              <a:spcAft>
                <a:spcPts val="800"/>
              </a:spcAft>
            </a:pPr>
            <a:r>
              <a:rPr sz="1200" b="0">
                <a:solidFill>
                  <a:srgbClr val="6C757D"/>
                </a:solidFill>
                <a:latin typeface="Segoe UI"/>
              </a:rPr>
              <a:t>✓ Whitespace normalization</a:t>
            </a:r>
          </a:p>
          <a:p>
            <a:pPr>
              <a:spcBef>
                <a:spcPts val="200"/>
              </a:spcBef>
              <a:spcAft>
                <a:spcPts val="800"/>
              </a:spcAft>
            </a:pPr>
            <a:r>
              <a:rPr sz="1200" b="0">
                <a:solidFill>
                  <a:srgbClr val="6C757D"/>
                </a:solidFill>
                <a:latin typeface="Segoe UI"/>
              </a:rPr>
              <a:t>✓ Internal tokenization handled</a:t>
            </a:r>
          </a:p>
        </p:txBody>
      </p:sp>
    </p:spTree>
  </p:cSld>
  <p:clrMapOvr>
    <a:masterClrMapping/>
  </p:clrMapOvr>
  <p:transition spd="med" advTm="96882">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1">
                <a:solidFill>
                  <a:srgbClr val="00B4D8"/>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Lexicon Models: VADER vs TextBlob</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463040"/>
            <a:ext cx="5486400" cy="493776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517904"/>
            <a:ext cx="5486400" cy="488289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31520" y="1691640"/>
            <a:ext cx="548640" cy="54864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V</a:t>
            </a:r>
          </a:p>
        </p:txBody>
      </p:sp>
      <p:sp>
        <p:nvSpPr>
          <p:cNvPr id="14" name="TextBox 13"/>
          <p:cNvSpPr txBox="1"/>
          <p:nvPr/>
        </p:nvSpPr>
        <p:spPr>
          <a:xfrm>
            <a:off x="1417320" y="1691640"/>
            <a:ext cx="2743200" cy="411480"/>
          </a:xfrm>
          <a:prstGeom prst="rect">
            <a:avLst/>
          </a:prstGeom>
          <a:noFill/>
        </p:spPr>
        <p:txBody>
          <a:bodyPr wrap="square">
            <a:spAutoFit/>
          </a:bodyPr>
          <a:lstStyle/>
          <a:p>
            <a:pPr algn="l"/>
            <a:r>
              <a:rPr sz="2200" b="1">
                <a:solidFill>
                  <a:srgbClr val="00B4D8"/>
                </a:solidFill>
                <a:latin typeface="Segoe UI"/>
              </a:rPr>
              <a:t>VADER</a:t>
            </a:r>
          </a:p>
        </p:txBody>
      </p:sp>
      <p:sp>
        <p:nvSpPr>
          <p:cNvPr id="15" name="TextBox 14"/>
          <p:cNvSpPr txBox="1"/>
          <p:nvPr/>
        </p:nvSpPr>
        <p:spPr>
          <a:xfrm>
            <a:off x="1417320" y="2057400"/>
            <a:ext cx="3657600" cy="274320"/>
          </a:xfrm>
          <a:prstGeom prst="rect">
            <a:avLst/>
          </a:prstGeom>
          <a:noFill/>
        </p:spPr>
        <p:txBody>
          <a:bodyPr wrap="square">
            <a:spAutoFit/>
          </a:bodyPr>
          <a:lstStyle/>
          <a:p>
            <a:pPr algn="l"/>
            <a:r>
              <a:rPr sz="1100" b="0">
                <a:solidFill>
                  <a:srgbClr val="6C757D"/>
                </a:solidFill>
                <a:latin typeface="Segoe UI"/>
              </a:rPr>
              <a:t>Valence Aware Dictionary &amp; Sentiment Reasoner</a:t>
            </a:r>
          </a:p>
        </p:txBody>
      </p:sp>
      <p:sp>
        <p:nvSpPr>
          <p:cNvPr id="16" name="TextBox 15"/>
          <p:cNvSpPr txBox="1"/>
          <p:nvPr/>
        </p:nvSpPr>
        <p:spPr>
          <a:xfrm>
            <a:off x="731520" y="2378623"/>
            <a:ext cx="4937760" cy="3903633"/>
          </a:xfrm>
          <a:prstGeom prst="rect">
            <a:avLst/>
          </a:prstGeom>
          <a:noFill/>
        </p:spPr>
        <p:txBody>
          <a:bodyPr wrap="square">
            <a:spAutoFit/>
          </a:bodyPr>
          <a:lstStyle/>
          <a:p>
            <a:pPr>
              <a:spcBef>
                <a:spcPts val="200"/>
              </a:spcBef>
              <a:spcAft>
                <a:spcPts val="800"/>
              </a:spcAft>
            </a:pPr>
            <a:r>
              <a:rPr sz="1300" b="1" dirty="0">
                <a:solidFill>
                  <a:srgbClr val="FFFFFF"/>
                </a:solidFill>
                <a:latin typeface="Segoe UI"/>
              </a:rPr>
              <a:t>How it works:</a:t>
            </a:r>
          </a:p>
          <a:p>
            <a:pPr>
              <a:spcBef>
                <a:spcPts val="200"/>
              </a:spcBef>
              <a:spcAft>
                <a:spcPts val="800"/>
              </a:spcAft>
            </a:pPr>
            <a:r>
              <a:rPr sz="1300" b="0" dirty="0">
                <a:solidFill>
                  <a:srgbClr val="6C757D"/>
                </a:solidFill>
                <a:latin typeface="Segoe UI"/>
              </a:rPr>
              <a:t>• Rule-based analyzer for informal text</a:t>
            </a:r>
          </a:p>
          <a:p>
            <a:pPr>
              <a:spcBef>
                <a:spcPts val="200"/>
              </a:spcBef>
              <a:spcAft>
                <a:spcPts val="800"/>
              </a:spcAft>
            </a:pPr>
            <a:r>
              <a:rPr sz="1300" b="0" dirty="0">
                <a:solidFill>
                  <a:srgbClr val="6C757D"/>
                </a:solidFill>
                <a:latin typeface="Segoe UI"/>
              </a:rPr>
              <a:t>• Sentiment lexicon with polarity strengths</a:t>
            </a:r>
          </a:p>
          <a:p>
            <a:pPr>
              <a:spcBef>
                <a:spcPts val="200"/>
              </a:spcBef>
              <a:spcAft>
                <a:spcPts val="800"/>
              </a:spcAft>
            </a:pPr>
            <a:r>
              <a:rPr sz="1300" b="0" dirty="0">
                <a:solidFill>
                  <a:srgbClr val="6C757D"/>
                </a:solidFill>
                <a:latin typeface="Segoe UI"/>
              </a:rPr>
              <a:t>• Adjusts for caps, punctuation, modifiers</a:t>
            </a:r>
          </a:p>
          <a:p>
            <a:pPr>
              <a:spcBef>
                <a:spcPts val="200"/>
              </a:spcBef>
              <a:spcAft>
                <a:spcPts val="800"/>
              </a:spcAft>
            </a:pPr>
            <a:r>
              <a:rPr sz="1300" b="0" dirty="0">
                <a:solidFill>
                  <a:srgbClr val="6C757D"/>
                </a:solidFill>
                <a:latin typeface="Segoe UI"/>
              </a:rPr>
              <a:t>• Detects negations</a:t>
            </a:r>
          </a:p>
          <a:p>
            <a:pPr>
              <a:spcBef>
                <a:spcPts val="200"/>
              </a:spcBef>
              <a:spcAft>
                <a:spcPts val="800"/>
              </a:spcAft>
            </a:pPr>
            <a:r>
              <a:rPr sz="1300" b="1" dirty="0">
                <a:solidFill>
                  <a:srgbClr val="FFFFFF"/>
                </a:solidFill>
                <a:latin typeface="Segoe UI"/>
              </a:rPr>
              <a:t>Outputs:</a:t>
            </a:r>
          </a:p>
          <a:p>
            <a:pPr>
              <a:spcBef>
                <a:spcPts val="200"/>
              </a:spcBef>
              <a:spcAft>
                <a:spcPts val="800"/>
              </a:spcAft>
            </a:pPr>
            <a:r>
              <a:rPr sz="1300" b="0" dirty="0">
                <a:solidFill>
                  <a:srgbClr val="6C757D"/>
                </a:solidFill>
                <a:latin typeface="Segoe UI"/>
              </a:rPr>
              <a:t>• Positive, Neutral, Negative proportions</a:t>
            </a:r>
          </a:p>
          <a:p>
            <a:pPr>
              <a:spcBef>
                <a:spcPts val="200"/>
              </a:spcBef>
              <a:spcAft>
                <a:spcPts val="800"/>
              </a:spcAft>
            </a:pPr>
            <a:r>
              <a:rPr sz="1300" b="0" dirty="0">
                <a:solidFill>
                  <a:srgbClr val="48CAE4"/>
                </a:solidFill>
                <a:latin typeface="Segoe UI"/>
              </a:rPr>
              <a:t>• Compound score ∈ [-1, +1]</a:t>
            </a:r>
          </a:p>
          <a:p>
            <a:pPr>
              <a:spcBef>
                <a:spcPts val="200"/>
              </a:spcBef>
              <a:spcAft>
                <a:spcPts val="800"/>
              </a:spcAft>
            </a:pPr>
            <a:r>
              <a:rPr sz="1300" b="1" dirty="0">
                <a:solidFill>
                  <a:srgbClr val="FFFFFF"/>
                </a:solidFill>
                <a:latin typeface="Segoe UI"/>
              </a:rPr>
              <a:t>Thresholds:</a:t>
            </a:r>
          </a:p>
          <a:p>
            <a:pPr>
              <a:spcBef>
                <a:spcPts val="200"/>
              </a:spcBef>
              <a:spcAft>
                <a:spcPts val="800"/>
              </a:spcAft>
            </a:pPr>
            <a:r>
              <a:rPr sz="1300" b="0" dirty="0">
                <a:solidFill>
                  <a:srgbClr val="06D6A0"/>
                </a:solidFill>
                <a:latin typeface="Segoe UI"/>
              </a:rPr>
              <a:t>• compound ≥ 0.05  →  Positive</a:t>
            </a:r>
          </a:p>
          <a:p>
            <a:pPr>
              <a:spcBef>
                <a:spcPts val="200"/>
              </a:spcBef>
              <a:spcAft>
                <a:spcPts val="800"/>
              </a:spcAft>
            </a:pPr>
            <a:r>
              <a:rPr sz="1300" b="0" dirty="0">
                <a:solidFill>
                  <a:srgbClr val="FF6B35"/>
                </a:solidFill>
                <a:latin typeface="Segoe UI"/>
              </a:rPr>
              <a:t>• compound ≤ -0.05  →  Negative</a:t>
            </a:r>
          </a:p>
          <a:p>
            <a:pPr>
              <a:spcBef>
                <a:spcPts val="200"/>
              </a:spcBef>
              <a:spcAft>
                <a:spcPts val="800"/>
              </a:spcAft>
            </a:pPr>
            <a:r>
              <a:rPr sz="1300" b="0" dirty="0">
                <a:solidFill>
                  <a:srgbClr val="6C757D"/>
                </a:solidFill>
                <a:latin typeface="Segoe UI"/>
              </a:rPr>
              <a:t>• otherwise  →  Neutral</a:t>
            </a:r>
          </a:p>
        </p:txBody>
      </p:sp>
      <p:sp>
        <p:nvSpPr>
          <p:cNvPr id="17" name="Rounded Rectangle 16"/>
          <p:cNvSpPr/>
          <p:nvPr/>
        </p:nvSpPr>
        <p:spPr>
          <a:xfrm>
            <a:off x="6217920" y="1463040"/>
            <a:ext cx="5486400" cy="493776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217920" y="1517904"/>
            <a:ext cx="5486400" cy="488289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492240" y="1691640"/>
            <a:ext cx="548640" cy="54864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rPr>
              <a:t>T</a:t>
            </a:r>
          </a:p>
        </p:txBody>
      </p:sp>
      <p:sp>
        <p:nvSpPr>
          <p:cNvPr id="20" name="TextBox 19"/>
          <p:cNvSpPr txBox="1"/>
          <p:nvPr/>
        </p:nvSpPr>
        <p:spPr>
          <a:xfrm>
            <a:off x="7178040" y="1691640"/>
            <a:ext cx="2743200" cy="411480"/>
          </a:xfrm>
          <a:prstGeom prst="rect">
            <a:avLst/>
          </a:prstGeom>
          <a:noFill/>
        </p:spPr>
        <p:txBody>
          <a:bodyPr wrap="square">
            <a:spAutoFit/>
          </a:bodyPr>
          <a:lstStyle/>
          <a:p>
            <a:pPr algn="l"/>
            <a:r>
              <a:rPr sz="2200" b="1">
                <a:solidFill>
                  <a:srgbClr val="FF6B35"/>
                </a:solidFill>
                <a:latin typeface="Segoe UI"/>
              </a:rPr>
              <a:t>TextBlob</a:t>
            </a:r>
          </a:p>
        </p:txBody>
      </p:sp>
      <p:sp>
        <p:nvSpPr>
          <p:cNvPr id="21" name="TextBox 20"/>
          <p:cNvSpPr txBox="1"/>
          <p:nvPr/>
        </p:nvSpPr>
        <p:spPr>
          <a:xfrm>
            <a:off x="7178040" y="2057400"/>
            <a:ext cx="3657600" cy="274320"/>
          </a:xfrm>
          <a:prstGeom prst="rect">
            <a:avLst/>
          </a:prstGeom>
          <a:noFill/>
        </p:spPr>
        <p:txBody>
          <a:bodyPr wrap="square">
            <a:spAutoFit/>
          </a:bodyPr>
          <a:lstStyle/>
          <a:p>
            <a:pPr algn="l"/>
            <a:r>
              <a:rPr sz="1100" b="0">
                <a:solidFill>
                  <a:srgbClr val="6C757D"/>
                </a:solidFill>
                <a:latin typeface="Segoe UI"/>
              </a:rPr>
              <a:t>Pattern-Based Polarity Analysis</a:t>
            </a:r>
          </a:p>
        </p:txBody>
      </p:sp>
      <p:sp>
        <p:nvSpPr>
          <p:cNvPr id="22" name="TextBox 21"/>
          <p:cNvSpPr txBox="1"/>
          <p:nvPr/>
        </p:nvSpPr>
        <p:spPr>
          <a:xfrm>
            <a:off x="6492240" y="2378623"/>
            <a:ext cx="4937760" cy="3903633"/>
          </a:xfrm>
          <a:prstGeom prst="rect">
            <a:avLst/>
          </a:prstGeom>
          <a:noFill/>
        </p:spPr>
        <p:txBody>
          <a:bodyPr wrap="square">
            <a:spAutoFit/>
          </a:bodyPr>
          <a:lstStyle/>
          <a:p>
            <a:pPr>
              <a:spcBef>
                <a:spcPts val="200"/>
              </a:spcBef>
              <a:spcAft>
                <a:spcPts val="800"/>
              </a:spcAft>
            </a:pPr>
            <a:r>
              <a:rPr sz="1300" b="1" dirty="0">
                <a:solidFill>
                  <a:srgbClr val="FFFFFF"/>
                </a:solidFill>
                <a:latin typeface="Segoe UI"/>
              </a:rPr>
              <a:t>How it works:</a:t>
            </a:r>
          </a:p>
          <a:p>
            <a:pPr>
              <a:spcBef>
                <a:spcPts val="200"/>
              </a:spcBef>
              <a:spcAft>
                <a:spcPts val="800"/>
              </a:spcAft>
            </a:pPr>
            <a:r>
              <a:rPr sz="1300" b="0" dirty="0">
                <a:solidFill>
                  <a:srgbClr val="6C757D"/>
                </a:solidFill>
                <a:latin typeface="Segoe UI"/>
              </a:rPr>
              <a:t>• Polarity from underlying lexicon</a:t>
            </a:r>
          </a:p>
          <a:p>
            <a:pPr>
              <a:spcBef>
                <a:spcPts val="200"/>
              </a:spcBef>
              <a:spcAft>
                <a:spcPts val="800"/>
              </a:spcAft>
            </a:pPr>
            <a:r>
              <a:rPr sz="1300" b="0" dirty="0">
                <a:solidFill>
                  <a:srgbClr val="6C757D"/>
                </a:solidFill>
                <a:latin typeface="Segoe UI"/>
              </a:rPr>
              <a:t>• Polarity range [-1, +1]</a:t>
            </a:r>
          </a:p>
          <a:p>
            <a:pPr>
              <a:spcBef>
                <a:spcPts val="200"/>
              </a:spcBef>
              <a:spcAft>
                <a:spcPts val="800"/>
              </a:spcAft>
            </a:pPr>
            <a:r>
              <a:rPr sz="1300" b="0" dirty="0">
                <a:solidFill>
                  <a:srgbClr val="6C757D"/>
                </a:solidFill>
                <a:latin typeface="Segoe UI"/>
              </a:rPr>
              <a:t>• Subjectivity score (not used here)</a:t>
            </a:r>
          </a:p>
          <a:p>
            <a:pPr>
              <a:spcBef>
                <a:spcPts val="200"/>
              </a:spcBef>
              <a:spcAft>
                <a:spcPts val="800"/>
              </a:spcAft>
            </a:pPr>
            <a:r>
              <a:rPr sz="1300" b="0" dirty="0">
                <a:solidFill>
                  <a:srgbClr val="6C757D"/>
                </a:solidFill>
                <a:latin typeface="Segoe UI"/>
              </a:rPr>
              <a:t>• Stable baseline model</a:t>
            </a:r>
          </a:p>
          <a:p>
            <a:pPr>
              <a:spcBef>
                <a:spcPts val="200"/>
              </a:spcBef>
              <a:spcAft>
                <a:spcPts val="800"/>
              </a:spcAft>
            </a:pPr>
            <a:r>
              <a:rPr sz="1300" b="1" dirty="0">
                <a:solidFill>
                  <a:srgbClr val="FFFFFF"/>
                </a:solidFill>
                <a:latin typeface="Segoe UI"/>
              </a:rPr>
              <a:t>Limitations:</a:t>
            </a:r>
          </a:p>
          <a:p>
            <a:pPr>
              <a:spcBef>
                <a:spcPts val="200"/>
              </a:spcBef>
              <a:spcAft>
                <a:spcPts val="800"/>
              </a:spcAft>
            </a:pPr>
            <a:r>
              <a:rPr sz="1300" b="0" dirty="0">
                <a:solidFill>
                  <a:srgbClr val="6C757D"/>
                </a:solidFill>
                <a:latin typeface="Segoe UI"/>
              </a:rPr>
              <a:t>• Doesn't handle caps/punctuation emphasis</a:t>
            </a:r>
          </a:p>
          <a:p>
            <a:pPr>
              <a:spcBef>
                <a:spcPts val="200"/>
              </a:spcBef>
              <a:spcAft>
                <a:spcPts val="800"/>
              </a:spcAft>
            </a:pPr>
            <a:r>
              <a:rPr sz="1300" b="0" dirty="0">
                <a:solidFill>
                  <a:srgbClr val="FF6B35"/>
                </a:solidFill>
                <a:latin typeface="Segoe UI"/>
              </a:rPr>
              <a:t>• More conservative on Neutral</a:t>
            </a:r>
          </a:p>
          <a:p>
            <a:pPr>
              <a:spcBef>
                <a:spcPts val="200"/>
              </a:spcBef>
              <a:spcAft>
                <a:spcPts val="800"/>
              </a:spcAft>
            </a:pPr>
            <a:r>
              <a:rPr sz="1300" b="1" dirty="0">
                <a:solidFill>
                  <a:srgbClr val="FFFFFF"/>
                </a:solidFill>
                <a:latin typeface="Segoe UI"/>
              </a:rPr>
              <a:t>Thresholds:</a:t>
            </a:r>
          </a:p>
          <a:p>
            <a:pPr>
              <a:spcBef>
                <a:spcPts val="200"/>
              </a:spcBef>
              <a:spcAft>
                <a:spcPts val="800"/>
              </a:spcAft>
            </a:pPr>
            <a:r>
              <a:rPr sz="1300" b="0" dirty="0">
                <a:solidFill>
                  <a:srgbClr val="06D6A0"/>
                </a:solidFill>
                <a:latin typeface="Segoe UI"/>
              </a:rPr>
              <a:t>• polarity &gt; 0.1  →  Positive</a:t>
            </a:r>
          </a:p>
          <a:p>
            <a:pPr>
              <a:spcBef>
                <a:spcPts val="200"/>
              </a:spcBef>
              <a:spcAft>
                <a:spcPts val="800"/>
              </a:spcAft>
            </a:pPr>
            <a:r>
              <a:rPr sz="1300" b="0" dirty="0">
                <a:solidFill>
                  <a:srgbClr val="FF6B35"/>
                </a:solidFill>
                <a:latin typeface="Segoe UI"/>
              </a:rPr>
              <a:t>• polarity &lt; -0.1  →  Negative</a:t>
            </a:r>
          </a:p>
          <a:p>
            <a:pPr>
              <a:spcBef>
                <a:spcPts val="200"/>
              </a:spcBef>
              <a:spcAft>
                <a:spcPts val="800"/>
              </a:spcAft>
            </a:pPr>
            <a:r>
              <a:rPr sz="1300" b="0" dirty="0">
                <a:solidFill>
                  <a:srgbClr val="6C757D"/>
                </a:solidFill>
                <a:latin typeface="Segoe UI"/>
              </a:rPr>
              <a:t>• otherwise  →  Neutral</a:t>
            </a:r>
          </a:p>
        </p:txBody>
      </p:sp>
    </p:spTree>
  </p:cSld>
  <p:clrMapOvr>
    <a:masterClrMapping/>
  </p:clrMapOvr>
  <mc:AlternateContent xmlns:mc="http://schemas.openxmlformats.org/markup-compatibility/2006" xmlns:p159="http://schemas.microsoft.com/office/powerpoint/2015/09/main">
    <mc:Choice Requires="p159">
      <p:transition spd="med" advTm="113960">
        <p159:morph option="byObject"/>
      </p:transition>
    </mc:Choice>
    <mc:Fallback xmlns="">
      <p:transition spd="med" advTm="11396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1">
                <a:solidFill>
                  <a:srgbClr val="00B4D8"/>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Fine Tuning Strategy</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463040"/>
            <a:ext cx="3657600" cy="24688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517904"/>
            <a:ext cx="3657600" cy="241401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31520" y="1691640"/>
            <a:ext cx="502920" cy="50292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a:t>
            </a:r>
          </a:p>
        </p:txBody>
      </p:sp>
      <p:sp>
        <p:nvSpPr>
          <p:cNvPr id="14" name="TextBox 13"/>
          <p:cNvSpPr txBox="1"/>
          <p:nvPr/>
        </p:nvSpPr>
        <p:spPr>
          <a:xfrm>
            <a:off x="1371600" y="1719072"/>
            <a:ext cx="2560320" cy="365760"/>
          </a:xfrm>
          <a:prstGeom prst="rect">
            <a:avLst/>
          </a:prstGeom>
          <a:noFill/>
        </p:spPr>
        <p:txBody>
          <a:bodyPr wrap="square">
            <a:spAutoFit/>
          </a:bodyPr>
          <a:lstStyle/>
          <a:p>
            <a:pPr algn="l"/>
            <a:r>
              <a:rPr sz="1700" b="1">
                <a:solidFill>
                  <a:srgbClr val="FFFFFF"/>
                </a:solidFill>
                <a:latin typeface="Segoe UI"/>
              </a:rPr>
              <a:t>Threshold Tuning</a:t>
            </a:r>
          </a:p>
        </p:txBody>
      </p:sp>
      <p:sp>
        <p:nvSpPr>
          <p:cNvPr id="15" name="TextBox 14"/>
          <p:cNvSpPr txBox="1"/>
          <p:nvPr/>
        </p:nvSpPr>
        <p:spPr>
          <a:xfrm>
            <a:off x="731520" y="2291104"/>
            <a:ext cx="3200400" cy="1605568"/>
          </a:xfrm>
          <a:prstGeom prst="rect">
            <a:avLst/>
          </a:prstGeom>
          <a:noFill/>
        </p:spPr>
        <p:txBody>
          <a:bodyPr wrap="square">
            <a:spAutoFit/>
          </a:bodyPr>
          <a:lstStyle/>
          <a:p>
            <a:pPr>
              <a:spcBef>
                <a:spcPts val="200"/>
              </a:spcBef>
              <a:spcAft>
                <a:spcPts val="800"/>
              </a:spcAft>
            </a:pPr>
            <a:r>
              <a:rPr sz="1300" b="0" dirty="0">
                <a:solidFill>
                  <a:srgbClr val="48CAE4"/>
                </a:solidFill>
                <a:latin typeface="Segoe UI"/>
              </a:rPr>
              <a:t>VADER: compound at ±0.05</a:t>
            </a:r>
          </a:p>
          <a:p>
            <a:pPr>
              <a:spcBef>
                <a:spcPts val="200"/>
              </a:spcBef>
              <a:spcAft>
                <a:spcPts val="800"/>
              </a:spcAft>
            </a:pPr>
            <a:r>
              <a:rPr sz="1300" b="0" dirty="0" err="1">
                <a:solidFill>
                  <a:srgbClr val="FF6B35"/>
                </a:solidFill>
                <a:latin typeface="Segoe UI"/>
              </a:rPr>
              <a:t>TextBlob</a:t>
            </a:r>
            <a:r>
              <a:rPr sz="1300" b="0" dirty="0">
                <a:solidFill>
                  <a:srgbClr val="FF6B35"/>
                </a:solidFill>
                <a:latin typeface="Segoe UI"/>
              </a:rPr>
              <a:t>: polarity at ±0.1</a:t>
            </a:r>
          </a:p>
          <a:p>
            <a:pPr>
              <a:spcBef>
                <a:spcPts val="200"/>
              </a:spcBef>
              <a:spcAft>
                <a:spcPts val="800"/>
              </a:spcAft>
            </a:pPr>
            <a:r>
              <a:rPr sz="1300" b="0" dirty="0">
                <a:solidFill>
                  <a:srgbClr val="6C757D"/>
                </a:solidFill>
                <a:latin typeface="Segoe UI"/>
              </a:rPr>
              <a:t>Balances sensitivity — avoids</a:t>
            </a:r>
          </a:p>
          <a:p>
            <a:pPr>
              <a:spcBef>
                <a:spcPts val="200"/>
              </a:spcBef>
              <a:spcAft>
                <a:spcPts val="800"/>
              </a:spcAft>
            </a:pPr>
            <a:r>
              <a:rPr sz="1300" b="0" dirty="0">
                <a:solidFill>
                  <a:srgbClr val="6C757D"/>
                </a:solidFill>
                <a:latin typeface="Segoe UI"/>
              </a:rPr>
              <a:t>forcing weak sentiment into</a:t>
            </a:r>
          </a:p>
          <a:p>
            <a:pPr>
              <a:spcBef>
                <a:spcPts val="200"/>
              </a:spcBef>
              <a:spcAft>
                <a:spcPts val="800"/>
              </a:spcAft>
            </a:pPr>
            <a:r>
              <a:rPr sz="1300" b="0" dirty="0">
                <a:solidFill>
                  <a:srgbClr val="6C757D"/>
                </a:solidFill>
                <a:latin typeface="Segoe UI"/>
              </a:rPr>
              <a:t>Positive or Negative classes</a:t>
            </a:r>
          </a:p>
        </p:txBody>
      </p:sp>
      <p:sp>
        <p:nvSpPr>
          <p:cNvPr id="16" name="Rounded Rectangle 15"/>
          <p:cNvSpPr/>
          <p:nvPr/>
        </p:nvSpPr>
        <p:spPr>
          <a:xfrm>
            <a:off x="4297680" y="1463040"/>
            <a:ext cx="3657600" cy="2468880"/>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97680" y="1517904"/>
            <a:ext cx="3657600" cy="241401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572000" y="1691640"/>
            <a:ext cx="502920" cy="502920"/>
          </a:xfrm>
          <a:prstGeom prst="ellipse">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a:t>
            </a:r>
          </a:p>
        </p:txBody>
      </p:sp>
      <p:sp>
        <p:nvSpPr>
          <p:cNvPr id="19" name="TextBox 18"/>
          <p:cNvSpPr txBox="1"/>
          <p:nvPr/>
        </p:nvSpPr>
        <p:spPr>
          <a:xfrm>
            <a:off x="5212080" y="1719072"/>
            <a:ext cx="2560320" cy="365760"/>
          </a:xfrm>
          <a:prstGeom prst="rect">
            <a:avLst/>
          </a:prstGeom>
          <a:noFill/>
        </p:spPr>
        <p:txBody>
          <a:bodyPr wrap="square">
            <a:spAutoFit/>
          </a:bodyPr>
          <a:lstStyle/>
          <a:p>
            <a:pPr algn="l"/>
            <a:r>
              <a:rPr sz="1700" b="1">
                <a:solidFill>
                  <a:srgbClr val="FFFFFF"/>
                </a:solidFill>
                <a:latin typeface="Segoe UI"/>
              </a:rPr>
              <a:t>Stratified Sampling</a:t>
            </a:r>
          </a:p>
        </p:txBody>
      </p:sp>
      <p:sp>
        <p:nvSpPr>
          <p:cNvPr id="20" name="TextBox 19"/>
          <p:cNvSpPr txBox="1"/>
          <p:nvPr/>
        </p:nvSpPr>
        <p:spPr>
          <a:xfrm>
            <a:off x="4572000" y="2291104"/>
            <a:ext cx="3200400" cy="1605568"/>
          </a:xfrm>
          <a:prstGeom prst="rect">
            <a:avLst/>
          </a:prstGeom>
          <a:noFill/>
        </p:spPr>
        <p:txBody>
          <a:bodyPr wrap="square">
            <a:spAutoFit/>
          </a:bodyPr>
          <a:lstStyle/>
          <a:p>
            <a:pPr>
              <a:spcBef>
                <a:spcPts val="200"/>
              </a:spcBef>
              <a:spcAft>
                <a:spcPts val="800"/>
              </a:spcAft>
            </a:pPr>
            <a:r>
              <a:rPr sz="1300" b="0" dirty="0">
                <a:solidFill>
                  <a:srgbClr val="06D6A0"/>
                </a:solidFill>
                <a:latin typeface="Segoe UI"/>
              </a:rPr>
              <a:t>1,000 reviews for evaluation</a:t>
            </a:r>
          </a:p>
          <a:p>
            <a:pPr>
              <a:spcBef>
                <a:spcPts val="200"/>
              </a:spcBef>
              <a:spcAft>
                <a:spcPts val="800"/>
              </a:spcAft>
            </a:pPr>
            <a:r>
              <a:rPr sz="1300" b="0" dirty="0">
                <a:solidFill>
                  <a:srgbClr val="6C757D"/>
                </a:solidFill>
                <a:latin typeface="Segoe UI"/>
              </a:rPr>
              <a:t>Mirrors class distribution</a:t>
            </a:r>
          </a:p>
          <a:p>
            <a:pPr>
              <a:spcBef>
                <a:spcPts val="200"/>
              </a:spcBef>
              <a:spcAft>
                <a:spcPts val="800"/>
              </a:spcAft>
            </a:pPr>
            <a:r>
              <a:rPr sz="1300" b="0" dirty="0">
                <a:solidFill>
                  <a:srgbClr val="6C757D"/>
                </a:solidFill>
                <a:latin typeface="Segoe UI"/>
              </a:rPr>
              <a:t>Ensures minority classes are</a:t>
            </a:r>
          </a:p>
          <a:p>
            <a:pPr>
              <a:spcBef>
                <a:spcPts val="200"/>
              </a:spcBef>
              <a:spcAft>
                <a:spcPts val="800"/>
              </a:spcAft>
            </a:pPr>
            <a:r>
              <a:rPr sz="1300" b="0" dirty="0">
                <a:solidFill>
                  <a:srgbClr val="6C757D"/>
                </a:solidFill>
                <a:latin typeface="Segoe UI"/>
              </a:rPr>
              <a:t>fairly represented in testing</a:t>
            </a:r>
          </a:p>
          <a:p>
            <a:pPr>
              <a:spcBef>
                <a:spcPts val="200"/>
              </a:spcBef>
              <a:spcAft>
                <a:spcPts val="800"/>
              </a:spcAft>
            </a:pPr>
            <a:r>
              <a:rPr sz="1300" b="0" dirty="0">
                <a:solidFill>
                  <a:srgbClr val="6C757D"/>
                </a:solidFill>
                <a:latin typeface="Segoe UI"/>
              </a:rPr>
              <a:t>Reproducible &amp; meaningful</a:t>
            </a:r>
          </a:p>
        </p:txBody>
      </p:sp>
      <p:sp>
        <p:nvSpPr>
          <p:cNvPr id="21" name="Rounded Rectangle 20"/>
          <p:cNvSpPr/>
          <p:nvPr/>
        </p:nvSpPr>
        <p:spPr>
          <a:xfrm>
            <a:off x="8138160" y="1463040"/>
            <a:ext cx="3657600" cy="2468880"/>
          </a:xfrm>
          <a:prstGeom prst="roundRect">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138160" y="1517904"/>
            <a:ext cx="3657600" cy="241401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412480" y="1691640"/>
            <a:ext cx="502920" cy="502920"/>
          </a:xfrm>
          <a:prstGeom prst="ellipse">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a:t>
            </a:r>
          </a:p>
        </p:txBody>
      </p:sp>
      <p:sp>
        <p:nvSpPr>
          <p:cNvPr id="24" name="TextBox 23"/>
          <p:cNvSpPr txBox="1"/>
          <p:nvPr/>
        </p:nvSpPr>
        <p:spPr>
          <a:xfrm>
            <a:off x="9052560" y="1719072"/>
            <a:ext cx="2560320" cy="365760"/>
          </a:xfrm>
          <a:prstGeom prst="rect">
            <a:avLst/>
          </a:prstGeom>
          <a:noFill/>
        </p:spPr>
        <p:txBody>
          <a:bodyPr wrap="square">
            <a:spAutoFit/>
          </a:bodyPr>
          <a:lstStyle/>
          <a:p>
            <a:pPr algn="l"/>
            <a:r>
              <a:rPr sz="1700" b="1">
                <a:solidFill>
                  <a:srgbClr val="FFFFFF"/>
                </a:solidFill>
                <a:latin typeface="Segoe UI"/>
              </a:rPr>
              <a:t>Preprocessing Per Model</a:t>
            </a:r>
          </a:p>
        </p:txBody>
      </p:sp>
      <p:sp>
        <p:nvSpPr>
          <p:cNvPr id="25" name="TextBox 24"/>
          <p:cNvSpPr txBox="1"/>
          <p:nvPr/>
        </p:nvSpPr>
        <p:spPr>
          <a:xfrm>
            <a:off x="8412480" y="2291104"/>
            <a:ext cx="3200400" cy="1605568"/>
          </a:xfrm>
          <a:prstGeom prst="rect">
            <a:avLst/>
          </a:prstGeom>
          <a:noFill/>
        </p:spPr>
        <p:txBody>
          <a:bodyPr wrap="square">
            <a:spAutoFit/>
          </a:bodyPr>
          <a:lstStyle/>
          <a:p>
            <a:pPr>
              <a:spcBef>
                <a:spcPts val="200"/>
              </a:spcBef>
              <a:spcAft>
                <a:spcPts val="800"/>
              </a:spcAft>
            </a:pPr>
            <a:r>
              <a:rPr sz="1300" b="0" dirty="0">
                <a:solidFill>
                  <a:srgbClr val="48CAE4"/>
                </a:solidFill>
                <a:latin typeface="Segoe UI"/>
              </a:rPr>
              <a:t>VADER: minimal (keep cues)</a:t>
            </a:r>
          </a:p>
          <a:p>
            <a:pPr>
              <a:spcBef>
                <a:spcPts val="200"/>
              </a:spcBef>
              <a:spcAft>
                <a:spcPts val="800"/>
              </a:spcAft>
            </a:pPr>
            <a:r>
              <a:rPr sz="1300" b="0" dirty="0" err="1">
                <a:solidFill>
                  <a:srgbClr val="FF6B35"/>
                </a:solidFill>
                <a:latin typeface="Segoe UI"/>
              </a:rPr>
              <a:t>TextBlob</a:t>
            </a:r>
            <a:r>
              <a:rPr sz="1300" b="0" dirty="0">
                <a:solidFill>
                  <a:srgbClr val="FF6B35"/>
                </a:solidFill>
                <a:latin typeface="Segoe UI"/>
              </a:rPr>
              <a:t>: light cleaning</a:t>
            </a:r>
          </a:p>
          <a:p>
            <a:pPr>
              <a:spcBef>
                <a:spcPts val="200"/>
              </a:spcBef>
              <a:spcAft>
                <a:spcPts val="800"/>
              </a:spcAft>
            </a:pPr>
            <a:r>
              <a:rPr sz="1300" b="0" dirty="0">
                <a:solidFill>
                  <a:srgbClr val="6C757D"/>
                </a:solidFill>
                <a:latin typeface="Segoe UI"/>
              </a:rPr>
              <a:t>Heavy preprocessing avoided —</a:t>
            </a:r>
          </a:p>
          <a:p>
            <a:pPr>
              <a:spcBef>
                <a:spcPts val="200"/>
              </a:spcBef>
              <a:spcAft>
                <a:spcPts val="800"/>
              </a:spcAft>
            </a:pPr>
            <a:r>
              <a:rPr sz="1300" b="0" dirty="0">
                <a:solidFill>
                  <a:srgbClr val="6C757D"/>
                </a:solidFill>
                <a:latin typeface="Segoe UI"/>
              </a:rPr>
              <a:t>lexicons rely on surface cues</a:t>
            </a:r>
          </a:p>
          <a:p>
            <a:pPr>
              <a:spcBef>
                <a:spcPts val="200"/>
              </a:spcBef>
              <a:spcAft>
                <a:spcPts val="800"/>
              </a:spcAft>
            </a:pPr>
            <a:r>
              <a:rPr sz="1300" b="0" dirty="0">
                <a:solidFill>
                  <a:srgbClr val="6C757D"/>
                </a:solidFill>
                <a:latin typeface="Segoe UI"/>
              </a:rPr>
              <a:t>that aggressive cleaning removes</a:t>
            </a:r>
          </a:p>
        </p:txBody>
      </p:sp>
      <p:sp>
        <p:nvSpPr>
          <p:cNvPr id="26" name="Rounded Rectangle 25"/>
          <p:cNvSpPr/>
          <p:nvPr/>
        </p:nvSpPr>
        <p:spPr>
          <a:xfrm>
            <a:off x="457200" y="4206240"/>
            <a:ext cx="11338560" cy="6400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1520" y="4297680"/>
            <a:ext cx="10789920" cy="457200"/>
          </a:xfrm>
          <a:prstGeom prst="rect">
            <a:avLst/>
          </a:prstGeom>
          <a:noFill/>
        </p:spPr>
        <p:txBody>
          <a:bodyPr wrap="square">
            <a:spAutoFit/>
          </a:bodyPr>
          <a:lstStyle/>
          <a:p>
            <a:pPr algn="l"/>
            <a:r>
              <a:rPr sz="1300" b="0">
                <a:solidFill>
                  <a:srgbClr val="6C757D"/>
                </a:solidFill>
                <a:latin typeface="Segoe UI"/>
              </a:rPr>
              <a:t>ℹ️  No hyperparameter search or model fitting — lexicon models have no trainable weights. Fine tuning is limited to thresholds, sampling methods, and preprocessing choices.</a:t>
            </a:r>
          </a:p>
        </p:txBody>
      </p:sp>
      <p:sp>
        <p:nvSpPr>
          <p:cNvPr id="28" name="TextBox 27"/>
          <p:cNvSpPr txBox="1"/>
          <p:nvPr/>
        </p:nvSpPr>
        <p:spPr>
          <a:xfrm>
            <a:off x="640080" y="5029200"/>
            <a:ext cx="4572000" cy="365760"/>
          </a:xfrm>
          <a:prstGeom prst="rect">
            <a:avLst/>
          </a:prstGeom>
          <a:noFill/>
        </p:spPr>
        <p:txBody>
          <a:bodyPr wrap="square">
            <a:spAutoFit/>
          </a:bodyPr>
          <a:lstStyle/>
          <a:p>
            <a:pPr algn="l"/>
            <a:r>
              <a:rPr sz="1600" b="1">
                <a:solidFill>
                  <a:srgbClr val="48CAE4"/>
                </a:solidFill>
                <a:latin typeface="Segoe UI"/>
              </a:rPr>
              <a:t>Ground Truth Label Mapping</a:t>
            </a:r>
          </a:p>
        </p:txBody>
      </p:sp>
      <p:sp>
        <p:nvSpPr>
          <p:cNvPr id="29" name="Rounded Rectangle 28"/>
          <p:cNvSpPr/>
          <p:nvPr/>
        </p:nvSpPr>
        <p:spPr>
          <a:xfrm>
            <a:off x="457200" y="5440680"/>
            <a:ext cx="3474720" cy="73152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 y="5468112"/>
            <a:ext cx="1645920" cy="274320"/>
          </a:xfrm>
          <a:prstGeom prst="rect">
            <a:avLst/>
          </a:prstGeom>
          <a:noFill/>
        </p:spPr>
        <p:txBody>
          <a:bodyPr wrap="square">
            <a:spAutoFit/>
          </a:bodyPr>
          <a:lstStyle/>
          <a:p>
            <a:pPr algn="l"/>
            <a:r>
              <a:rPr sz="1400" b="0">
                <a:solidFill>
                  <a:srgbClr val="FFD700"/>
                </a:solidFill>
                <a:latin typeface="Segoe UI Emoji"/>
              </a:rPr>
              <a:t>★★★★★  ★★★★</a:t>
            </a:r>
          </a:p>
        </p:txBody>
      </p:sp>
      <p:sp>
        <p:nvSpPr>
          <p:cNvPr id="31" name="TextBox 30"/>
          <p:cNvSpPr txBox="1"/>
          <p:nvPr/>
        </p:nvSpPr>
        <p:spPr>
          <a:xfrm>
            <a:off x="2377440" y="5486400"/>
            <a:ext cx="274320" cy="274320"/>
          </a:xfrm>
          <a:prstGeom prst="rect">
            <a:avLst/>
          </a:prstGeom>
          <a:noFill/>
        </p:spPr>
        <p:txBody>
          <a:bodyPr wrap="square">
            <a:spAutoFit/>
          </a:bodyPr>
          <a:lstStyle/>
          <a:p>
            <a:pPr algn="l"/>
            <a:r>
              <a:rPr sz="1600" b="1">
                <a:solidFill>
                  <a:srgbClr val="FFFFFF"/>
                </a:solidFill>
                <a:latin typeface="Segoe UI"/>
              </a:rPr>
              <a:t>→</a:t>
            </a:r>
          </a:p>
        </p:txBody>
      </p:sp>
      <p:sp>
        <p:nvSpPr>
          <p:cNvPr id="32" name="TextBox 31"/>
          <p:cNvSpPr txBox="1"/>
          <p:nvPr/>
        </p:nvSpPr>
        <p:spPr>
          <a:xfrm>
            <a:off x="2743200" y="5486400"/>
            <a:ext cx="1097280" cy="274320"/>
          </a:xfrm>
          <a:prstGeom prst="rect">
            <a:avLst/>
          </a:prstGeom>
          <a:noFill/>
        </p:spPr>
        <p:txBody>
          <a:bodyPr wrap="square">
            <a:spAutoFit/>
          </a:bodyPr>
          <a:lstStyle/>
          <a:p>
            <a:pPr algn="l"/>
            <a:r>
              <a:rPr sz="1400" b="1">
                <a:solidFill>
                  <a:srgbClr val="06D6A0"/>
                </a:solidFill>
                <a:latin typeface="Segoe UI"/>
              </a:rPr>
              <a:t>Positive</a:t>
            </a:r>
          </a:p>
        </p:txBody>
      </p:sp>
      <p:sp>
        <p:nvSpPr>
          <p:cNvPr id="33" name="Rounded Rectangle 32"/>
          <p:cNvSpPr/>
          <p:nvPr/>
        </p:nvSpPr>
        <p:spPr>
          <a:xfrm>
            <a:off x="4297680" y="5440680"/>
            <a:ext cx="3474720" cy="73152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80560" y="5468112"/>
            <a:ext cx="1645920" cy="274320"/>
          </a:xfrm>
          <a:prstGeom prst="rect">
            <a:avLst/>
          </a:prstGeom>
          <a:noFill/>
        </p:spPr>
        <p:txBody>
          <a:bodyPr wrap="square">
            <a:spAutoFit/>
          </a:bodyPr>
          <a:lstStyle/>
          <a:p>
            <a:pPr algn="l"/>
            <a:r>
              <a:rPr sz="1400" b="0">
                <a:solidFill>
                  <a:srgbClr val="FFD700"/>
                </a:solidFill>
                <a:latin typeface="Segoe UI Emoji"/>
              </a:rPr>
              <a:t>★★★</a:t>
            </a:r>
          </a:p>
        </p:txBody>
      </p:sp>
      <p:sp>
        <p:nvSpPr>
          <p:cNvPr id="35" name="TextBox 34"/>
          <p:cNvSpPr txBox="1"/>
          <p:nvPr/>
        </p:nvSpPr>
        <p:spPr>
          <a:xfrm>
            <a:off x="6217920" y="5486400"/>
            <a:ext cx="274320" cy="274320"/>
          </a:xfrm>
          <a:prstGeom prst="rect">
            <a:avLst/>
          </a:prstGeom>
          <a:noFill/>
        </p:spPr>
        <p:txBody>
          <a:bodyPr wrap="square">
            <a:spAutoFit/>
          </a:bodyPr>
          <a:lstStyle/>
          <a:p>
            <a:pPr algn="l"/>
            <a:r>
              <a:rPr sz="1600" b="1">
                <a:solidFill>
                  <a:srgbClr val="FFFFFF"/>
                </a:solidFill>
                <a:latin typeface="Segoe UI"/>
              </a:rPr>
              <a:t>→</a:t>
            </a:r>
          </a:p>
        </p:txBody>
      </p:sp>
      <p:sp>
        <p:nvSpPr>
          <p:cNvPr id="36" name="TextBox 35"/>
          <p:cNvSpPr txBox="1"/>
          <p:nvPr/>
        </p:nvSpPr>
        <p:spPr>
          <a:xfrm>
            <a:off x="6583680" y="5486400"/>
            <a:ext cx="1097280" cy="274320"/>
          </a:xfrm>
          <a:prstGeom prst="rect">
            <a:avLst/>
          </a:prstGeom>
          <a:noFill/>
        </p:spPr>
        <p:txBody>
          <a:bodyPr wrap="square">
            <a:spAutoFit/>
          </a:bodyPr>
          <a:lstStyle/>
          <a:p>
            <a:pPr algn="l"/>
            <a:r>
              <a:rPr sz="1400" b="1">
                <a:solidFill>
                  <a:srgbClr val="6C757D"/>
                </a:solidFill>
                <a:latin typeface="Segoe UI"/>
              </a:rPr>
              <a:t>Neutral</a:t>
            </a:r>
          </a:p>
        </p:txBody>
      </p:sp>
      <p:sp>
        <p:nvSpPr>
          <p:cNvPr id="37" name="Rounded Rectangle 36"/>
          <p:cNvSpPr/>
          <p:nvPr/>
        </p:nvSpPr>
        <p:spPr>
          <a:xfrm>
            <a:off x="8138160" y="5440680"/>
            <a:ext cx="3474720" cy="73152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21040" y="5468112"/>
            <a:ext cx="1645920" cy="274320"/>
          </a:xfrm>
          <a:prstGeom prst="rect">
            <a:avLst/>
          </a:prstGeom>
          <a:noFill/>
        </p:spPr>
        <p:txBody>
          <a:bodyPr wrap="square">
            <a:spAutoFit/>
          </a:bodyPr>
          <a:lstStyle/>
          <a:p>
            <a:pPr algn="l"/>
            <a:r>
              <a:rPr sz="1400" b="0">
                <a:solidFill>
                  <a:srgbClr val="FFD700"/>
                </a:solidFill>
                <a:latin typeface="Segoe UI Emoji"/>
              </a:rPr>
              <a:t>★★  ★</a:t>
            </a:r>
          </a:p>
        </p:txBody>
      </p:sp>
      <p:sp>
        <p:nvSpPr>
          <p:cNvPr id="39" name="TextBox 38"/>
          <p:cNvSpPr txBox="1"/>
          <p:nvPr/>
        </p:nvSpPr>
        <p:spPr>
          <a:xfrm>
            <a:off x="10058400" y="5486400"/>
            <a:ext cx="274320" cy="274320"/>
          </a:xfrm>
          <a:prstGeom prst="rect">
            <a:avLst/>
          </a:prstGeom>
          <a:noFill/>
        </p:spPr>
        <p:txBody>
          <a:bodyPr wrap="square">
            <a:spAutoFit/>
          </a:bodyPr>
          <a:lstStyle/>
          <a:p>
            <a:pPr algn="l"/>
            <a:r>
              <a:rPr sz="1600" b="1">
                <a:solidFill>
                  <a:srgbClr val="FFFFFF"/>
                </a:solidFill>
                <a:latin typeface="Segoe UI"/>
              </a:rPr>
              <a:t>→</a:t>
            </a:r>
          </a:p>
        </p:txBody>
      </p:sp>
      <p:sp>
        <p:nvSpPr>
          <p:cNvPr id="40" name="TextBox 39"/>
          <p:cNvSpPr txBox="1"/>
          <p:nvPr/>
        </p:nvSpPr>
        <p:spPr>
          <a:xfrm>
            <a:off x="10424160" y="5486400"/>
            <a:ext cx="1097280" cy="274320"/>
          </a:xfrm>
          <a:prstGeom prst="rect">
            <a:avLst/>
          </a:prstGeom>
          <a:noFill/>
        </p:spPr>
        <p:txBody>
          <a:bodyPr wrap="square">
            <a:spAutoFit/>
          </a:bodyPr>
          <a:lstStyle/>
          <a:p>
            <a:pPr algn="l"/>
            <a:r>
              <a:rPr sz="1400" b="1">
                <a:solidFill>
                  <a:srgbClr val="FF6B35"/>
                </a:solidFill>
                <a:latin typeface="Segoe UI"/>
              </a:rPr>
              <a:t>Negative</a:t>
            </a:r>
          </a:p>
        </p:txBody>
      </p:sp>
    </p:spTree>
  </p:cSld>
  <p:clrMapOvr>
    <a:masterClrMapping/>
  </p:clrMapOvr>
  <mc:AlternateContent xmlns:mc="http://schemas.openxmlformats.org/markup-compatibility/2006" xmlns:p159="http://schemas.microsoft.com/office/powerpoint/2015/09/main">
    <mc:Choice Requires="p159">
      <p:transition spd="med" advTm="110156">
        <p159:morph option="byObject"/>
      </p:transition>
    </mc:Choice>
    <mc:Fallback xmlns="">
      <p:transition spd="med" advTm="110156">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1">
                <a:solidFill>
                  <a:srgbClr val="00B4D8"/>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Confusion Matrices</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74320" y="1463040"/>
            <a:ext cx="5760720" cy="475488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5834" y="1554480"/>
            <a:ext cx="2743200" cy="365760"/>
          </a:xfrm>
          <a:prstGeom prst="rect">
            <a:avLst/>
          </a:prstGeom>
          <a:noFill/>
        </p:spPr>
        <p:txBody>
          <a:bodyPr wrap="square">
            <a:spAutoFit/>
          </a:bodyPr>
          <a:lstStyle/>
          <a:p>
            <a:pPr algn="l"/>
            <a:r>
              <a:rPr sz="1800" b="1" dirty="0">
                <a:solidFill>
                  <a:srgbClr val="00B4D8"/>
                </a:solidFill>
                <a:latin typeface="Segoe UI"/>
              </a:rPr>
              <a:t>VADER</a:t>
            </a:r>
          </a:p>
        </p:txBody>
      </p:sp>
      <p:pic>
        <p:nvPicPr>
          <p:cNvPr id="13" name="Picture 12" descr="image.png"/>
          <p:cNvPicPr>
            <a:picLocks noChangeAspect="1"/>
          </p:cNvPicPr>
          <p:nvPr/>
        </p:nvPicPr>
        <p:blipFill>
          <a:blip r:embed="rId2"/>
          <a:stretch>
            <a:fillRect/>
          </a:stretch>
        </p:blipFill>
        <p:spPr>
          <a:xfrm>
            <a:off x="591304" y="1965960"/>
            <a:ext cx="5126752" cy="3840480"/>
          </a:xfrm>
          <a:prstGeom prst="rect">
            <a:avLst/>
          </a:prstGeom>
        </p:spPr>
      </p:pic>
      <p:sp>
        <p:nvSpPr>
          <p:cNvPr id="14" name="Rounded Rectangle 13"/>
          <p:cNvSpPr/>
          <p:nvPr/>
        </p:nvSpPr>
        <p:spPr>
          <a:xfrm>
            <a:off x="6217920" y="1463040"/>
            <a:ext cx="5760720" cy="475488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9434" y="1554480"/>
            <a:ext cx="2743200" cy="365760"/>
          </a:xfrm>
          <a:prstGeom prst="rect">
            <a:avLst/>
          </a:prstGeom>
          <a:noFill/>
        </p:spPr>
        <p:txBody>
          <a:bodyPr wrap="square">
            <a:spAutoFit/>
          </a:bodyPr>
          <a:lstStyle/>
          <a:p>
            <a:pPr algn="l"/>
            <a:r>
              <a:rPr sz="1800" b="1">
                <a:solidFill>
                  <a:srgbClr val="FF6B35"/>
                </a:solidFill>
                <a:latin typeface="Segoe UI"/>
              </a:rPr>
              <a:t>TextBlob</a:t>
            </a:r>
          </a:p>
        </p:txBody>
      </p:sp>
      <p:pic>
        <p:nvPicPr>
          <p:cNvPr id="16" name="Picture 15" descr="image.png"/>
          <p:cNvPicPr>
            <a:picLocks noChangeAspect="1"/>
          </p:cNvPicPr>
          <p:nvPr/>
        </p:nvPicPr>
        <p:blipFill>
          <a:blip r:embed="rId3"/>
          <a:stretch>
            <a:fillRect/>
          </a:stretch>
        </p:blipFill>
        <p:spPr>
          <a:xfrm>
            <a:off x="6534904" y="1965960"/>
            <a:ext cx="5126752" cy="3840480"/>
          </a:xfrm>
          <a:prstGeom prst="rect">
            <a:avLst/>
          </a:prstGeom>
        </p:spPr>
      </p:pic>
      <p:sp>
        <p:nvSpPr>
          <p:cNvPr id="17" name="Rounded Rectangle 16"/>
          <p:cNvSpPr/>
          <p:nvPr/>
        </p:nvSpPr>
        <p:spPr>
          <a:xfrm>
            <a:off x="274320" y="6309360"/>
            <a:ext cx="11612880" cy="45720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8640" y="6336792"/>
            <a:ext cx="10972800" cy="365760"/>
          </a:xfrm>
          <a:prstGeom prst="rect">
            <a:avLst/>
          </a:prstGeom>
          <a:noFill/>
        </p:spPr>
        <p:txBody>
          <a:bodyPr wrap="square">
            <a:spAutoFit/>
          </a:bodyPr>
          <a:lstStyle/>
          <a:p>
            <a:pPr algn="l"/>
            <a:r>
              <a:rPr sz="1300" b="0">
                <a:solidFill>
                  <a:srgbClr val="48CAE4"/>
                </a:solidFill>
                <a:latin typeface="Segoe UI"/>
              </a:rPr>
              <a:t>💡  VADER is stronger on the Positive class; both struggle with Neutral near threshold boundaries</a:t>
            </a:r>
          </a:p>
        </p:txBody>
      </p:sp>
    </p:spTree>
  </p:cSld>
  <p:clrMapOvr>
    <a:masterClrMapping/>
  </p:clrMapOvr>
  <mc:AlternateContent xmlns:mc="http://schemas.openxmlformats.org/markup-compatibility/2006" xmlns:p159="http://schemas.microsoft.com/office/powerpoint/2015/09/main">
    <mc:Choice Requires="p159">
      <p:transition spd="med" advTm="58626">
        <p159:morph option="byObject"/>
      </p:transition>
    </mc:Choice>
    <mc:Fallback xmlns="">
      <p:transition spd="med" advTm="58626">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1">
                <a:solidFill>
                  <a:srgbClr val="00B4D8"/>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Performance Comparison &amp; Distributions</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74320" y="1463040"/>
            <a:ext cx="5760720" cy="27432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1508760"/>
            <a:ext cx="3657600" cy="320040"/>
          </a:xfrm>
          <a:prstGeom prst="rect">
            <a:avLst/>
          </a:prstGeom>
          <a:noFill/>
        </p:spPr>
        <p:txBody>
          <a:bodyPr wrap="square">
            <a:spAutoFit/>
          </a:bodyPr>
          <a:lstStyle/>
          <a:p>
            <a:pPr algn="l"/>
            <a:r>
              <a:rPr sz="1400" b="1">
                <a:solidFill>
                  <a:srgbClr val="FFFFFF"/>
                </a:solidFill>
                <a:latin typeface="Segoe UI"/>
              </a:rPr>
              <a:t>📋  Metrics Comparison</a:t>
            </a:r>
          </a:p>
        </p:txBody>
      </p:sp>
      <p:pic>
        <p:nvPicPr>
          <p:cNvPr id="13" name="Picture 12" descr="image.png"/>
          <p:cNvPicPr>
            <a:picLocks noChangeAspect="1"/>
          </p:cNvPicPr>
          <p:nvPr/>
        </p:nvPicPr>
        <p:blipFill>
          <a:blip r:embed="rId2"/>
          <a:stretch>
            <a:fillRect/>
          </a:stretch>
        </p:blipFill>
        <p:spPr>
          <a:xfrm>
            <a:off x="365760" y="2020869"/>
            <a:ext cx="5486400" cy="1810420"/>
          </a:xfrm>
          <a:prstGeom prst="rect">
            <a:avLst/>
          </a:prstGeom>
        </p:spPr>
      </p:pic>
      <p:sp>
        <p:nvSpPr>
          <p:cNvPr id="14" name="Rounded Rectangle 13"/>
          <p:cNvSpPr/>
          <p:nvPr/>
        </p:nvSpPr>
        <p:spPr>
          <a:xfrm>
            <a:off x="6217920" y="1463040"/>
            <a:ext cx="5669280" cy="50292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12868" y="1508760"/>
            <a:ext cx="4572000" cy="320040"/>
          </a:xfrm>
          <a:prstGeom prst="rect">
            <a:avLst/>
          </a:prstGeom>
          <a:noFill/>
        </p:spPr>
        <p:txBody>
          <a:bodyPr wrap="square">
            <a:spAutoFit/>
          </a:bodyPr>
          <a:lstStyle/>
          <a:p>
            <a:pPr algn="l"/>
            <a:r>
              <a:rPr sz="1400" b="1" dirty="0">
                <a:solidFill>
                  <a:srgbClr val="FFFFFF"/>
                </a:solidFill>
                <a:latin typeface="Segoe UI"/>
              </a:rPr>
              <a:t>📊  Score Distributions &amp; Agreement</a:t>
            </a:r>
          </a:p>
        </p:txBody>
      </p:sp>
      <p:pic>
        <p:nvPicPr>
          <p:cNvPr id="16" name="Picture 15" descr="image.png"/>
          <p:cNvPicPr>
            <a:picLocks noChangeAspect="1"/>
          </p:cNvPicPr>
          <p:nvPr/>
        </p:nvPicPr>
        <p:blipFill>
          <a:blip r:embed="rId3"/>
          <a:stretch>
            <a:fillRect/>
          </a:stretch>
        </p:blipFill>
        <p:spPr>
          <a:xfrm>
            <a:off x="6400800" y="2086734"/>
            <a:ext cx="5303520" cy="3964691"/>
          </a:xfrm>
          <a:prstGeom prst="rect">
            <a:avLst/>
          </a:prstGeom>
        </p:spPr>
      </p:pic>
      <p:sp>
        <p:nvSpPr>
          <p:cNvPr id="17" name="Rounded Rectangle 16"/>
          <p:cNvSpPr/>
          <p:nvPr/>
        </p:nvSpPr>
        <p:spPr>
          <a:xfrm>
            <a:off x="274320" y="4480560"/>
            <a:ext cx="5760720" cy="201168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4572000"/>
            <a:ext cx="2743200" cy="320040"/>
          </a:xfrm>
          <a:prstGeom prst="rect">
            <a:avLst/>
          </a:prstGeom>
          <a:noFill/>
        </p:spPr>
        <p:txBody>
          <a:bodyPr wrap="square">
            <a:spAutoFit/>
          </a:bodyPr>
          <a:lstStyle/>
          <a:p>
            <a:pPr algn="l"/>
            <a:r>
              <a:rPr sz="1500" b="1">
                <a:solidFill>
                  <a:srgbClr val="FFFFFF"/>
                </a:solidFill>
                <a:latin typeface="Segoe UI"/>
              </a:rPr>
              <a:t>Key Findings</a:t>
            </a:r>
          </a:p>
        </p:txBody>
      </p:sp>
      <p:sp>
        <p:nvSpPr>
          <p:cNvPr id="19" name="TextBox 18"/>
          <p:cNvSpPr txBox="1"/>
          <p:nvPr/>
        </p:nvSpPr>
        <p:spPr>
          <a:xfrm>
            <a:off x="457200" y="4937760"/>
            <a:ext cx="5303520" cy="1371600"/>
          </a:xfrm>
          <a:prstGeom prst="rect">
            <a:avLst/>
          </a:prstGeom>
          <a:noFill/>
        </p:spPr>
        <p:txBody>
          <a:bodyPr wrap="square">
            <a:spAutoFit/>
          </a:bodyPr>
          <a:lstStyle/>
          <a:p>
            <a:pPr>
              <a:spcBef>
                <a:spcPts val="200"/>
              </a:spcBef>
              <a:spcAft>
                <a:spcPts val="800"/>
              </a:spcAft>
            </a:pPr>
            <a:r>
              <a:rPr sz="1200" b="0">
                <a:solidFill>
                  <a:srgbClr val="06D6A0"/>
                </a:solidFill>
                <a:latin typeface="Segoe UI"/>
              </a:rPr>
              <a:t>✓ VADER outperforms TextBlob on Macro F1</a:t>
            </a:r>
          </a:p>
          <a:p>
            <a:pPr>
              <a:spcBef>
                <a:spcPts val="200"/>
              </a:spcBef>
              <a:spcAft>
                <a:spcPts val="800"/>
              </a:spcAft>
            </a:pPr>
            <a:r>
              <a:rPr sz="1200" b="0">
                <a:solidFill>
                  <a:srgbClr val="6C757D"/>
                </a:solidFill>
                <a:latin typeface="Segoe UI"/>
              </a:rPr>
              <a:t>✓ Macro F1 = primary metric (treats each class equally)</a:t>
            </a:r>
          </a:p>
          <a:p>
            <a:pPr>
              <a:spcBef>
                <a:spcPts val="200"/>
              </a:spcBef>
              <a:spcAft>
                <a:spcPts val="800"/>
              </a:spcAft>
            </a:pPr>
            <a:r>
              <a:rPr sz="1200" b="0">
                <a:solidFill>
                  <a:srgbClr val="6C757D"/>
                </a:solidFill>
                <a:latin typeface="Segoe UI"/>
              </a:rPr>
              <a:t>✓ ~80% agreement between models</a:t>
            </a:r>
          </a:p>
          <a:p>
            <a:pPr>
              <a:spcBef>
                <a:spcPts val="200"/>
              </a:spcBef>
              <a:spcAft>
                <a:spcPts val="800"/>
              </a:spcAft>
            </a:pPr>
            <a:r>
              <a:rPr sz="1200" b="0">
                <a:solidFill>
                  <a:srgbClr val="48CAE4"/>
                </a:solidFill>
                <a:latin typeface="Segoe UI"/>
              </a:rPr>
              <a:t>✓ Differences mainly on Neutral boundaries</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1">
                <a:solidFill>
                  <a:srgbClr val="00B4D8"/>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Error Analysis &amp; Phase 1 Conclusion</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463040"/>
            <a:ext cx="5486400" cy="45720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1600200"/>
            <a:ext cx="5029200" cy="365760"/>
          </a:xfrm>
          <a:prstGeom prst="rect">
            <a:avLst/>
          </a:prstGeom>
          <a:noFill/>
        </p:spPr>
        <p:txBody>
          <a:bodyPr wrap="square">
            <a:spAutoFit/>
          </a:bodyPr>
          <a:lstStyle/>
          <a:p>
            <a:pPr algn="l"/>
            <a:r>
              <a:rPr sz="1600" b="1">
                <a:solidFill>
                  <a:srgbClr val="FF6B35"/>
                </a:solidFill>
                <a:latin typeface="Segoe UI"/>
              </a:rPr>
              <a:t>⚠️  Common Misclassification Patterns</a:t>
            </a:r>
          </a:p>
        </p:txBody>
      </p:sp>
      <p:sp>
        <p:nvSpPr>
          <p:cNvPr id="13" name="Rounded Rectangle 12"/>
          <p:cNvSpPr/>
          <p:nvPr/>
        </p:nvSpPr>
        <p:spPr>
          <a:xfrm>
            <a:off x="731520" y="2103120"/>
            <a:ext cx="4937760" cy="91440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2194560"/>
            <a:ext cx="2743200" cy="274320"/>
          </a:xfrm>
          <a:prstGeom prst="rect">
            <a:avLst/>
          </a:prstGeom>
          <a:noFill/>
        </p:spPr>
        <p:txBody>
          <a:bodyPr wrap="square">
            <a:spAutoFit/>
          </a:bodyPr>
          <a:lstStyle/>
          <a:p>
            <a:pPr algn="l"/>
            <a:r>
              <a:rPr sz="1300" b="1">
                <a:solidFill>
                  <a:srgbClr val="FF6B35"/>
                </a:solidFill>
                <a:latin typeface="Segoe UI"/>
              </a:rPr>
              <a:t>TextBlob: 26.5% misclassified</a:t>
            </a:r>
          </a:p>
        </p:txBody>
      </p:sp>
      <p:sp>
        <p:nvSpPr>
          <p:cNvPr id="15" name="Rounded Rectangle 14"/>
          <p:cNvSpPr/>
          <p:nvPr/>
        </p:nvSpPr>
        <p:spPr>
          <a:xfrm>
            <a:off x="914400" y="2468880"/>
            <a:ext cx="0" cy="164592"/>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651760"/>
            <a:ext cx="2743200" cy="274320"/>
          </a:xfrm>
          <a:prstGeom prst="rect">
            <a:avLst/>
          </a:prstGeom>
          <a:noFill/>
        </p:spPr>
        <p:txBody>
          <a:bodyPr wrap="square">
            <a:spAutoFit/>
          </a:bodyPr>
          <a:lstStyle/>
          <a:p>
            <a:pPr algn="l"/>
            <a:r>
              <a:rPr sz="1300" b="1">
                <a:solidFill>
                  <a:srgbClr val="00B4D8"/>
                </a:solidFill>
                <a:latin typeface="Segoe UI"/>
              </a:rPr>
              <a:t>VADER: 20.7% misclassified</a:t>
            </a:r>
          </a:p>
        </p:txBody>
      </p:sp>
      <p:sp>
        <p:nvSpPr>
          <p:cNvPr id="17" name="Rounded Rectangle 16"/>
          <p:cNvSpPr/>
          <p:nvPr/>
        </p:nvSpPr>
        <p:spPr>
          <a:xfrm>
            <a:off x="914400" y="2926080"/>
            <a:ext cx="0" cy="164592"/>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383280"/>
            <a:ext cx="365760" cy="320040"/>
          </a:xfrm>
          <a:prstGeom prst="rect">
            <a:avLst/>
          </a:prstGeom>
          <a:noFill/>
        </p:spPr>
        <p:txBody>
          <a:bodyPr wrap="square">
            <a:spAutoFit/>
          </a:bodyPr>
          <a:lstStyle/>
          <a:p>
            <a:pPr algn="l"/>
            <a:r>
              <a:rPr sz="1600" b="0">
                <a:solidFill>
                  <a:srgbClr val="FFFFFF"/>
                </a:solidFill>
                <a:latin typeface="Segoe UI Emoji"/>
              </a:rPr>
              <a:t>🎭</a:t>
            </a:r>
          </a:p>
        </p:txBody>
      </p:sp>
      <p:sp>
        <p:nvSpPr>
          <p:cNvPr id="19" name="TextBox 18"/>
          <p:cNvSpPr txBox="1"/>
          <p:nvPr/>
        </p:nvSpPr>
        <p:spPr>
          <a:xfrm>
            <a:off x="1188720" y="3364992"/>
            <a:ext cx="2286000" cy="274320"/>
          </a:xfrm>
          <a:prstGeom prst="rect">
            <a:avLst/>
          </a:prstGeom>
          <a:noFill/>
        </p:spPr>
        <p:txBody>
          <a:bodyPr wrap="square">
            <a:spAutoFit/>
          </a:bodyPr>
          <a:lstStyle/>
          <a:p>
            <a:pPr algn="l"/>
            <a:r>
              <a:rPr sz="1300" b="1">
                <a:solidFill>
                  <a:srgbClr val="FFFFFF"/>
                </a:solidFill>
                <a:latin typeface="Segoe UI"/>
              </a:rPr>
              <a:t>Sarcasm / Irony</a:t>
            </a:r>
          </a:p>
        </p:txBody>
      </p:sp>
      <p:sp>
        <p:nvSpPr>
          <p:cNvPr id="20" name="TextBox 19"/>
          <p:cNvSpPr txBox="1"/>
          <p:nvPr/>
        </p:nvSpPr>
        <p:spPr>
          <a:xfrm>
            <a:off x="1188720" y="3593592"/>
            <a:ext cx="4114800" cy="274320"/>
          </a:xfrm>
          <a:prstGeom prst="rect">
            <a:avLst/>
          </a:prstGeom>
          <a:noFill/>
        </p:spPr>
        <p:txBody>
          <a:bodyPr wrap="square">
            <a:spAutoFit/>
          </a:bodyPr>
          <a:lstStyle/>
          <a:p>
            <a:pPr algn="l"/>
            <a:r>
              <a:rPr sz="1100" b="0">
                <a:solidFill>
                  <a:srgbClr val="6C757D"/>
                </a:solidFill>
                <a:latin typeface="Segoe UI"/>
              </a:rPr>
              <a:t>"great… not"</a:t>
            </a:r>
          </a:p>
        </p:txBody>
      </p:sp>
      <p:sp>
        <p:nvSpPr>
          <p:cNvPr id="21" name="TextBox 20"/>
          <p:cNvSpPr txBox="1"/>
          <p:nvPr/>
        </p:nvSpPr>
        <p:spPr>
          <a:xfrm>
            <a:off x="731520" y="4023360"/>
            <a:ext cx="365760" cy="320040"/>
          </a:xfrm>
          <a:prstGeom prst="rect">
            <a:avLst/>
          </a:prstGeom>
          <a:noFill/>
        </p:spPr>
        <p:txBody>
          <a:bodyPr wrap="square">
            <a:spAutoFit/>
          </a:bodyPr>
          <a:lstStyle/>
          <a:p>
            <a:pPr algn="l"/>
            <a:r>
              <a:rPr sz="1600" b="0">
                <a:solidFill>
                  <a:srgbClr val="FFFFFF"/>
                </a:solidFill>
                <a:latin typeface="Segoe UI Emoji"/>
              </a:rPr>
              <a:t>⚖️</a:t>
            </a:r>
          </a:p>
        </p:txBody>
      </p:sp>
      <p:sp>
        <p:nvSpPr>
          <p:cNvPr id="22" name="TextBox 21"/>
          <p:cNvSpPr txBox="1"/>
          <p:nvPr/>
        </p:nvSpPr>
        <p:spPr>
          <a:xfrm>
            <a:off x="1188720" y="4005072"/>
            <a:ext cx="2286000" cy="274320"/>
          </a:xfrm>
          <a:prstGeom prst="rect">
            <a:avLst/>
          </a:prstGeom>
          <a:noFill/>
        </p:spPr>
        <p:txBody>
          <a:bodyPr wrap="square">
            <a:spAutoFit/>
          </a:bodyPr>
          <a:lstStyle/>
          <a:p>
            <a:pPr algn="l"/>
            <a:r>
              <a:rPr sz="1300" b="1">
                <a:solidFill>
                  <a:srgbClr val="FFFFFF"/>
                </a:solidFill>
                <a:latin typeface="Segoe UI"/>
              </a:rPr>
              <a:t>Mixed Sentiment</a:t>
            </a:r>
          </a:p>
        </p:txBody>
      </p:sp>
      <p:sp>
        <p:nvSpPr>
          <p:cNvPr id="23" name="TextBox 22"/>
          <p:cNvSpPr txBox="1"/>
          <p:nvPr/>
        </p:nvSpPr>
        <p:spPr>
          <a:xfrm>
            <a:off x="1188720" y="4233672"/>
            <a:ext cx="4114800" cy="274320"/>
          </a:xfrm>
          <a:prstGeom prst="rect">
            <a:avLst/>
          </a:prstGeom>
          <a:noFill/>
        </p:spPr>
        <p:txBody>
          <a:bodyPr wrap="square">
            <a:spAutoFit/>
          </a:bodyPr>
          <a:lstStyle/>
          <a:p>
            <a:pPr algn="l"/>
            <a:r>
              <a:rPr sz="1100" b="0">
                <a:solidFill>
                  <a:srgbClr val="6C757D"/>
                </a:solidFill>
                <a:latin typeface="Segoe UI"/>
              </a:rPr>
              <a:t>"good product but terrible shipping"</a:t>
            </a:r>
          </a:p>
        </p:txBody>
      </p:sp>
      <p:sp>
        <p:nvSpPr>
          <p:cNvPr id="24" name="TextBox 23"/>
          <p:cNvSpPr txBox="1"/>
          <p:nvPr/>
        </p:nvSpPr>
        <p:spPr>
          <a:xfrm>
            <a:off x="731520" y="4663440"/>
            <a:ext cx="365760" cy="320040"/>
          </a:xfrm>
          <a:prstGeom prst="rect">
            <a:avLst/>
          </a:prstGeom>
          <a:noFill/>
        </p:spPr>
        <p:txBody>
          <a:bodyPr wrap="square">
            <a:spAutoFit/>
          </a:bodyPr>
          <a:lstStyle/>
          <a:p>
            <a:pPr algn="l"/>
            <a:r>
              <a:rPr sz="1600" b="0">
                <a:solidFill>
                  <a:srgbClr val="FFFFFF"/>
                </a:solidFill>
                <a:latin typeface="Segoe UI Emoji"/>
              </a:rPr>
              <a:t>❓</a:t>
            </a:r>
          </a:p>
        </p:txBody>
      </p:sp>
      <p:sp>
        <p:nvSpPr>
          <p:cNvPr id="25" name="TextBox 24"/>
          <p:cNvSpPr txBox="1"/>
          <p:nvPr/>
        </p:nvSpPr>
        <p:spPr>
          <a:xfrm>
            <a:off x="1188720" y="4645152"/>
            <a:ext cx="2286000" cy="274320"/>
          </a:xfrm>
          <a:prstGeom prst="rect">
            <a:avLst/>
          </a:prstGeom>
          <a:noFill/>
        </p:spPr>
        <p:txBody>
          <a:bodyPr wrap="square">
            <a:spAutoFit/>
          </a:bodyPr>
          <a:lstStyle/>
          <a:p>
            <a:pPr algn="l"/>
            <a:r>
              <a:rPr sz="1300" b="1">
                <a:solidFill>
                  <a:srgbClr val="FFFFFF"/>
                </a:solidFill>
                <a:latin typeface="Segoe UI"/>
              </a:rPr>
              <a:t>Short / Vague</a:t>
            </a:r>
          </a:p>
        </p:txBody>
      </p:sp>
      <p:sp>
        <p:nvSpPr>
          <p:cNvPr id="26" name="TextBox 25"/>
          <p:cNvSpPr txBox="1"/>
          <p:nvPr/>
        </p:nvSpPr>
        <p:spPr>
          <a:xfrm>
            <a:off x="1188720" y="4873752"/>
            <a:ext cx="4114800" cy="274320"/>
          </a:xfrm>
          <a:prstGeom prst="rect">
            <a:avLst/>
          </a:prstGeom>
          <a:noFill/>
        </p:spPr>
        <p:txBody>
          <a:bodyPr wrap="square">
            <a:spAutoFit/>
          </a:bodyPr>
          <a:lstStyle/>
          <a:p>
            <a:pPr algn="l"/>
            <a:r>
              <a:rPr sz="1100" b="0">
                <a:solidFill>
                  <a:srgbClr val="6C757D"/>
                </a:solidFill>
                <a:latin typeface="Segoe UI"/>
              </a:rPr>
              <a:t>"ok", "fine"</a:t>
            </a:r>
          </a:p>
        </p:txBody>
      </p:sp>
      <p:sp>
        <p:nvSpPr>
          <p:cNvPr id="27" name="TextBox 26"/>
          <p:cNvSpPr txBox="1"/>
          <p:nvPr/>
        </p:nvSpPr>
        <p:spPr>
          <a:xfrm>
            <a:off x="731520" y="5303520"/>
            <a:ext cx="365760" cy="320040"/>
          </a:xfrm>
          <a:prstGeom prst="rect">
            <a:avLst/>
          </a:prstGeom>
          <a:noFill/>
        </p:spPr>
        <p:txBody>
          <a:bodyPr wrap="square">
            <a:spAutoFit/>
          </a:bodyPr>
          <a:lstStyle/>
          <a:p>
            <a:pPr algn="l"/>
            <a:r>
              <a:rPr sz="1600" b="0">
                <a:solidFill>
                  <a:srgbClr val="FFFFFF"/>
                </a:solidFill>
                <a:latin typeface="Segoe UI Emoji"/>
              </a:rPr>
              <a:t>🔄</a:t>
            </a:r>
          </a:p>
        </p:txBody>
      </p:sp>
      <p:sp>
        <p:nvSpPr>
          <p:cNvPr id="28" name="TextBox 27"/>
          <p:cNvSpPr txBox="1"/>
          <p:nvPr/>
        </p:nvSpPr>
        <p:spPr>
          <a:xfrm>
            <a:off x="1188720" y="5285232"/>
            <a:ext cx="2286000" cy="274320"/>
          </a:xfrm>
          <a:prstGeom prst="rect">
            <a:avLst/>
          </a:prstGeom>
          <a:noFill/>
        </p:spPr>
        <p:txBody>
          <a:bodyPr wrap="square">
            <a:spAutoFit/>
          </a:bodyPr>
          <a:lstStyle/>
          <a:p>
            <a:pPr algn="l"/>
            <a:r>
              <a:rPr sz="1300" b="1">
                <a:solidFill>
                  <a:srgbClr val="FFFFFF"/>
                </a:solidFill>
                <a:latin typeface="Segoe UI"/>
              </a:rPr>
              <a:t>Weak Signals</a:t>
            </a:r>
          </a:p>
        </p:txBody>
      </p:sp>
      <p:sp>
        <p:nvSpPr>
          <p:cNvPr id="29" name="TextBox 28"/>
          <p:cNvSpPr txBox="1"/>
          <p:nvPr/>
        </p:nvSpPr>
        <p:spPr>
          <a:xfrm>
            <a:off x="1188720" y="5513832"/>
            <a:ext cx="4114800" cy="274320"/>
          </a:xfrm>
          <a:prstGeom prst="rect">
            <a:avLst/>
          </a:prstGeom>
          <a:noFill/>
        </p:spPr>
        <p:txBody>
          <a:bodyPr wrap="square">
            <a:spAutoFit/>
          </a:bodyPr>
          <a:lstStyle/>
          <a:p>
            <a:pPr algn="l"/>
            <a:r>
              <a:rPr sz="1100" b="0">
                <a:solidFill>
                  <a:srgbClr val="6C757D"/>
                </a:solidFill>
                <a:latin typeface="Segoe UI"/>
              </a:rPr>
              <a:t>Neutral with weak positive/negative words</a:t>
            </a:r>
          </a:p>
        </p:txBody>
      </p:sp>
      <p:sp>
        <p:nvSpPr>
          <p:cNvPr id="30" name="Rounded Rectangle 29"/>
          <p:cNvSpPr/>
          <p:nvPr/>
        </p:nvSpPr>
        <p:spPr>
          <a:xfrm>
            <a:off x="6217920" y="1463040"/>
            <a:ext cx="5486400" cy="45720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92240" y="1600200"/>
            <a:ext cx="5029200" cy="365760"/>
          </a:xfrm>
          <a:prstGeom prst="rect">
            <a:avLst/>
          </a:prstGeom>
          <a:noFill/>
        </p:spPr>
        <p:txBody>
          <a:bodyPr wrap="square">
            <a:spAutoFit/>
          </a:bodyPr>
          <a:lstStyle/>
          <a:p>
            <a:pPr algn="l"/>
            <a:r>
              <a:rPr sz="1600" b="1">
                <a:solidFill>
                  <a:srgbClr val="06D6A0"/>
                </a:solidFill>
                <a:latin typeface="Segoe UI"/>
              </a:rPr>
              <a:t>✅  Phase 1 Conclusions</a:t>
            </a:r>
          </a:p>
        </p:txBody>
      </p:sp>
      <p:sp>
        <p:nvSpPr>
          <p:cNvPr id="32" name="Rounded Rectangle 31"/>
          <p:cNvSpPr/>
          <p:nvPr/>
        </p:nvSpPr>
        <p:spPr>
          <a:xfrm>
            <a:off x="6492240" y="2103120"/>
            <a:ext cx="5029200" cy="10972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556248" y="2103120"/>
            <a:ext cx="4965192" cy="10972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720840" y="2194560"/>
            <a:ext cx="4663440" cy="320040"/>
          </a:xfrm>
          <a:prstGeom prst="rect">
            <a:avLst/>
          </a:prstGeom>
          <a:noFill/>
        </p:spPr>
        <p:txBody>
          <a:bodyPr wrap="square">
            <a:spAutoFit/>
          </a:bodyPr>
          <a:lstStyle/>
          <a:p>
            <a:pPr algn="l"/>
            <a:r>
              <a:rPr sz="1400" b="1">
                <a:solidFill>
                  <a:srgbClr val="00B4D8"/>
                </a:solidFill>
                <a:latin typeface="Segoe UI"/>
              </a:rPr>
              <a:t>VADER wins on Macro F1</a:t>
            </a:r>
          </a:p>
        </p:txBody>
      </p:sp>
      <p:sp>
        <p:nvSpPr>
          <p:cNvPr id="35" name="TextBox 34"/>
          <p:cNvSpPr txBox="1"/>
          <p:nvPr/>
        </p:nvSpPr>
        <p:spPr>
          <a:xfrm>
            <a:off x="6720840" y="2514600"/>
            <a:ext cx="4663440" cy="640080"/>
          </a:xfrm>
          <a:prstGeom prst="rect">
            <a:avLst/>
          </a:prstGeom>
          <a:noFill/>
        </p:spPr>
        <p:txBody>
          <a:bodyPr wrap="square">
            <a:spAutoFit/>
          </a:bodyPr>
          <a:lstStyle/>
          <a:p>
            <a:pPr algn="l"/>
            <a:r>
              <a:rPr sz="1200" b="0">
                <a:solidFill>
                  <a:srgbClr val="6C757D"/>
                </a:solidFill>
                <a:latin typeface="Segoe UI"/>
              </a:rPr>
              <a:t>Better handling of minority classes
Stronger at informal cues &amp; emphasis</a:t>
            </a:r>
          </a:p>
        </p:txBody>
      </p:sp>
      <p:sp>
        <p:nvSpPr>
          <p:cNvPr id="36" name="Rounded Rectangle 35"/>
          <p:cNvSpPr/>
          <p:nvPr/>
        </p:nvSpPr>
        <p:spPr>
          <a:xfrm>
            <a:off x="6492240" y="3383280"/>
            <a:ext cx="5029200" cy="109728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556248" y="3383280"/>
            <a:ext cx="4965192" cy="10972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20840" y="3474720"/>
            <a:ext cx="4663440" cy="320040"/>
          </a:xfrm>
          <a:prstGeom prst="rect">
            <a:avLst/>
          </a:prstGeom>
          <a:noFill/>
        </p:spPr>
        <p:txBody>
          <a:bodyPr wrap="square">
            <a:spAutoFit/>
          </a:bodyPr>
          <a:lstStyle/>
          <a:p>
            <a:pPr algn="l"/>
            <a:r>
              <a:rPr sz="1400" b="1">
                <a:solidFill>
                  <a:srgbClr val="FF6B35"/>
                </a:solidFill>
                <a:latin typeface="Segoe UI"/>
              </a:rPr>
              <a:t>Both have limitations</a:t>
            </a:r>
          </a:p>
        </p:txBody>
      </p:sp>
      <p:sp>
        <p:nvSpPr>
          <p:cNvPr id="39" name="TextBox 38"/>
          <p:cNvSpPr txBox="1"/>
          <p:nvPr/>
        </p:nvSpPr>
        <p:spPr>
          <a:xfrm>
            <a:off x="6720840" y="3794760"/>
            <a:ext cx="4663440" cy="640080"/>
          </a:xfrm>
          <a:prstGeom prst="rect">
            <a:avLst/>
          </a:prstGeom>
          <a:noFill/>
        </p:spPr>
        <p:txBody>
          <a:bodyPr wrap="square">
            <a:spAutoFit/>
          </a:bodyPr>
          <a:lstStyle/>
          <a:p>
            <a:pPr algn="l"/>
            <a:r>
              <a:rPr sz="1200" b="0">
                <a:solidFill>
                  <a:srgbClr val="6C757D"/>
                </a:solidFill>
                <a:latin typeface="Segoe UI"/>
              </a:rPr>
              <a:t>Struggle with ambiguous/neutral reviews
Cannot learn domain-specific sentiment</a:t>
            </a:r>
          </a:p>
        </p:txBody>
      </p:sp>
      <p:sp>
        <p:nvSpPr>
          <p:cNvPr id="40" name="Rounded Rectangle 39"/>
          <p:cNvSpPr/>
          <p:nvPr/>
        </p:nvSpPr>
        <p:spPr>
          <a:xfrm>
            <a:off x="6492240" y="4663440"/>
            <a:ext cx="5029200" cy="1097280"/>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6556248" y="4663440"/>
            <a:ext cx="4965192" cy="10972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20840" y="4754880"/>
            <a:ext cx="4663440" cy="320040"/>
          </a:xfrm>
          <a:prstGeom prst="rect">
            <a:avLst/>
          </a:prstGeom>
          <a:noFill/>
        </p:spPr>
        <p:txBody>
          <a:bodyPr wrap="square">
            <a:spAutoFit/>
          </a:bodyPr>
          <a:lstStyle/>
          <a:p>
            <a:pPr algn="l"/>
            <a:r>
              <a:rPr sz="1400" b="1">
                <a:solidFill>
                  <a:srgbClr val="06D6A0"/>
                </a:solidFill>
                <a:latin typeface="Segoe UI"/>
              </a:rPr>
              <a:t>Next: Supervised ML</a:t>
            </a:r>
          </a:p>
        </p:txBody>
      </p:sp>
      <p:sp>
        <p:nvSpPr>
          <p:cNvPr id="43" name="TextBox 42"/>
          <p:cNvSpPr txBox="1"/>
          <p:nvPr/>
        </p:nvSpPr>
        <p:spPr>
          <a:xfrm>
            <a:off x="6720840" y="5074920"/>
            <a:ext cx="4663440" cy="640080"/>
          </a:xfrm>
          <a:prstGeom prst="rect">
            <a:avLst/>
          </a:prstGeom>
          <a:noFill/>
        </p:spPr>
        <p:txBody>
          <a:bodyPr wrap="square">
            <a:spAutoFit/>
          </a:bodyPr>
          <a:lstStyle/>
          <a:p>
            <a:pPr algn="l"/>
            <a:r>
              <a:rPr sz="1200" b="0">
                <a:solidFill>
                  <a:srgbClr val="6C757D"/>
                </a:solidFill>
                <a:latin typeface="Segoe UI"/>
              </a:rPr>
              <a:t>Phase 2 improves results with labeled
training data &amp; ML classifiers</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3657600" cy="2743200"/>
          </a:xfrm>
          <a:prstGeom prst="rect">
            <a:avLst/>
          </a:prstGeom>
          <a:noFill/>
        </p:spPr>
        <p:txBody>
          <a:bodyPr wrap="square">
            <a:spAutoFit/>
          </a:bodyPr>
          <a:lstStyle/>
          <a:p>
            <a:pPr algn="l"/>
            <a:r>
              <a:rPr sz="12000" b="1">
                <a:solidFill>
                  <a:srgbClr val="1D3050"/>
                </a:solidFill>
                <a:latin typeface="Segoe UI Black"/>
              </a:rPr>
              <a:t>02</a:t>
            </a:r>
          </a:p>
        </p:txBody>
      </p:sp>
      <p:sp>
        <p:nvSpPr>
          <p:cNvPr id="3" name="Rounded Rectangle 2"/>
          <p:cNvSpPr/>
          <p:nvPr/>
        </p:nvSpPr>
        <p:spPr>
          <a:xfrm>
            <a:off x="914400" y="3200400"/>
            <a:ext cx="27432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474720"/>
            <a:ext cx="10058400" cy="1097280"/>
          </a:xfrm>
          <a:prstGeom prst="rect">
            <a:avLst/>
          </a:prstGeom>
          <a:noFill/>
        </p:spPr>
        <p:txBody>
          <a:bodyPr wrap="square">
            <a:spAutoFit/>
          </a:bodyPr>
          <a:lstStyle/>
          <a:p>
            <a:pPr algn="l"/>
            <a:r>
              <a:rPr sz="4000" b="1">
                <a:solidFill>
                  <a:srgbClr val="FFFFFF"/>
                </a:solidFill>
                <a:latin typeface="Segoe UI"/>
              </a:rPr>
              <a:t>Phase 2: Machine Learning,
Recommender &amp; LLM</a:t>
            </a:r>
          </a:p>
        </p:txBody>
      </p:sp>
      <p:sp>
        <p:nvSpPr>
          <p:cNvPr id="5" name="TextBox 4"/>
          <p:cNvSpPr txBox="1"/>
          <p:nvPr/>
        </p:nvSpPr>
        <p:spPr>
          <a:xfrm>
            <a:off x="914400" y="4772142"/>
            <a:ext cx="9144000" cy="731520"/>
          </a:xfrm>
          <a:prstGeom prst="rect">
            <a:avLst/>
          </a:prstGeom>
          <a:noFill/>
        </p:spPr>
        <p:txBody>
          <a:bodyPr wrap="square">
            <a:spAutoFit/>
          </a:bodyPr>
          <a:lstStyle/>
          <a:p>
            <a:pPr algn="l"/>
            <a:r>
              <a:rPr sz="2000" b="0" dirty="0">
                <a:solidFill>
                  <a:srgbClr val="48CAE4"/>
                </a:solidFill>
                <a:latin typeface="Segoe UI"/>
              </a:rPr>
              <a:t>Logistic Regression  •  SVM  •  Collaborative Filtering  •  Hugging Face</a:t>
            </a:r>
          </a:p>
        </p:txBody>
      </p:sp>
      <p:sp>
        <p:nvSpPr>
          <p:cNvPr id="6" name="Oval 5"/>
          <p:cNvSpPr/>
          <p:nvPr/>
        </p:nvSpPr>
        <p:spPr>
          <a:xfrm>
            <a:off x="10058400" y="914400"/>
            <a:ext cx="1371600" cy="1371600"/>
          </a:xfrm>
          <a:prstGeom prst="ellipse">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32720" y="1188720"/>
            <a:ext cx="822960" cy="8229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0">
                <a:solidFill>
                  <a:srgbClr val="6C757D"/>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1">
                <a:solidFill>
                  <a:srgbClr val="00B4D8"/>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Phase 2: Dataset &amp; Text Representation</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463040"/>
            <a:ext cx="5303520" cy="22860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517904"/>
            <a:ext cx="5303520" cy="223113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1645920"/>
            <a:ext cx="3657600" cy="320040"/>
          </a:xfrm>
          <a:prstGeom prst="rect">
            <a:avLst/>
          </a:prstGeom>
          <a:noFill/>
        </p:spPr>
        <p:txBody>
          <a:bodyPr wrap="square">
            <a:spAutoFit/>
          </a:bodyPr>
          <a:lstStyle/>
          <a:p>
            <a:pPr algn="l"/>
            <a:r>
              <a:rPr sz="1600" b="1">
                <a:solidFill>
                  <a:srgbClr val="FFFFFF"/>
                </a:solidFill>
                <a:latin typeface="Segoe UI"/>
              </a:rPr>
              <a:t>📂  Dataset Subset</a:t>
            </a:r>
          </a:p>
        </p:txBody>
      </p:sp>
      <p:sp>
        <p:nvSpPr>
          <p:cNvPr id="14" name="TextBox 13"/>
          <p:cNvSpPr txBox="1"/>
          <p:nvPr/>
        </p:nvSpPr>
        <p:spPr>
          <a:xfrm>
            <a:off x="731520" y="2103120"/>
            <a:ext cx="4754880" cy="1371600"/>
          </a:xfrm>
          <a:prstGeom prst="rect">
            <a:avLst/>
          </a:prstGeom>
          <a:noFill/>
        </p:spPr>
        <p:txBody>
          <a:bodyPr wrap="square">
            <a:spAutoFit/>
          </a:bodyPr>
          <a:lstStyle/>
          <a:p>
            <a:pPr>
              <a:spcBef>
                <a:spcPts val="200"/>
              </a:spcBef>
              <a:spcAft>
                <a:spcPts val="800"/>
              </a:spcAft>
            </a:pPr>
            <a:r>
              <a:rPr sz="1300" b="0">
                <a:solidFill>
                  <a:srgbClr val="6C757D"/>
                </a:solidFill>
                <a:latin typeface="Segoe UI"/>
              </a:rPr>
              <a:t>2,000+ reviews from Industrial &amp; Scientific</a:t>
            </a:r>
          </a:p>
          <a:p>
            <a:pPr>
              <a:spcBef>
                <a:spcPts val="200"/>
              </a:spcBef>
              <a:spcAft>
                <a:spcPts val="800"/>
              </a:spcAft>
            </a:pPr>
            <a:r>
              <a:rPr sz="1300" b="0">
                <a:solidFill>
                  <a:srgbClr val="6C757D"/>
                </a:solidFill>
                <a:latin typeface="Segoe UI"/>
              </a:rPr>
              <a:t>Same imbalanced distribution as Phase 1</a:t>
            </a:r>
          </a:p>
          <a:p>
            <a:pPr>
              <a:spcBef>
                <a:spcPts val="200"/>
              </a:spcBef>
              <a:spcAft>
                <a:spcPts val="800"/>
              </a:spcAft>
            </a:pPr>
            <a:r>
              <a:rPr sz="1300" b="0">
                <a:solidFill>
                  <a:srgbClr val="FF6B35"/>
                </a:solidFill>
                <a:latin typeface="Segoe UI"/>
              </a:rPr>
              <a:t>Predominantly 4-5 star reviews</a:t>
            </a:r>
          </a:p>
          <a:p>
            <a:pPr>
              <a:spcBef>
                <a:spcPts val="200"/>
              </a:spcBef>
              <a:spcAft>
                <a:spcPts val="800"/>
              </a:spcAft>
            </a:pPr>
            <a:r>
              <a:rPr sz="1300" b="0">
                <a:solidFill>
                  <a:srgbClr val="48CAE4"/>
                </a:solidFill>
                <a:latin typeface="Segoe UI"/>
              </a:rPr>
              <a:t>Stratified splits &amp; macro metrics essential</a:t>
            </a:r>
          </a:p>
        </p:txBody>
      </p:sp>
      <p:sp>
        <p:nvSpPr>
          <p:cNvPr id="15" name="Rounded Rectangle 14"/>
          <p:cNvSpPr/>
          <p:nvPr/>
        </p:nvSpPr>
        <p:spPr>
          <a:xfrm>
            <a:off x="6035040" y="1463040"/>
            <a:ext cx="5760720" cy="2286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035040" y="1517904"/>
            <a:ext cx="5760720" cy="223113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60" y="1645920"/>
            <a:ext cx="4572000" cy="320040"/>
          </a:xfrm>
          <a:prstGeom prst="rect">
            <a:avLst/>
          </a:prstGeom>
          <a:noFill/>
        </p:spPr>
        <p:txBody>
          <a:bodyPr wrap="square">
            <a:spAutoFit/>
          </a:bodyPr>
          <a:lstStyle/>
          <a:p>
            <a:pPr algn="l"/>
            <a:r>
              <a:rPr sz="1600" b="1">
                <a:solidFill>
                  <a:srgbClr val="FFFFFF"/>
                </a:solidFill>
                <a:latin typeface="Segoe UI"/>
              </a:rPr>
              <a:t>⚙️  ML Pre-processing Steps</a:t>
            </a:r>
          </a:p>
        </p:txBody>
      </p:sp>
      <p:sp>
        <p:nvSpPr>
          <p:cNvPr id="18" name="Rounded Rectangle 17"/>
          <p:cNvSpPr/>
          <p:nvPr/>
        </p:nvSpPr>
        <p:spPr>
          <a:xfrm>
            <a:off x="6309360" y="2148840"/>
            <a:ext cx="914400" cy="82296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55080" y="2194560"/>
            <a:ext cx="822960" cy="731520"/>
          </a:xfrm>
          <a:prstGeom prst="rect">
            <a:avLst/>
          </a:prstGeom>
          <a:noFill/>
        </p:spPr>
        <p:txBody>
          <a:bodyPr wrap="square">
            <a:spAutoFit/>
          </a:bodyPr>
          <a:lstStyle/>
          <a:p>
            <a:pPr algn="ctr"/>
            <a:r>
              <a:rPr sz="1000" b="0">
                <a:solidFill>
                  <a:srgbClr val="6C757D"/>
                </a:solidFill>
                <a:latin typeface="Segoe UI"/>
              </a:rPr>
              <a:t>Lowercase</a:t>
            </a:r>
          </a:p>
        </p:txBody>
      </p:sp>
      <p:sp>
        <p:nvSpPr>
          <p:cNvPr id="20" name="TextBox 19"/>
          <p:cNvSpPr txBox="1"/>
          <p:nvPr/>
        </p:nvSpPr>
        <p:spPr>
          <a:xfrm>
            <a:off x="7223760" y="2377440"/>
            <a:ext cx="182880" cy="274320"/>
          </a:xfrm>
          <a:prstGeom prst="rect">
            <a:avLst/>
          </a:prstGeom>
          <a:noFill/>
        </p:spPr>
        <p:txBody>
          <a:bodyPr wrap="square">
            <a:spAutoFit/>
          </a:bodyPr>
          <a:lstStyle/>
          <a:p>
            <a:pPr algn="l"/>
            <a:r>
              <a:rPr sz="1400" b="1">
                <a:solidFill>
                  <a:srgbClr val="253D5E"/>
                </a:solidFill>
                <a:latin typeface="Segoe UI"/>
              </a:rPr>
              <a:t>→</a:t>
            </a:r>
          </a:p>
        </p:txBody>
      </p:sp>
      <p:sp>
        <p:nvSpPr>
          <p:cNvPr id="21" name="Rounded Rectangle 20"/>
          <p:cNvSpPr/>
          <p:nvPr/>
        </p:nvSpPr>
        <p:spPr>
          <a:xfrm>
            <a:off x="7406640" y="2148840"/>
            <a:ext cx="914400" cy="82296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13120" y="2194560"/>
            <a:ext cx="914400" cy="400110"/>
          </a:xfrm>
          <a:prstGeom prst="rect">
            <a:avLst/>
          </a:prstGeom>
          <a:noFill/>
        </p:spPr>
        <p:txBody>
          <a:bodyPr wrap="square">
            <a:spAutoFit/>
          </a:bodyPr>
          <a:lstStyle/>
          <a:p>
            <a:pPr algn="ctr"/>
            <a:r>
              <a:rPr sz="1000" b="0">
                <a:solidFill>
                  <a:srgbClr val="6C757D"/>
                </a:solidFill>
                <a:latin typeface="Segoe UI"/>
              </a:rPr>
              <a:t>Remove
punctuation</a:t>
            </a:r>
          </a:p>
        </p:txBody>
      </p:sp>
      <p:sp>
        <p:nvSpPr>
          <p:cNvPr id="23" name="TextBox 22"/>
          <p:cNvSpPr txBox="1"/>
          <p:nvPr/>
        </p:nvSpPr>
        <p:spPr>
          <a:xfrm>
            <a:off x="8321040" y="2377440"/>
            <a:ext cx="182880" cy="274320"/>
          </a:xfrm>
          <a:prstGeom prst="rect">
            <a:avLst/>
          </a:prstGeom>
          <a:noFill/>
        </p:spPr>
        <p:txBody>
          <a:bodyPr wrap="square">
            <a:spAutoFit/>
          </a:bodyPr>
          <a:lstStyle/>
          <a:p>
            <a:pPr algn="l"/>
            <a:r>
              <a:rPr sz="1400" b="1">
                <a:solidFill>
                  <a:srgbClr val="253D5E"/>
                </a:solidFill>
                <a:latin typeface="Segoe UI"/>
              </a:rPr>
              <a:t>→</a:t>
            </a:r>
          </a:p>
        </p:txBody>
      </p:sp>
      <p:sp>
        <p:nvSpPr>
          <p:cNvPr id="24" name="Rounded Rectangle 23"/>
          <p:cNvSpPr/>
          <p:nvPr/>
        </p:nvSpPr>
        <p:spPr>
          <a:xfrm>
            <a:off x="8503920" y="2148840"/>
            <a:ext cx="914400" cy="82296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549640" y="2194560"/>
            <a:ext cx="822960" cy="731520"/>
          </a:xfrm>
          <a:prstGeom prst="rect">
            <a:avLst/>
          </a:prstGeom>
          <a:noFill/>
        </p:spPr>
        <p:txBody>
          <a:bodyPr wrap="square">
            <a:spAutoFit/>
          </a:bodyPr>
          <a:lstStyle/>
          <a:p>
            <a:pPr algn="ctr"/>
            <a:r>
              <a:rPr sz="1000" b="0">
                <a:solidFill>
                  <a:srgbClr val="6C757D"/>
                </a:solidFill>
                <a:latin typeface="Segoe UI"/>
              </a:rPr>
              <a:t>Remove
HTML</a:t>
            </a:r>
          </a:p>
        </p:txBody>
      </p:sp>
      <p:sp>
        <p:nvSpPr>
          <p:cNvPr id="26" name="TextBox 25"/>
          <p:cNvSpPr txBox="1"/>
          <p:nvPr/>
        </p:nvSpPr>
        <p:spPr>
          <a:xfrm>
            <a:off x="9418320" y="2377440"/>
            <a:ext cx="182880" cy="274320"/>
          </a:xfrm>
          <a:prstGeom prst="rect">
            <a:avLst/>
          </a:prstGeom>
          <a:noFill/>
        </p:spPr>
        <p:txBody>
          <a:bodyPr wrap="square">
            <a:spAutoFit/>
          </a:bodyPr>
          <a:lstStyle/>
          <a:p>
            <a:pPr algn="l"/>
            <a:r>
              <a:rPr sz="1400" b="1">
                <a:solidFill>
                  <a:srgbClr val="253D5E"/>
                </a:solidFill>
                <a:latin typeface="Segoe UI"/>
              </a:rPr>
              <a:t>→</a:t>
            </a:r>
          </a:p>
        </p:txBody>
      </p:sp>
      <p:sp>
        <p:nvSpPr>
          <p:cNvPr id="27" name="Rounded Rectangle 26"/>
          <p:cNvSpPr/>
          <p:nvPr/>
        </p:nvSpPr>
        <p:spPr>
          <a:xfrm>
            <a:off x="9601200" y="2148840"/>
            <a:ext cx="914400" cy="82296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646920" y="2194560"/>
            <a:ext cx="822960" cy="731520"/>
          </a:xfrm>
          <a:prstGeom prst="rect">
            <a:avLst/>
          </a:prstGeom>
          <a:noFill/>
        </p:spPr>
        <p:txBody>
          <a:bodyPr wrap="square">
            <a:spAutoFit/>
          </a:bodyPr>
          <a:lstStyle/>
          <a:p>
            <a:pPr algn="ctr"/>
            <a:r>
              <a:rPr sz="1000" b="0">
                <a:solidFill>
                  <a:srgbClr val="6C757D"/>
                </a:solidFill>
                <a:latin typeface="Segoe UI"/>
              </a:rPr>
              <a:t>Tokenize</a:t>
            </a:r>
          </a:p>
        </p:txBody>
      </p:sp>
      <p:sp>
        <p:nvSpPr>
          <p:cNvPr id="29" name="TextBox 28"/>
          <p:cNvSpPr txBox="1"/>
          <p:nvPr/>
        </p:nvSpPr>
        <p:spPr>
          <a:xfrm>
            <a:off x="10515600" y="2377440"/>
            <a:ext cx="182880" cy="274320"/>
          </a:xfrm>
          <a:prstGeom prst="rect">
            <a:avLst/>
          </a:prstGeom>
          <a:noFill/>
        </p:spPr>
        <p:txBody>
          <a:bodyPr wrap="square">
            <a:spAutoFit/>
          </a:bodyPr>
          <a:lstStyle/>
          <a:p>
            <a:pPr algn="l"/>
            <a:r>
              <a:rPr sz="1400" b="1">
                <a:solidFill>
                  <a:srgbClr val="253D5E"/>
                </a:solidFill>
                <a:latin typeface="Segoe UI"/>
              </a:rPr>
              <a:t>→</a:t>
            </a:r>
          </a:p>
        </p:txBody>
      </p:sp>
      <p:sp>
        <p:nvSpPr>
          <p:cNvPr id="30" name="Rounded Rectangle 29"/>
          <p:cNvSpPr/>
          <p:nvPr/>
        </p:nvSpPr>
        <p:spPr>
          <a:xfrm>
            <a:off x="10698480" y="2148840"/>
            <a:ext cx="914400" cy="82296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744200" y="2194560"/>
            <a:ext cx="822960" cy="731520"/>
          </a:xfrm>
          <a:prstGeom prst="rect">
            <a:avLst/>
          </a:prstGeom>
          <a:noFill/>
        </p:spPr>
        <p:txBody>
          <a:bodyPr wrap="square">
            <a:spAutoFit/>
          </a:bodyPr>
          <a:lstStyle/>
          <a:p>
            <a:pPr algn="ctr"/>
            <a:r>
              <a:rPr sz="1000" b="0">
                <a:solidFill>
                  <a:srgbClr val="6C757D"/>
                </a:solidFill>
                <a:latin typeface="Segoe UI"/>
              </a:rPr>
              <a:t>TF-IDF</a:t>
            </a:r>
          </a:p>
        </p:txBody>
      </p:sp>
      <p:sp>
        <p:nvSpPr>
          <p:cNvPr id="32" name="TextBox 31"/>
          <p:cNvSpPr txBox="1"/>
          <p:nvPr/>
        </p:nvSpPr>
        <p:spPr>
          <a:xfrm>
            <a:off x="6309360" y="3108960"/>
            <a:ext cx="4572000" cy="274320"/>
          </a:xfrm>
          <a:prstGeom prst="rect">
            <a:avLst/>
          </a:prstGeom>
          <a:noFill/>
        </p:spPr>
        <p:txBody>
          <a:bodyPr wrap="square">
            <a:spAutoFit/>
          </a:bodyPr>
          <a:lstStyle/>
          <a:p>
            <a:pPr algn="l"/>
            <a:r>
              <a:rPr sz="1100" b="0">
                <a:solidFill>
                  <a:srgbClr val="6C757D"/>
                </a:solidFill>
                <a:latin typeface="Segoe UI"/>
              </a:rPr>
              <a:t>+ Combined summary &amp; reviewText</a:t>
            </a:r>
          </a:p>
        </p:txBody>
      </p:sp>
      <p:sp>
        <p:nvSpPr>
          <p:cNvPr id="33" name="Rounded Rectangle 32"/>
          <p:cNvSpPr/>
          <p:nvPr/>
        </p:nvSpPr>
        <p:spPr>
          <a:xfrm>
            <a:off x="457200" y="4023360"/>
            <a:ext cx="11338560" cy="256032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4160520"/>
            <a:ext cx="5486400" cy="365760"/>
          </a:xfrm>
          <a:prstGeom prst="rect">
            <a:avLst/>
          </a:prstGeom>
          <a:noFill/>
        </p:spPr>
        <p:txBody>
          <a:bodyPr wrap="square">
            <a:spAutoFit/>
          </a:bodyPr>
          <a:lstStyle/>
          <a:p>
            <a:pPr algn="l"/>
            <a:r>
              <a:rPr sz="1800" b="1">
                <a:solidFill>
                  <a:srgbClr val="00B4D8"/>
                </a:solidFill>
                <a:latin typeface="Segoe UI"/>
              </a:rPr>
              <a:t>TF-IDF: Text Representation Method</a:t>
            </a:r>
          </a:p>
        </p:txBody>
      </p:sp>
      <p:sp>
        <p:nvSpPr>
          <p:cNvPr id="35" name="Rounded Rectangle 34"/>
          <p:cNvSpPr/>
          <p:nvPr/>
        </p:nvSpPr>
        <p:spPr>
          <a:xfrm>
            <a:off x="731520" y="4663440"/>
            <a:ext cx="2560320" cy="164592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68680" y="4754880"/>
            <a:ext cx="365760" cy="365760"/>
          </a:xfrm>
          <a:prstGeom prst="rect">
            <a:avLst/>
          </a:prstGeom>
          <a:noFill/>
        </p:spPr>
        <p:txBody>
          <a:bodyPr wrap="square">
            <a:spAutoFit/>
          </a:bodyPr>
          <a:lstStyle/>
          <a:p>
            <a:pPr algn="l"/>
            <a:r>
              <a:rPr sz="2000" b="0">
                <a:solidFill>
                  <a:srgbClr val="FFFFFF"/>
                </a:solidFill>
                <a:latin typeface="Segoe UI Emoji"/>
              </a:rPr>
              <a:t>📊</a:t>
            </a:r>
          </a:p>
        </p:txBody>
      </p:sp>
      <p:sp>
        <p:nvSpPr>
          <p:cNvPr id="37" name="TextBox 36"/>
          <p:cNvSpPr txBox="1"/>
          <p:nvPr/>
        </p:nvSpPr>
        <p:spPr>
          <a:xfrm>
            <a:off x="1280160" y="4754880"/>
            <a:ext cx="1828800" cy="320040"/>
          </a:xfrm>
          <a:prstGeom prst="rect">
            <a:avLst/>
          </a:prstGeom>
          <a:noFill/>
        </p:spPr>
        <p:txBody>
          <a:bodyPr wrap="square">
            <a:spAutoFit/>
          </a:bodyPr>
          <a:lstStyle/>
          <a:p>
            <a:pPr algn="l"/>
            <a:r>
              <a:rPr sz="1300" b="1">
                <a:solidFill>
                  <a:srgbClr val="FFFFFF"/>
                </a:solidFill>
                <a:latin typeface="Segoe UI"/>
              </a:rPr>
              <a:t>Sparse Text</a:t>
            </a:r>
          </a:p>
        </p:txBody>
      </p:sp>
      <p:sp>
        <p:nvSpPr>
          <p:cNvPr id="38" name="TextBox 37"/>
          <p:cNvSpPr txBox="1"/>
          <p:nvPr/>
        </p:nvSpPr>
        <p:spPr>
          <a:xfrm>
            <a:off x="868680" y="5166360"/>
            <a:ext cx="2286000" cy="914400"/>
          </a:xfrm>
          <a:prstGeom prst="rect">
            <a:avLst/>
          </a:prstGeom>
          <a:noFill/>
        </p:spPr>
        <p:txBody>
          <a:bodyPr wrap="square">
            <a:spAutoFit/>
          </a:bodyPr>
          <a:lstStyle/>
          <a:p>
            <a:pPr algn="l"/>
            <a:r>
              <a:rPr sz="1100" b="0">
                <a:solidFill>
                  <a:srgbClr val="6C757D"/>
                </a:solidFill>
                <a:latin typeface="Segoe UI"/>
              </a:rPr>
              <a:t>Performs well on
high-dimensional text</a:t>
            </a:r>
          </a:p>
        </p:txBody>
      </p:sp>
      <p:sp>
        <p:nvSpPr>
          <p:cNvPr id="39" name="Rounded Rectangle 38"/>
          <p:cNvSpPr/>
          <p:nvPr/>
        </p:nvSpPr>
        <p:spPr>
          <a:xfrm>
            <a:off x="3520440" y="4663440"/>
            <a:ext cx="2560320" cy="164592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0" y="4754880"/>
            <a:ext cx="365760" cy="365760"/>
          </a:xfrm>
          <a:prstGeom prst="rect">
            <a:avLst/>
          </a:prstGeom>
          <a:noFill/>
        </p:spPr>
        <p:txBody>
          <a:bodyPr wrap="square">
            <a:spAutoFit/>
          </a:bodyPr>
          <a:lstStyle/>
          <a:p>
            <a:pPr algn="l"/>
            <a:r>
              <a:rPr sz="2000" b="0">
                <a:solidFill>
                  <a:srgbClr val="FFFFFF"/>
                </a:solidFill>
                <a:latin typeface="Segoe UI Emoji"/>
              </a:rPr>
              <a:t>🔍</a:t>
            </a:r>
          </a:p>
        </p:txBody>
      </p:sp>
      <p:sp>
        <p:nvSpPr>
          <p:cNvPr id="41" name="TextBox 40"/>
          <p:cNvSpPr txBox="1"/>
          <p:nvPr/>
        </p:nvSpPr>
        <p:spPr>
          <a:xfrm>
            <a:off x="4069080" y="4754880"/>
            <a:ext cx="1828800" cy="320040"/>
          </a:xfrm>
          <a:prstGeom prst="rect">
            <a:avLst/>
          </a:prstGeom>
          <a:noFill/>
        </p:spPr>
        <p:txBody>
          <a:bodyPr wrap="square">
            <a:spAutoFit/>
          </a:bodyPr>
          <a:lstStyle/>
          <a:p>
            <a:pPr algn="l"/>
            <a:r>
              <a:rPr sz="1300" b="1">
                <a:solidFill>
                  <a:srgbClr val="FFFFFF"/>
                </a:solidFill>
                <a:latin typeface="Segoe UI"/>
              </a:rPr>
              <a:t>Domain Terms</a:t>
            </a:r>
          </a:p>
        </p:txBody>
      </p:sp>
      <p:sp>
        <p:nvSpPr>
          <p:cNvPr id="42" name="TextBox 41"/>
          <p:cNvSpPr txBox="1"/>
          <p:nvPr/>
        </p:nvSpPr>
        <p:spPr>
          <a:xfrm>
            <a:off x="3657600" y="5166360"/>
            <a:ext cx="2286000" cy="914400"/>
          </a:xfrm>
          <a:prstGeom prst="rect">
            <a:avLst/>
          </a:prstGeom>
          <a:noFill/>
        </p:spPr>
        <p:txBody>
          <a:bodyPr wrap="square">
            <a:spAutoFit/>
          </a:bodyPr>
          <a:lstStyle/>
          <a:p>
            <a:pPr algn="l"/>
            <a:r>
              <a:rPr sz="1100" b="0">
                <a:solidFill>
                  <a:srgbClr val="6C757D"/>
                </a:solidFill>
                <a:latin typeface="Segoe UI"/>
              </a:rPr>
              <a:t>Captures vocabulary like
'defect', 'broke'</a:t>
            </a:r>
          </a:p>
        </p:txBody>
      </p:sp>
      <p:sp>
        <p:nvSpPr>
          <p:cNvPr id="43" name="Rounded Rectangle 42"/>
          <p:cNvSpPr/>
          <p:nvPr/>
        </p:nvSpPr>
        <p:spPr>
          <a:xfrm>
            <a:off x="6309360" y="4663440"/>
            <a:ext cx="2560320" cy="164592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46520" y="4754880"/>
            <a:ext cx="365760" cy="365760"/>
          </a:xfrm>
          <a:prstGeom prst="rect">
            <a:avLst/>
          </a:prstGeom>
          <a:noFill/>
        </p:spPr>
        <p:txBody>
          <a:bodyPr wrap="square">
            <a:spAutoFit/>
          </a:bodyPr>
          <a:lstStyle/>
          <a:p>
            <a:pPr algn="l"/>
            <a:r>
              <a:rPr sz="2000" b="0">
                <a:solidFill>
                  <a:srgbClr val="FFFFFF"/>
                </a:solidFill>
                <a:latin typeface="Segoe UI Emoji"/>
              </a:rPr>
              <a:t>⚡</a:t>
            </a:r>
          </a:p>
        </p:txBody>
      </p:sp>
      <p:sp>
        <p:nvSpPr>
          <p:cNvPr id="45" name="TextBox 44"/>
          <p:cNvSpPr txBox="1"/>
          <p:nvPr/>
        </p:nvSpPr>
        <p:spPr>
          <a:xfrm>
            <a:off x="6858000" y="4754880"/>
            <a:ext cx="1828800" cy="320040"/>
          </a:xfrm>
          <a:prstGeom prst="rect">
            <a:avLst/>
          </a:prstGeom>
          <a:noFill/>
        </p:spPr>
        <p:txBody>
          <a:bodyPr wrap="square">
            <a:spAutoFit/>
          </a:bodyPr>
          <a:lstStyle/>
          <a:p>
            <a:pPr algn="l"/>
            <a:r>
              <a:rPr sz="1300" b="1">
                <a:solidFill>
                  <a:srgbClr val="FFFFFF"/>
                </a:solidFill>
                <a:latin typeface="Segoe UI"/>
              </a:rPr>
              <a:t>Linear Models</a:t>
            </a:r>
          </a:p>
        </p:txBody>
      </p:sp>
      <p:sp>
        <p:nvSpPr>
          <p:cNvPr id="46" name="TextBox 45"/>
          <p:cNvSpPr txBox="1"/>
          <p:nvPr/>
        </p:nvSpPr>
        <p:spPr>
          <a:xfrm>
            <a:off x="6446520" y="5166360"/>
            <a:ext cx="2286000" cy="914400"/>
          </a:xfrm>
          <a:prstGeom prst="rect">
            <a:avLst/>
          </a:prstGeom>
          <a:noFill/>
        </p:spPr>
        <p:txBody>
          <a:bodyPr wrap="square">
            <a:spAutoFit/>
          </a:bodyPr>
          <a:lstStyle/>
          <a:p>
            <a:pPr algn="l"/>
            <a:r>
              <a:rPr sz="1100" b="0">
                <a:solidFill>
                  <a:srgbClr val="6C757D"/>
                </a:solidFill>
                <a:latin typeface="Segoe UI"/>
              </a:rPr>
              <a:t>Efficient with Logistic
Regression &amp; SVM</a:t>
            </a:r>
          </a:p>
        </p:txBody>
      </p:sp>
      <p:sp>
        <p:nvSpPr>
          <p:cNvPr id="47" name="Rounded Rectangle 46"/>
          <p:cNvSpPr/>
          <p:nvPr/>
        </p:nvSpPr>
        <p:spPr>
          <a:xfrm>
            <a:off x="9098280" y="4663440"/>
            <a:ext cx="2560320" cy="164592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235440" y="4754880"/>
            <a:ext cx="365760" cy="365760"/>
          </a:xfrm>
          <a:prstGeom prst="rect">
            <a:avLst/>
          </a:prstGeom>
          <a:noFill/>
        </p:spPr>
        <p:txBody>
          <a:bodyPr wrap="square">
            <a:spAutoFit/>
          </a:bodyPr>
          <a:lstStyle/>
          <a:p>
            <a:pPr algn="l"/>
            <a:r>
              <a:rPr sz="2000" b="0">
                <a:solidFill>
                  <a:srgbClr val="FFFFFF"/>
                </a:solidFill>
                <a:latin typeface="Segoe UI Emoji"/>
              </a:rPr>
              <a:t>🚀</a:t>
            </a:r>
          </a:p>
        </p:txBody>
      </p:sp>
      <p:sp>
        <p:nvSpPr>
          <p:cNvPr id="49" name="TextBox 48"/>
          <p:cNvSpPr txBox="1"/>
          <p:nvPr/>
        </p:nvSpPr>
        <p:spPr>
          <a:xfrm>
            <a:off x="9646920" y="4754880"/>
            <a:ext cx="1828800" cy="320040"/>
          </a:xfrm>
          <a:prstGeom prst="rect">
            <a:avLst/>
          </a:prstGeom>
          <a:noFill/>
        </p:spPr>
        <p:txBody>
          <a:bodyPr wrap="square">
            <a:spAutoFit/>
          </a:bodyPr>
          <a:lstStyle/>
          <a:p>
            <a:pPr algn="l"/>
            <a:r>
              <a:rPr sz="1300" b="1">
                <a:solidFill>
                  <a:srgbClr val="FFFFFF"/>
                </a:solidFill>
                <a:latin typeface="Segoe UI"/>
              </a:rPr>
              <a:t>Scalable</a:t>
            </a:r>
          </a:p>
        </p:txBody>
      </p:sp>
      <p:sp>
        <p:nvSpPr>
          <p:cNvPr id="50" name="TextBox 49"/>
          <p:cNvSpPr txBox="1"/>
          <p:nvPr/>
        </p:nvSpPr>
        <p:spPr>
          <a:xfrm>
            <a:off x="9235440" y="5166360"/>
            <a:ext cx="2286000" cy="914400"/>
          </a:xfrm>
          <a:prstGeom prst="rect">
            <a:avLst/>
          </a:prstGeom>
          <a:noFill/>
        </p:spPr>
        <p:txBody>
          <a:bodyPr wrap="square">
            <a:spAutoFit/>
          </a:bodyPr>
          <a:lstStyle/>
          <a:p>
            <a:pPr algn="l"/>
            <a:r>
              <a:rPr sz="1100" b="0">
                <a:solidFill>
                  <a:srgbClr val="6C757D"/>
                </a:solidFill>
                <a:latin typeface="Segoe UI"/>
              </a:rPr>
              <a:t>Computationally efficient
for large datasets</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8" name="Rounded Rectangle 14">
            <a:extLst>
              <a:ext uri="{FF2B5EF4-FFF2-40B4-BE49-F238E27FC236}">
                <a16:creationId xmlns:a16="http://schemas.microsoft.com/office/drawing/2014/main" id="{9A4DE412-8D76-7535-88D5-70A6918B4EC1}"/>
              </a:ext>
            </a:extLst>
          </p:cNvPr>
          <p:cNvSpPr/>
          <p:nvPr/>
        </p:nvSpPr>
        <p:spPr>
          <a:xfrm>
            <a:off x="6035040" y="1423800"/>
            <a:ext cx="6023658" cy="1371600"/>
          </a:xfrm>
          <a:prstGeom prst="round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0">
                <a:solidFill>
                  <a:srgbClr val="6C757D"/>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1">
                <a:solidFill>
                  <a:srgbClr val="00B4D8"/>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Machine Learning Models &amp; Results</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463040"/>
            <a:ext cx="2651760" cy="13716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57200" y="1517904"/>
            <a:ext cx="2651760" cy="131673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1600200"/>
            <a:ext cx="2286000" cy="365760"/>
          </a:xfrm>
          <a:prstGeom prst="rect">
            <a:avLst/>
          </a:prstGeom>
          <a:noFill/>
        </p:spPr>
        <p:txBody>
          <a:bodyPr wrap="square">
            <a:spAutoFit/>
          </a:bodyPr>
          <a:lstStyle/>
          <a:p>
            <a:pPr algn="l"/>
            <a:r>
              <a:rPr sz="1500" b="1">
                <a:solidFill>
                  <a:srgbClr val="00B4D8"/>
                </a:solidFill>
                <a:latin typeface="Segoe UI"/>
              </a:rPr>
              <a:t>Logistic Regression</a:t>
            </a:r>
          </a:p>
        </p:txBody>
      </p:sp>
      <p:sp>
        <p:nvSpPr>
          <p:cNvPr id="14" name="TextBox 13"/>
          <p:cNvSpPr txBox="1"/>
          <p:nvPr/>
        </p:nvSpPr>
        <p:spPr>
          <a:xfrm>
            <a:off x="640080" y="1965960"/>
            <a:ext cx="2286000" cy="731520"/>
          </a:xfrm>
          <a:prstGeom prst="rect">
            <a:avLst/>
          </a:prstGeom>
          <a:noFill/>
        </p:spPr>
        <p:txBody>
          <a:bodyPr wrap="square">
            <a:spAutoFit/>
          </a:bodyPr>
          <a:lstStyle/>
          <a:p>
            <a:pPr algn="l"/>
            <a:r>
              <a:rPr sz="1100" b="0">
                <a:solidFill>
                  <a:srgbClr val="6C757D"/>
                </a:solidFill>
                <a:latin typeface="Segoe UI"/>
              </a:rPr>
              <a:t>Linear classifier that models
class probability boundaries</a:t>
            </a:r>
          </a:p>
        </p:txBody>
      </p:sp>
      <p:sp>
        <p:nvSpPr>
          <p:cNvPr id="15" name="Rounded Rectangle 14"/>
          <p:cNvSpPr/>
          <p:nvPr/>
        </p:nvSpPr>
        <p:spPr>
          <a:xfrm>
            <a:off x="3291840" y="1463040"/>
            <a:ext cx="2651760" cy="13716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291840" y="1517904"/>
            <a:ext cx="2651760" cy="131673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0" y="1600200"/>
            <a:ext cx="2286000" cy="365760"/>
          </a:xfrm>
          <a:prstGeom prst="rect">
            <a:avLst/>
          </a:prstGeom>
          <a:noFill/>
        </p:spPr>
        <p:txBody>
          <a:bodyPr wrap="square">
            <a:spAutoFit/>
          </a:bodyPr>
          <a:lstStyle/>
          <a:p>
            <a:pPr algn="l"/>
            <a:r>
              <a:rPr sz="1500" b="1">
                <a:solidFill>
                  <a:srgbClr val="FF6B35"/>
                </a:solidFill>
                <a:latin typeface="Segoe UI"/>
              </a:rPr>
              <a:t>Linear SVM</a:t>
            </a:r>
          </a:p>
        </p:txBody>
      </p:sp>
      <p:sp>
        <p:nvSpPr>
          <p:cNvPr id="18" name="TextBox 17"/>
          <p:cNvSpPr txBox="1"/>
          <p:nvPr/>
        </p:nvSpPr>
        <p:spPr>
          <a:xfrm>
            <a:off x="3474720" y="1965960"/>
            <a:ext cx="2286000" cy="731520"/>
          </a:xfrm>
          <a:prstGeom prst="rect">
            <a:avLst/>
          </a:prstGeom>
          <a:noFill/>
        </p:spPr>
        <p:txBody>
          <a:bodyPr wrap="square">
            <a:spAutoFit/>
          </a:bodyPr>
          <a:lstStyle/>
          <a:p>
            <a:pPr algn="l"/>
            <a:r>
              <a:rPr sz="1100" b="0">
                <a:solidFill>
                  <a:srgbClr val="6C757D"/>
                </a:solidFill>
                <a:latin typeface="Segoe UI"/>
              </a:rPr>
              <a:t>Maximum margin classifier
for high-dimensional text</a:t>
            </a:r>
          </a:p>
        </p:txBody>
      </p:sp>
      <p:sp>
        <p:nvSpPr>
          <p:cNvPr id="19" name="Rounded Rectangle 18"/>
          <p:cNvSpPr/>
          <p:nvPr/>
        </p:nvSpPr>
        <p:spPr>
          <a:xfrm>
            <a:off x="6023658" y="1463040"/>
            <a:ext cx="6035040" cy="13716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97978" y="1554480"/>
            <a:ext cx="3657600" cy="320040"/>
          </a:xfrm>
          <a:prstGeom prst="rect">
            <a:avLst/>
          </a:prstGeom>
          <a:noFill/>
        </p:spPr>
        <p:txBody>
          <a:bodyPr wrap="square">
            <a:spAutoFit/>
          </a:bodyPr>
          <a:lstStyle/>
          <a:p>
            <a:pPr algn="l"/>
            <a:r>
              <a:rPr sz="1400" b="1">
                <a:solidFill>
                  <a:srgbClr val="FFFFFF"/>
                </a:solidFill>
                <a:latin typeface="Segoe UI"/>
              </a:rPr>
              <a:t>⚙️  Training Configuration</a:t>
            </a:r>
          </a:p>
        </p:txBody>
      </p:sp>
      <p:sp>
        <p:nvSpPr>
          <p:cNvPr id="21" name="TextBox 20"/>
          <p:cNvSpPr txBox="1"/>
          <p:nvPr/>
        </p:nvSpPr>
        <p:spPr>
          <a:xfrm>
            <a:off x="6297978" y="1965960"/>
            <a:ext cx="5486400" cy="731520"/>
          </a:xfrm>
          <a:prstGeom prst="rect">
            <a:avLst/>
          </a:prstGeom>
          <a:noFill/>
        </p:spPr>
        <p:txBody>
          <a:bodyPr wrap="square">
            <a:spAutoFit/>
          </a:bodyPr>
          <a:lstStyle/>
          <a:p>
            <a:pPr>
              <a:spcBef>
                <a:spcPts val="200"/>
              </a:spcBef>
              <a:spcAft>
                <a:spcPts val="800"/>
              </a:spcAft>
            </a:pPr>
            <a:r>
              <a:rPr sz="1200" b="0">
                <a:solidFill>
                  <a:srgbClr val="6C757D"/>
                </a:solidFill>
                <a:latin typeface="Segoe UI"/>
              </a:rPr>
              <a:t>70/30 stratified train/test split  •  Grid Search tuning  •  Limited TF-IDF vocab size</a:t>
            </a:r>
          </a:p>
        </p:txBody>
      </p:sp>
      <p:sp>
        <p:nvSpPr>
          <p:cNvPr id="22" name="Rounded Rectangle 21"/>
          <p:cNvSpPr/>
          <p:nvPr/>
        </p:nvSpPr>
        <p:spPr>
          <a:xfrm>
            <a:off x="274320" y="3017520"/>
            <a:ext cx="5943600" cy="347472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1762" y="3078936"/>
            <a:ext cx="2743200" cy="320040"/>
          </a:xfrm>
          <a:prstGeom prst="rect">
            <a:avLst/>
          </a:prstGeom>
          <a:noFill/>
        </p:spPr>
        <p:txBody>
          <a:bodyPr wrap="square">
            <a:spAutoFit/>
          </a:bodyPr>
          <a:lstStyle/>
          <a:p>
            <a:pPr algn="l"/>
            <a:r>
              <a:rPr sz="1400" b="1" dirty="0">
                <a:solidFill>
                  <a:srgbClr val="FFFFFF"/>
                </a:solidFill>
                <a:latin typeface="Segoe UI"/>
              </a:rPr>
              <a:t>📈  Results</a:t>
            </a:r>
          </a:p>
        </p:txBody>
      </p:sp>
      <p:pic>
        <p:nvPicPr>
          <p:cNvPr id="24" name="Picture 23" descr="image.png"/>
          <p:cNvPicPr>
            <a:picLocks noChangeAspect="1"/>
          </p:cNvPicPr>
          <p:nvPr/>
        </p:nvPicPr>
        <p:blipFill>
          <a:blip r:embed="rId2"/>
          <a:stretch>
            <a:fillRect/>
          </a:stretch>
        </p:blipFill>
        <p:spPr>
          <a:xfrm>
            <a:off x="1365866" y="3429000"/>
            <a:ext cx="3760508" cy="2743200"/>
          </a:xfrm>
          <a:prstGeom prst="rect">
            <a:avLst/>
          </a:prstGeom>
        </p:spPr>
      </p:pic>
      <p:sp>
        <p:nvSpPr>
          <p:cNvPr id="25" name="Rounded Rectangle 24"/>
          <p:cNvSpPr/>
          <p:nvPr/>
        </p:nvSpPr>
        <p:spPr>
          <a:xfrm>
            <a:off x="6400800" y="3017520"/>
            <a:ext cx="5486400" cy="347472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658242" y="3078936"/>
            <a:ext cx="2743200" cy="320040"/>
          </a:xfrm>
          <a:prstGeom prst="rect">
            <a:avLst/>
          </a:prstGeom>
          <a:noFill/>
        </p:spPr>
        <p:txBody>
          <a:bodyPr wrap="square">
            <a:spAutoFit/>
          </a:bodyPr>
          <a:lstStyle/>
          <a:p>
            <a:pPr algn="l"/>
            <a:r>
              <a:rPr sz="1400" b="1">
                <a:solidFill>
                  <a:srgbClr val="FFFFFF"/>
                </a:solidFill>
                <a:latin typeface="Segoe UI"/>
              </a:rPr>
              <a:t>📊  Comparison</a:t>
            </a:r>
          </a:p>
        </p:txBody>
      </p:sp>
      <p:pic>
        <p:nvPicPr>
          <p:cNvPr id="27" name="Picture 26" descr="image.png"/>
          <p:cNvPicPr>
            <a:picLocks noChangeAspect="1"/>
          </p:cNvPicPr>
          <p:nvPr/>
        </p:nvPicPr>
        <p:blipFill>
          <a:blip r:embed="rId3"/>
          <a:stretch>
            <a:fillRect/>
          </a:stretch>
        </p:blipFill>
        <p:spPr>
          <a:xfrm>
            <a:off x="6492240" y="3591266"/>
            <a:ext cx="5303520" cy="241866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advTm="4286">
        <p159:morph option="byObject"/>
      </p:transition>
    </mc:Choice>
    <mc:Fallback xmlns="">
      <p:transition spd="med" advTm="4286">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0">
                <a:solidFill>
                  <a:srgbClr val="6C757D"/>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1">
                <a:solidFill>
                  <a:srgbClr val="00B4D8"/>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Cross-Model Comparison: All 4 Models</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371600"/>
            <a:ext cx="10058400" cy="365760"/>
          </a:xfrm>
          <a:prstGeom prst="rect">
            <a:avLst/>
          </a:prstGeom>
          <a:noFill/>
        </p:spPr>
        <p:txBody>
          <a:bodyPr wrap="square">
            <a:spAutoFit/>
          </a:bodyPr>
          <a:lstStyle/>
          <a:p>
            <a:pPr algn="l"/>
            <a:r>
              <a:rPr sz="1400" b="0">
                <a:solidFill>
                  <a:srgbClr val="6C757D"/>
                </a:solidFill>
                <a:latin typeface="Segoe UI"/>
              </a:rPr>
              <a:t>All models tested on same 1,000 stratified sample for fair comparison</a:t>
            </a:r>
          </a:p>
        </p:txBody>
      </p:sp>
      <p:sp>
        <p:nvSpPr>
          <p:cNvPr id="12" name="Rounded Rectangle 11"/>
          <p:cNvSpPr/>
          <p:nvPr/>
        </p:nvSpPr>
        <p:spPr>
          <a:xfrm>
            <a:off x="457200" y="3200400"/>
            <a:ext cx="2697480" cy="32004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7200" y="3255264"/>
            <a:ext cx="2697480" cy="314553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40080" y="3383280"/>
            <a:ext cx="457200" cy="4572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1</a:t>
            </a:r>
          </a:p>
        </p:txBody>
      </p:sp>
      <p:sp>
        <p:nvSpPr>
          <p:cNvPr id="15" name="TextBox 14"/>
          <p:cNvSpPr txBox="1"/>
          <p:nvPr/>
        </p:nvSpPr>
        <p:spPr>
          <a:xfrm>
            <a:off x="1188720" y="3429000"/>
            <a:ext cx="1828800" cy="365760"/>
          </a:xfrm>
          <a:prstGeom prst="rect">
            <a:avLst/>
          </a:prstGeom>
          <a:noFill/>
        </p:spPr>
        <p:txBody>
          <a:bodyPr wrap="square">
            <a:spAutoFit/>
          </a:bodyPr>
          <a:lstStyle/>
          <a:p>
            <a:pPr algn="l"/>
            <a:r>
              <a:rPr sz="1700" b="1">
                <a:solidFill>
                  <a:srgbClr val="FFFFFF"/>
                </a:solidFill>
                <a:latin typeface="Segoe UI"/>
              </a:rPr>
              <a:t>Linear SVM</a:t>
            </a:r>
          </a:p>
        </p:txBody>
      </p:sp>
      <p:sp>
        <p:nvSpPr>
          <p:cNvPr id="16" name="TextBox 15"/>
          <p:cNvSpPr txBox="1"/>
          <p:nvPr/>
        </p:nvSpPr>
        <p:spPr>
          <a:xfrm>
            <a:off x="640080" y="3931920"/>
            <a:ext cx="2377440" cy="274320"/>
          </a:xfrm>
          <a:prstGeom prst="rect">
            <a:avLst/>
          </a:prstGeom>
          <a:noFill/>
        </p:spPr>
        <p:txBody>
          <a:bodyPr wrap="square">
            <a:spAutoFit/>
          </a:bodyPr>
          <a:lstStyle/>
          <a:p>
            <a:pPr algn="l"/>
            <a:r>
              <a:rPr sz="1200" b="1">
                <a:solidFill>
                  <a:srgbClr val="00B4D8"/>
                </a:solidFill>
                <a:latin typeface="Segoe UI"/>
              </a:rPr>
              <a:t>Best Macro F1 overall</a:t>
            </a:r>
          </a:p>
        </p:txBody>
      </p:sp>
      <p:sp>
        <p:nvSpPr>
          <p:cNvPr id="17" name="TextBox 16"/>
          <p:cNvSpPr txBox="1"/>
          <p:nvPr/>
        </p:nvSpPr>
        <p:spPr>
          <a:xfrm>
            <a:off x="640080" y="4206240"/>
            <a:ext cx="2377440" cy="274320"/>
          </a:xfrm>
          <a:prstGeom prst="rect">
            <a:avLst/>
          </a:prstGeom>
          <a:noFill/>
        </p:spPr>
        <p:txBody>
          <a:bodyPr wrap="square">
            <a:spAutoFit/>
          </a:bodyPr>
          <a:lstStyle/>
          <a:p>
            <a:pPr algn="l"/>
            <a:r>
              <a:rPr sz="1100" b="0">
                <a:solidFill>
                  <a:srgbClr val="6C757D"/>
                </a:solidFill>
                <a:latin typeface="Segoe UI"/>
              </a:rPr>
              <a:t>Ideal production model</a:t>
            </a:r>
          </a:p>
        </p:txBody>
      </p:sp>
      <p:sp>
        <p:nvSpPr>
          <p:cNvPr id="18" name="Rounded Rectangle 17"/>
          <p:cNvSpPr/>
          <p:nvPr/>
        </p:nvSpPr>
        <p:spPr>
          <a:xfrm>
            <a:off x="3337560" y="3657600"/>
            <a:ext cx="2697480" cy="2743200"/>
          </a:xfrm>
          <a:prstGeom prst="round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337560" y="3712464"/>
            <a:ext cx="2697480" cy="268833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3520440" y="3840480"/>
            <a:ext cx="457200" cy="457200"/>
          </a:xfrm>
          <a:prstGeom prst="ellipse">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2</a:t>
            </a:r>
          </a:p>
        </p:txBody>
      </p:sp>
      <p:sp>
        <p:nvSpPr>
          <p:cNvPr id="21" name="TextBox 20"/>
          <p:cNvSpPr txBox="1"/>
          <p:nvPr/>
        </p:nvSpPr>
        <p:spPr>
          <a:xfrm>
            <a:off x="4069080" y="3886200"/>
            <a:ext cx="1828800" cy="365760"/>
          </a:xfrm>
          <a:prstGeom prst="rect">
            <a:avLst/>
          </a:prstGeom>
          <a:noFill/>
        </p:spPr>
        <p:txBody>
          <a:bodyPr wrap="square">
            <a:spAutoFit/>
          </a:bodyPr>
          <a:lstStyle/>
          <a:p>
            <a:pPr algn="l"/>
            <a:r>
              <a:rPr sz="1700" b="1">
                <a:solidFill>
                  <a:srgbClr val="FFFFFF"/>
                </a:solidFill>
                <a:latin typeface="Segoe UI"/>
              </a:rPr>
              <a:t>Logistic Regression</a:t>
            </a:r>
          </a:p>
        </p:txBody>
      </p:sp>
      <p:sp>
        <p:nvSpPr>
          <p:cNvPr id="22" name="TextBox 21"/>
          <p:cNvSpPr txBox="1"/>
          <p:nvPr/>
        </p:nvSpPr>
        <p:spPr>
          <a:xfrm>
            <a:off x="3520440" y="4550020"/>
            <a:ext cx="2377440" cy="274320"/>
          </a:xfrm>
          <a:prstGeom prst="rect">
            <a:avLst/>
          </a:prstGeom>
          <a:noFill/>
        </p:spPr>
        <p:txBody>
          <a:bodyPr wrap="square">
            <a:spAutoFit/>
          </a:bodyPr>
          <a:lstStyle/>
          <a:p>
            <a:pPr algn="l"/>
            <a:r>
              <a:rPr sz="1200" b="1" dirty="0">
                <a:solidFill>
                  <a:srgbClr val="48CAE4"/>
                </a:solidFill>
                <a:latin typeface="Segoe UI"/>
              </a:rPr>
              <a:t>Close second</a:t>
            </a:r>
          </a:p>
        </p:txBody>
      </p:sp>
      <p:sp>
        <p:nvSpPr>
          <p:cNvPr id="23" name="TextBox 22"/>
          <p:cNvSpPr txBox="1"/>
          <p:nvPr/>
        </p:nvSpPr>
        <p:spPr>
          <a:xfrm>
            <a:off x="3520440" y="4824340"/>
            <a:ext cx="2377440" cy="274320"/>
          </a:xfrm>
          <a:prstGeom prst="rect">
            <a:avLst/>
          </a:prstGeom>
          <a:noFill/>
        </p:spPr>
        <p:txBody>
          <a:bodyPr wrap="square">
            <a:spAutoFit/>
          </a:bodyPr>
          <a:lstStyle/>
          <a:p>
            <a:pPr algn="l"/>
            <a:r>
              <a:rPr sz="1100" b="0">
                <a:solidFill>
                  <a:srgbClr val="6C757D"/>
                </a:solidFill>
                <a:latin typeface="Segoe UI"/>
              </a:rPr>
              <a:t>Strong across all metrics</a:t>
            </a:r>
          </a:p>
        </p:txBody>
      </p:sp>
      <p:sp>
        <p:nvSpPr>
          <p:cNvPr id="24" name="Rounded Rectangle 23"/>
          <p:cNvSpPr/>
          <p:nvPr/>
        </p:nvSpPr>
        <p:spPr>
          <a:xfrm>
            <a:off x="6217920" y="4114800"/>
            <a:ext cx="2697480" cy="228600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6217920" y="4169664"/>
            <a:ext cx="2697480" cy="223113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00800" y="4297680"/>
            <a:ext cx="457200" cy="45720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3</a:t>
            </a:r>
          </a:p>
        </p:txBody>
      </p:sp>
      <p:sp>
        <p:nvSpPr>
          <p:cNvPr id="27" name="TextBox 26"/>
          <p:cNvSpPr txBox="1"/>
          <p:nvPr/>
        </p:nvSpPr>
        <p:spPr>
          <a:xfrm>
            <a:off x="6949440" y="4343400"/>
            <a:ext cx="1828800" cy="365760"/>
          </a:xfrm>
          <a:prstGeom prst="rect">
            <a:avLst/>
          </a:prstGeom>
          <a:noFill/>
        </p:spPr>
        <p:txBody>
          <a:bodyPr wrap="square">
            <a:spAutoFit/>
          </a:bodyPr>
          <a:lstStyle/>
          <a:p>
            <a:pPr algn="l"/>
            <a:r>
              <a:rPr sz="1700" b="1">
                <a:solidFill>
                  <a:srgbClr val="FFFFFF"/>
                </a:solidFill>
                <a:latin typeface="Segoe UI"/>
              </a:rPr>
              <a:t>VADER</a:t>
            </a:r>
          </a:p>
        </p:txBody>
      </p:sp>
      <p:sp>
        <p:nvSpPr>
          <p:cNvPr id="28" name="TextBox 27"/>
          <p:cNvSpPr txBox="1"/>
          <p:nvPr/>
        </p:nvSpPr>
        <p:spPr>
          <a:xfrm>
            <a:off x="6400800" y="4846320"/>
            <a:ext cx="2377440" cy="274320"/>
          </a:xfrm>
          <a:prstGeom prst="rect">
            <a:avLst/>
          </a:prstGeom>
          <a:noFill/>
        </p:spPr>
        <p:txBody>
          <a:bodyPr wrap="square">
            <a:spAutoFit/>
          </a:bodyPr>
          <a:lstStyle/>
          <a:p>
            <a:pPr algn="l"/>
            <a:r>
              <a:rPr sz="1200" b="1">
                <a:solidFill>
                  <a:srgbClr val="FF6B35"/>
                </a:solidFill>
                <a:latin typeface="Segoe UI"/>
              </a:rPr>
              <a:t>Best lexicon model</a:t>
            </a:r>
          </a:p>
        </p:txBody>
      </p:sp>
      <p:sp>
        <p:nvSpPr>
          <p:cNvPr id="29" name="TextBox 28"/>
          <p:cNvSpPr txBox="1"/>
          <p:nvPr/>
        </p:nvSpPr>
        <p:spPr>
          <a:xfrm>
            <a:off x="6400800" y="5120640"/>
            <a:ext cx="2377440" cy="274320"/>
          </a:xfrm>
          <a:prstGeom prst="rect">
            <a:avLst/>
          </a:prstGeom>
          <a:noFill/>
        </p:spPr>
        <p:txBody>
          <a:bodyPr wrap="square">
            <a:spAutoFit/>
          </a:bodyPr>
          <a:lstStyle/>
          <a:p>
            <a:pPr algn="l"/>
            <a:r>
              <a:rPr sz="1100" b="0">
                <a:solidFill>
                  <a:srgbClr val="6C757D"/>
                </a:solidFill>
                <a:latin typeface="Segoe UI"/>
              </a:rPr>
              <a:t>Good at informal cues</a:t>
            </a:r>
          </a:p>
        </p:txBody>
      </p:sp>
      <p:sp>
        <p:nvSpPr>
          <p:cNvPr id="30" name="Rounded Rectangle 29"/>
          <p:cNvSpPr/>
          <p:nvPr/>
        </p:nvSpPr>
        <p:spPr>
          <a:xfrm>
            <a:off x="9098280" y="4572000"/>
            <a:ext cx="2697480" cy="182880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098280" y="4626864"/>
            <a:ext cx="2697480" cy="177393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9281160" y="4754880"/>
            <a:ext cx="457200" cy="457200"/>
          </a:xfrm>
          <a:prstGeom prst="ellipse">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FFFFFF"/>
                </a:solidFill>
              </a:rPr>
              <a:t>4</a:t>
            </a:r>
          </a:p>
        </p:txBody>
      </p:sp>
      <p:sp>
        <p:nvSpPr>
          <p:cNvPr id="33" name="TextBox 32"/>
          <p:cNvSpPr txBox="1"/>
          <p:nvPr/>
        </p:nvSpPr>
        <p:spPr>
          <a:xfrm>
            <a:off x="9829800" y="4800600"/>
            <a:ext cx="1828800" cy="365760"/>
          </a:xfrm>
          <a:prstGeom prst="rect">
            <a:avLst/>
          </a:prstGeom>
          <a:noFill/>
        </p:spPr>
        <p:txBody>
          <a:bodyPr wrap="square">
            <a:spAutoFit/>
          </a:bodyPr>
          <a:lstStyle/>
          <a:p>
            <a:pPr algn="l"/>
            <a:r>
              <a:rPr sz="1700" b="1">
                <a:solidFill>
                  <a:srgbClr val="FFFFFF"/>
                </a:solidFill>
                <a:latin typeface="Segoe UI"/>
              </a:rPr>
              <a:t>TextBlob</a:t>
            </a:r>
          </a:p>
        </p:txBody>
      </p:sp>
      <p:sp>
        <p:nvSpPr>
          <p:cNvPr id="34" name="TextBox 33"/>
          <p:cNvSpPr txBox="1"/>
          <p:nvPr/>
        </p:nvSpPr>
        <p:spPr>
          <a:xfrm>
            <a:off x="9281160" y="5303520"/>
            <a:ext cx="2377440" cy="274320"/>
          </a:xfrm>
          <a:prstGeom prst="rect">
            <a:avLst/>
          </a:prstGeom>
          <a:noFill/>
        </p:spPr>
        <p:txBody>
          <a:bodyPr wrap="square">
            <a:spAutoFit/>
          </a:bodyPr>
          <a:lstStyle/>
          <a:p>
            <a:pPr algn="l"/>
            <a:r>
              <a:rPr sz="1200" b="1">
                <a:solidFill>
                  <a:srgbClr val="6C757D"/>
                </a:solidFill>
                <a:latin typeface="Segoe UI"/>
              </a:rPr>
              <a:t>Conservative baseline</a:t>
            </a:r>
          </a:p>
        </p:txBody>
      </p:sp>
      <p:sp>
        <p:nvSpPr>
          <p:cNvPr id="35" name="TextBox 34"/>
          <p:cNvSpPr txBox="1"/>
          <p:nvPr/>
        </p:nvSpPr>
        <p:spPr>
          <a:xfrm>
            <a:off x="9281160" y="5577840"/>
            <a:ext cx="2377440" cy="274320"/>
          </a:xfrm>
          <a:prstGeom prst="rect">
            <a:avLst/>
          </a:prstGeom>
          <a:noFill/>
        </p:spPr>
        <p:txBody>
          <a:bodyPr wrap="square">
            <a:spAutoFit/>
          </a:bodyPr>
          <a:lstStyle/>
          <a:p>
            <a:pPr algn="l"/>
            <a:r>
              <a:rPr sz="1100" b="0">
                <a:solidFill>
                  <a:srgbClr val="6C757D"/>
                </a:solidFill>
                <a:latin typeface="Segoe UI"/>
              </a:rPr>
              <a:t>Over-predicts Neutral</a:t>
            </a:r>
          </a:p>
        </p:txBody>
      </p:sp>
      <p:sp>
        <p:nvSpPr>
          <p:cNvPr id="36" name="TextBox 35"/>
          <p:cNvSpPr txBox="1"/>
          <p:nvPr/>
        </p:nvSpPr>
        <p:spPr>
          <a:xfrm>
            <a:off x="457200" y="1828800"/>
            <a:ext cx="11247120" cy="914400"/>
          </a:xfrm>
          <a:prstGeom prst="rect">
            <a:avLst/>
          </a:prstGeom>
          <a:noFill/>
        </p:spPr>
        <p:txBody>
          <a:bodyPr wrap="square">
            <a:spAutoFit/>
          </a:bodyPr>
          <a:lstStyle/>
          <a:p>
            <a:pPr>
              <a:spcBef>
                <a:spcPts val="200"/>
              </a:spcBef>
              <a:spcAft>
                <a:spcPts val="800"/>
              </a:spcAft>
            </a:pPr>
            <a:r>
              <a:rPr sz="1400" b="1">
                <a:solidFill>
                  <a:srgbClr val="06D6A0"/>
                </a:solidFill>
                <a:latin typeface="Segoe UI"/>
              </a:rPr>
              <a:t>ML models outperform lexicon models across all metrics</a:t>
            </a:r>
          </a:p>
          <a:p>
            <a:pPr>
              <a:spcBef>
                <a:spcPts val="200"/>
              </a:spcBef>
              <a:spcAft>
                <a:spcPts val="800"/>
              </a:spcAft>
            </a:pPr>
            <a:r>
              <a:rPr sz="1400" b="0">
                <a:solidFill>
                  <a:srgbClr val="6C757D"/>
                </a:solidFill>
                <a:latin typeface="Segoe UI"/>
              </a:rPr>
              <a:t>Lexicons struggle with mixed sentiment &amp; domain terms  •  ML learns patterns like 'broke', 'defect', 'return'</a:t>
            </a:r>
          </a:p>
        </p:txBody>
      </p:sp>
    </p:spTree>
  </p:cSld>
  <p:clrMapOvr>
    <a:masterClrMapping/>
  </p:clrMapOvr>
  <mc:AlternateContent xmlns:mc="http://schemas.openxmlformats.org/markup-compatibility/2006" xmlns:p159="http://schemas.microsoft.com/office/powerpoint/2015/09/main">
    <mc:Choice Requires="p159">
      <p:transition spd="med" advTm="49999">
        <p159:morph option="byObject"/>
      </p:transition>
    </mc:Choice>
    <mc:Fallback xmlns="">
      <p:transition spd="med" advTm="49999">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0">
                <a:solidFill>
                  <a:srgbClr val="6C757D"/>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1">
                <a:solidFill>
                  <a:srgbClr val="00B4D8"/>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Sentiment-Enhanced Collaborative Filtering</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417320"/>
            <a:ext cx="4572000" cy="320040"/>
          </a:xfrm>
          <a:prstGeom prst="rect">
            <a:avLst/>
          </a:prstGeom>
          <a:noFill/>
        </p:spPr>
        <p:txBody>
          <a:bodyPr wrap="square">
            <a:spAutoFit/>
          </a:bodyPr>
          <a:lstStyle/>
          <a:p>
            <a:pPr algn="l"/>
            <a:r>
              <a:rPr sz="1600" b="1">
                <a:solidFill>
                  <a:srgbClr val="48CAE4"/>
                </a:solidFill>
                <a:latin typeface="Segoe UI"/>
              </a:rPr>
              <a:t>Enhancement Architecture</a:t>
            </a:r>
          </a:p>
        </p:txBody>
      </p:sp>
      <p:sp>
        <p:nvSpPr>
          <p:cNvPr id="12" name="Rounded Rectangle 11"/>
          <p:cNvSpPr/>
          <p:nvPr/>
        </p:nvSpPr>
        <p:spPr>
          <a:xfrm>
            <a:off x="457200" y="1828800"/>
            <a:ext cx="1828800" cy="9144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7200" y="1828800"/>
            <a:ext cx="1828800" cy="914400"/>
          </a:xfrm>
          <a:prstGeom prst="roundRect">
            <a:avLst/>
          </a:prstGeom>
          <a:solidFill>
            <a:srgbClr val="6C757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457200" y="1865376"/>
            <a:ext cx="1828800" cy="877824"/>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48640" y="1965960"/>
            <a:ext cx="1645920" cy="640080"/>
          </a:xfrm>
          <a:prstGeom prst="rect">
            <a:avLst/>
          </a:prstGeom>
          <a:noFill/>
        </p:spPr>
        <p:txBody>
          <a:bodyPr wrap="square">
            <a:spAutoFit/>
          </a:bodyPr>
          <a:lstStyle/>
          <a:p>
            <a:pPr algn="ctr"/>
            <a:r>
              <a:rPr sz="1400" b="1">
                <a:solidFill>
                  <a:srgbClr val="FFFFFF"/>
                </a:solidFill>
                <a:latin typeface="Segoe UI"/>
              </a:rPr>
              <a:t>Review
Text</a:t>
            </a:r>
          </a:p>
        </p:txBody>
      </p:sp>
      <p:sp>
        <p:nvSpPr>
          <p:cNvPr id="16" name="TextBox 15"/>
          <p:cNvSpPr txBox="1"/>
          <p:nvPr/>
        </p:nvSpPr>
        <p:spPr>
          <a:xfrm>
            <a:off x="2331719" y="2057400"/>
            <a:ext cx="365760" cy="365760"/>
          </a:xfrm>
          <a:prstGeom prst="rect">
            <a:avLst/>
          </a:prstGeom>
          <a:noFill/>
        </p:spPr>
        <p:txBody>
          <a:bodyPr wrap="square">
            <a:spAutoFit/>
          </a:bodyPr>
          <a:lstStyle/>
          <a:p>
            <a:pPr algn="l"/>
            <a:r>
              <a:rPr sz="2000" b="1">
                <a:solidFill>
                  <a:srgbClr val="6C757D"/>
                </a:solidFill>
                <a:latin typeface="Segoe UI"/>
              </a:rPr>
              <a:t>→</a:t>
            </a:r>
          </a:p>
        </p:txBody>
      </p:sp>
      <p:sp>
        <p:nvSpPr>
          <p:cNvPr id="17" name="Rounded Rectangle 16"/>
          <p:cNvSpPr/>
          <p:nvPr/>
        </p:nvSpPr>
        <p:spPr>
          <a:xfrm>
            <a:off x="2788920" y="1828800"/>
            <a:ext cx="1828800" cy="91440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80360" y="1965960"/>
            <a:ext cx="1645920" cy="640080"/>
          </a:xfrm>
          <a:prstGeom prst="rect">
            <a:avLst/>
          </a:prstGeom>
          <a:noFill/>
        </p:spPr>
        <p:txBody>
          <a:bodyPr wrap="square">
            <a:spAutoFit/>
          </a:bodyPr>
          <a:lstStyle/>
          <a:p>
            <a:pPr algn="ctr"/>
            <a:r>
              <a:rPr sz="1400" b="1">
                <a:solidFill>
                  <a:srgbClr val="FFFFFF"/>
                </a:solidFill>
                <a:latin typeface="Segoe UI"/>
              </a:rPr>
              <a:t>VADER
Analysis</a:t>
            </a:r>
          </a:p>
        </p:txBody>
      </p:sp>
      <p:sp>
        <p:nvSpPr>
          <p:cNvPr id="19" name="TextBox 18"/>
          <p:cNvSpPr txBox="1"/>
          <p:nvPr/>
        </p:nvSpPr>
        <p:spPr>
          <a:xfrm>
            <a:off x="4663439" y="2057400"/>
            <a:ext cx="365760" cy="365760"/>
          </a:xfrm>
          <a:prstGeom prst="rect">
            <a:avLst/>
          </a:prstGeom>
          <a:noFill/>
        </p:spPr>
        <p:txBody>
          <a:bodyPr wrap="square">
            <a:spAutoFit/>
          </a:bodyPr>
          <a:lstStyle/>
          <a:p>
            <a:pPr algn="l"/>
            <a:r>
              <a:rPr sz="2000" b="1">
                <a:solidFill>
                  <a:srgbClr val="6C757D"/>
                </a:solidFill>
                <a:latin typeface="Segoe UI"/>
              </a:rPr>
              <a:t>→</a:t>
            </a:r>
          </a:p>
        </p:txBody>
      </p:sp>
      <p:sp>
        <p:nvSpPr>
          <p:cNvPr id="20" name="Rounded Rectangle 19"/>
          <p:cNvSpPr/>
          <p:nvPr/>
        </p:nvSpPr>
        <p:spPr>
          <a:xfrm>
            <a:off x="5120640" y="1828800"/>
            <a:ext cx="1828800" cy="914400"/>
          </a:xfrm>
          <a:prstGeom prst="round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12080" y="1965960"/>
            <a:ext cx="1645920" cy="640080"/>
          </a:xfrm>
          <a:prstGeom prst="rect">
            <a:avLst/>
          </a:prstGeom>
          <a:noFill/>
        </p:spPr>
        <p:txBody>
          <a:bodyPr wrap="square">
            <a:spAutoFit/>
          </a:bodyPr>
          <a:lstStyle/>
          <a:p>
            <a:pPr algn="ctr"/>
            <a:r>
              <a:rPr sz="1400" b="1">
                <a:solidFill>
                  <a:srgbClr val="FFFFFF"/>
                </a:solidFill>
                <a:latin typeface="Segoe UI"/>
              </a:rPr>
              <a:t>Sentiment
Score</a:t>
            </a:r>
          </a:p>
        </p:txBody>
      </p:sp>
      <p:sp>
        <p:nvSpPr>
          <p:cNvPr id="22" name="TextBox 21"/>
          <p:cNvSpPr txBox="1"/>
          <p:nvPr/>
        </p:nvSpPr>
        <p:spPr>
          <a:xfrm>
            <a:off x="6995159" y="2057400"/>
            <a:ext cx="365760" cy="365760"/>
          </a:xfrm>
          <a:prstGeom prst="rect">
            <a:avLst/>
          </a:prstGeom>
          <a:noFill/>
        </p:spPr>
        <p:txBody>
          <a:bodyPr wrap="square">
            <a:spAutoFit/>
          </a:bodyPr>
          <a:lstStyle/>
          <a:p>
            <a:pPr algn="l"/>
            <a:r>
              <a:rPr sz="2000" b="1">
                <a:solidFill>
                  <a:srgbClr val="6C757D"/>
                </a:solidFill>
                <a:latin typeface="Segoe UI"/>
              </a:rPr>
              <a:t>→</a:t>
            </a:r>
          </a:p>
        </p:txBody>
      </p:sp>
      <p:sp>
        <p:nvSpPr>
          <p:cNvPr id="23" name="Rounded Rectangle 22"/>
          <p:cNvSpPr/>
          <p:nvPr/>
        </p:nvSpPr>
        <p:spPr>
          <a:xfrm>
            <a:off x="7452360" y="1828800"/>
            <a:ext cx="1828800" cy="914400"/>
          </a:xfrm>
          <a:prstGeom prst="roundRect">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543800" y="1965960"/>
            <a:ext cx="1645920" cy="640080"/>
          </a:xfrm>
          <a:prstGeom prst="rect">
            <a:avLst/>
          </a:prstGeom>
          <a:noFill/>
        </p:spPr>
        <p:txBody>
          <a:bodyPr wrap="square">
            <a:spAutoFit/>
          </a:bodyPr>
          <a:lstStyle/>
          <a:p>
            <a:pPr algn="ctr"/>
            <a:r>
              <a:rPr sz="1400" b="1">
                <a:solidFill>
                  <a:srgbClr val="FFFFFF"/>
                </a:solidFill>
                <a:latin typeface="Segoe UI"/>
              </a:rPr>
              <a:t>Blend
Formula</a:t>
            </a:r>
          </a:p>
        </p:txBody>
      </p:sp>
      <p:sp>
        <p:nvSpPr>
          <p:cNvPr id="25" name="TextBox 24"/>
          <p:cNvSpPr txBox="1"/>
          <p:nvPr/>
        </p:nvSpPr>
        <p:spPr>
          <a:xfrm>
            <a:off x="9326879" y="2057400"/>
            <a:ext cx="365760" cy="365760"/>
          </a:xfrm>
          <a:prstGeom prst="rect">
            <a:avLst/>
          </a:prstGeom>
          <a:noFill/>
        </p:spPr>
        <p:txBody>
          <a:bodyPr wrap="square">
            <a:spAutoFit/>
          </a:bodyPr>
          <a:lstStyle/>
          <a:p>
            <a:pPr algn="l"/>
            <a:r>
              <a:rPr sz="2000" b="1">
                <a:solidFill>
                  <a:srgbClr val="6C757D"/>
                </a:solidFill>
                <a:latin typeface="Segoe UI"/>
              </a:rPr>
              <a:t>→</a:t>
            </a:r>
          </a:p>
        </p:txBody>
      </p:sp>
      <p:sp>
        <p:nvSpPr>
          <p:cNvPr id="26" name="Rounded Rectangle 25"/>
          <p:cNvSpPr/>
          <p:nvPr/>
        </p:nvSpPr>
        <p:spPr>
          <a:xfrm>
            <a:off x="9784080" y="1828800"/>
            <a:ext cx="1828800" cy="914400"/>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875520" y="1965960"/>
            <a:ext cx="1645920" cy="640080"/>
          </a:xfrm>
          <a:prstGeom prst="rect">
            <a:avLst/>
          </a:prstGeom>
          <a:noFill/>
        </p:spPr>
        <p:txBody>
          <a:bodyPr wrap="square">
            <a:spAutoFit/>
          </a:bodyPr>
          <a:lstStyle/>
          <a:p>
            <a:pPr algn="ctr"/>
            <a:r>
              <a:rPr sz="1400" b="1">
                <a:solidFill>
                  <a:srgbClr val="FFFFFF"/>
                </a:solidFill>
                <a:latin typeface="Segoe UI"/>
              </a:rPr>
              <a:t>Enhanced
Rating</a:t>
            </a:r>
          </a:p>
        </p:txBody>
      </p:sp>
      <p:sp>
        <p:nvSpPr>
          <p:cNvPr id="28" name="Rounded Rectangle 27"/>
          <p:cNvSpPr/>
          <p:nvPr/>
        </p:nvSpPr>
        <p:spPr>
          <a:xfrm>
            <a:off x="457200" y="3017520"/>
            <a:ext cx="5486400" cy="310896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 y="3108960"/>
            <a:ext cx="3657600" cy="365760"/>
          </a:xfrm>
          <a:prstGeom prst="rect">
            <a:avLst/>
          </a:prstGeom>
          <a:noFill/>
        </p:spPr>
        <p:txBody>
          <a:bodyPr wrap="square">
            <a:spAutoFit/>
          </a:bodyPr>
          <a:lstStyle/>
          <a:p>
            <a:pPr algn="l"/>
            <a:r>
              <a:rPr sz="1600" b="1">
                <a:solidFill>
                  <a:srgbClr val="FFFFFF"/>
                </a:solidFill>
                <a:latin typeface="Segoe UI"/>
              </a:rPr>
              <a:t>📐  Formulas</a:t>
            </a:r>
          </a:p>
        </p:txBody>
      </p:sp>
      <p:sp>
        <p:nvSpPr>
          <p:cNvPr id="30" name="Rounded Rectangle 29"/>
          <p:cNvSpPr/>
          <p:nvPr/>
        </p:nvSpPr>
        <p:spPr>
          <a:xfrm>
            <a:off x="731520" y="3611880"/>
            <a:ext cx="4937760" cy="6400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3703320"/>
            <a:ext cx="1828800" cy="274320"/>
          </a:xfrm>
          <a:prstGeom prst="rect">
            <a:avLst/>
          </a:prstGeom>
          <a:noFill/>
        </p:spPr>
        <p:txBody>
          <a:bodyPr wrap="square">
            <a:spAutoFit/>
          </a:bodyPr>
          <a:lstStyle/>
          <a:p>
            <a:pPr algn="l"/>
            <a:r>
              <a:rPr sz="1300" b="1">
                <a:solidFill>
                  <a:srgbClr val="00B4D8"/>
                </a:solidFill>
                <a:latin typeface="Consolas"/>
              </a:rPr>
              <a:t>sentiment_score</a:t>
            </a:r>
          </a:p>
        </p:txBody>
      </p:sp>
      <p:sp>
        <p:nvSpPr>
          <p:cNvPr id="32" name="TextBox 31"/>
          <p:cNvSpPr txBox="1"/>
          <p:nvPr/>
        </p:nvSpPr>
        <p:spPr>
          <a:xfrm>
            <a:off x="2743200" y="3703320"/>
            <a:ext cx="2743200" cy="274320"/>
          </a:xfrm>
          <a:prstGeom prst="rect">
            <a:avLst/>
          </a:prstGeom>
          <a:noFill/>
        </p:spPr>
        <p:txBody>
          <a:bodyPr wrap="square">
            <a:spAutoFit/>
          </a:bodyPr>
          <a:lstStyle/>
          <a:p>
            <a:pPr algn="l"/>
            <a:r>
              <a:rPr sz="1300" b="0">
                <a:solidFill>
                  <a:srgbClr val="FFFFFF"/>
                </a:solidFill>
                <a:latin typeface="Consolas"/>
              </a:rPr>
              <a:t>= (VADER_compound + 1) / 2</a:t>
            </a:r>
          </a:p>
        </p:txBody>
      </p:sp>
      <p:sp>
        <p:nvSpPr>
          <p:cNvPr id="33" name="Rounded Rectangle 32"/>
          <p:cNvSpPr/>
          <p:nvPr/>
        </p:nvSpPr>
        <p:spPr>
          <a:xfrm>
            <a:off x="731520" y="4389120"/>
            <a:ext cx="4937760" cy="6400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4400" y="4480560"/>
            <a:ext cx="1828800" cy="274320"/>
          </a:xfrm>
          <a:prstGeom prst="rect">
            <a:avLst/>
          </a:prstGeom>
          <a:noFill/>
        </p:spPr>
        <p:txBody>
          <a:bodyPr wrap="square">
            <a:spAutoFit/>
          </a:bodyPr>
          <a:lstStyle/>
          <a:p>
            <a:pPr algn="l"/>
            <a:r>
              <a:rPr sz="1300" b="1">
                <a:solidFill>
                  <a:srgbClr val="48CAE4"/>
                </a:solidFill>
                <a:latin typeface="Consolas"/>
              </a:rPr>
              <a:t>normalized_star</a:t>
            </a:r>
          </a:p>
        </p:txBody>
      </p:sp>
      <p:sp>
        <p:nvSpPr>
          <p:cNvPr id="35" name="TextBox 34"/>
          <p:cNvSpPr txBox="1"/>
          <p:nvPr/>
        </p:nvSpPr>
        <p:spPr>
          <a:xfrm>
            <a:off x="2743200" y="4480560"/>
            <a:ext cx="2743200" cy="274320"/>
          </a:xfrm>
          <a:prstGeom prst="rect">
            <a:avLst/>
          </a:prstGeom>
          <a:noFill/>
        </p:spPr>
        <p:txBody>
          <a:bodyPr wrap="square">
            <a:spAutoFit/>
          </a:bodyPr>
          <a:lstStyle/>
          <a:p>
            <a:pPr algn="l"/>
            <a:r>
              <a:rPr sz="1300" b="0">
                <a:solidFill>
                  <a:srgbClr val="FFFFFF"/>
                </a:solidFill>
                <a:latin typeface="Consolas"/>
              </a:rPr>
              <a:t>= (rating − 1) / 4</a:t>
            </a:r>
          </a:p>
        </p:txBody>
      </p:sp>
      <p:sp>
        <p:nvSpPr>
          <p:cNvPr id="36" name="Rounded Rectangle 35"/>
          <p:cNvSpPr/>
          <p:nvPr/>
        </p:nvSpPr>
        <p:spPr>
          <a:xfrm>
            <a:off x="731520" y="5166360"/>
            <a:ext cx="4937760" cy="6400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 y="5257800"/>
            <a:ext cx="1828800" cy="274320"/>
          </a:xfrm>
          <a:prstGeom prst="rect">
            <a:avLst/>
          </a:prstGeom>
          <a:noFill/>
        </p:spPr>
        <p:txBody>
          <a:bodyPr wrap="square">
            <a:spAutoFit/>
          </a:bodyPr>
          <a:lstStyle/>
          <a:p>
            <a:pPr algn="l"/>
            <a:r>
              <a:rPr sz="1300" b="1">
                <a:solidFill>
                  <a:srgbClr val="06D6A0"/>
                </a:solidFill>
                <a:latin typeface="Consolas"/>
              </a:rPr>
              <a:t>enhanced_rating</a:t>
            </a:r>
          </a:p>
        </p:txBody>
      </p:sp>
      <p:sp>
        <p:nvSpPr>
          <p:cNvPr id="38" name="TextBox 37"/>
          <p:cNvSpPr txBox="1"/>
          <p:nvPr/>
        </p:nvSpPr>
        <p:spPr>
          <a:xfrm>
            <a:off x="2743200" y="5257800"/>
            <a:ext cx="2743200" cy="274320"/>
          </a:xfrm>
          <a:prstGeom prst="rect">
            <a:avLst/>
          </a:prstGeom>
          <a:noFill/>
        </p:spPr>
        <p:txBody>
          <a:bodyPr wrap="square">
            <a:spAutoFit/>
          </a:bodyPr>
          <a:lstStyle/>
          <a:p>
            <a:pPr algn="l"/>
            <a:r>
              <a:rPr sz="1300" b="0">
                <a:solidFill>
                  <a:srgbClr val="FFFFFF"/>
                </a:solidFill>
                <a:latin typeface="Consolas"/>
              </a:rPr>
              <a:t>= 0.6 × norm_star + 0.4 × sent_score</a:t>
            </a:r>
          </a:p>
        </p:txBody>
      </p:sp>
      <p:sp>
        <p:nvSpPr>
          <p:cNvPr id="39" name="Rounded Rectangle 38"/>
          <p:cNvSpPr/>
          <p:nvPr/>
        </p:nvSpPr>
        <p:spPr>
          <a:xfrm>
            <a:off x="6217920" y="3017520"/>
            <a:ext cx="5486400" cy="3108960"/>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217920" y="3072384"/>
            <a:ext cx="5486400" cy="305409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92240" y="3154680"/>
            <a:ext cx="3657600" cy="320040"/>
          </a:xfrm>
          <a:prstGeom prst="rect">
            <a:avLst/>
          </a:prstGeom>
          <a:noFill/>
        </p:spPr>
        <p:txBody>
          <a:bodyPr wrap="square">
            <a:spAutoFit/>
          </a:bodyPr>
          <a:lstStyle/>
          <a:p>
            <a:pPr algn="l"/>
            <a:r>
              <a:rPr sz="1600" b="1">
                <a:solidFill>
                  <a:srgbClr val="FFFFFF"/>
                </a:solidFill>
                <a:latin typeface="Segoe UI"/>
              </a:rPr>
              <a:t>📈  Results</a:t>
            </a:r>
          </a:p>
        </p:txBody>
      </p:sp>
      <p:sp>
        <p:nvSpPr>
          <p:cNvPr id="42" name="TextBox 41"/>
          <p:cNvSpPr txBox="1"/>
          <p:nvPr/>
        </p:nvSpPr>
        <p:spPr>
          <a:xfrm>
            <a:off x="6492240" y="3657600"/>
            <a:ext cx="2743200" cy="274320"/>
          </a:xfrm>
          <a:prstGeom prst="rect">
            <a:avLst/>
          </a:prstGeom>
          <a:noFill/>
        </p:spPr>
        <p:txBody>
          <a:bodyPr wrap="square">
            <a:spAutoFit/>
          </a:bodyPr>
          <a:lstStyle/>
          <a:p>
            <a:pPr algn="l"/>
            <a:r>
              <a:rPr sz="1300" b="0">
                <a:solidFill>
                  <a:srgbClr val="6C757D"/>
                </a:solidFill>
                <a:latin typeface="Segoe UI"/>
              </a:rPr>
              <a:t>MAE Improvement</a:t>
            </a:r>
          </a:p>
        </p:txBody>
      </p:sp>
      <p:sp>
        <p:nvSpPr>
          <p:cNvPr id="43" name="Rounded Rectangle 42"/>
          <p:cNvSpPr/>
          <p:nvPr/>
        </p:nvSpPr>
        <p:spPr>
          <a:xfrm>
            <a:off x="6492240" y="3977639"/>
            <a:ext cx="3200400" cy="32004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492240" y="3977639"/>
            <a:ext cx="0" cy="320040"/>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875520" y="3950208"/>
            <a:ext cx="1371600" cy="320040"/>
          </a:xfrm>
          <a:prstGeom prst="rect">
            <a:avLst/>
          </a:prstGeom>
          <a:noFill/>
        </p:spPr>
        <p:txBody>
          <a:bodyPr wrap="square">
            <a:spAutoFit/>
          </a:bodyPr>
          <a:lstStyle/>
          <a:p>
            <a:pPr algn="l"/>
            <a:r>
              <a:rPr sz="1400" b="1">
                <a:solidFill>
                  <a:srgbClr val="06D6A0"/>
                </a:solidFill>
                <a:latin typeface="Segoe UI"/>
              </a:rPr>
              <a:t>▼ 6.7%</a:t>
            </a:r>
          </a:p>
        </p:txBody>
      </p:sp>
      <p:sp>
        <p:nvSpPr>
          <p:cNvPr id="46" name="TextBox 45"/>
          <p:cNvSpPr txBox="1"/>
          <p:nvPr/>
        </p:nvSpPr>
        <p:spPr>
          <a:xfrm>
            <a:off x="6492240" y="4480560"/>
            <a:ext cx="2743200" cy="274320"/>
          </a:xfrm>
          <a:prstGeom prst="rect">
            <a:avLst/>
          </a:prstGeom>
          <a:noFill/>
        </p:spPr>
        <p:txBody>
          <a:bodyPr wrap="square">
            <a:spAutoFit/>
          </a:bodyPr>
          <a:lstStyle/>
          <a:p>
            <a:pPr algn="l"/>
            <a:r>
              <a:rPr sz="1300" b="0">
                <a:solidFill>
                  <a:srgbClr val="6C757D"/>
                </a:solidFill>
                <a:latin typeface="Segoe UI"/>
              </a:rPr>
              <a:t>RMSE Change</a:t>
            </a:r>
          </a:p>
        </p:txBody>
      </p:sp>
      <p:sp>
        <p:nvSpPr>
          <p:cNvPr id="47" name="Rounded Rectangle 46"/>
          <p:cNvSpPr/>
          <p:nvPr/>
        </p:nvSpPr>
        <p:spPr>
          <a:xfrm>
            <a:off x="6492240" y="4800600"/>
            <a:ext cx="3200400" cy="32004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6492240" y="4800600"/>
            <a:ext cx="0" cy="32004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9875520" y="4773168"/>
            <a:ext cx="1371600" cy="320040"/>
          </a:xfrm>
          <a:prstGeom prst="rect">
            <a:avLst/>
          </a:prstGeom>
          <a:noFill/>
        </p:spPr>
        <p:txBody>
          <a:bodyPr wrap="square">
            <a:spAutoFit/>
          </a:bodyPr>
          <a:lstStyle/>
          <a:p>
            <a:pPr algn="l"/>
            <a:r>
              <a:rPr sz="1400" b="1">
                <a:solidFill>
                  <a:srgbClr val="FF6B35"/>
                </a:solidFill>
                <a:latin typeface="Segoe UI"/>
              </a:rPr>
              <a:t>▲ 24.9%</a:t>
            </a:r>
          </a:p>
        </p:txBody>
      </p:sp>
      <p:sp>
        <p:nvSpPr>
          <p:cNvPr id="50" name="TextBox 49"/>
          <p:cNvSpPr txBox="1"/>
          <p:nvPr/>
        </p:nvSpPr>
        <p:spPr>
          <a:xfrm>
            <a:off x="6492240" y="5303520"/>
            <a:ext cx="5029200" cy="1097280"/>
          </a:xfrm>
          <a:prstGeom prst="rect">
            <a:avLst/>
          </a:prstGeom>
          <a:noFill/>
        </p:spPr>
        <p:txBody>
          <a:bodyPr wrap="square">
            <a:spAutoFit/>
          </a:bodyPr>
          <a:lstStyle/>
          <a:p>
            <a:pPr>
              <a:spcBef>
                <a:spcPts val="200"/>
              </a:spcBef>
              <a:spcAft>
                <a:spcPts val="800"/>
              </a:spcAft>
            </a:pPr>
            <a:r>
              <a:rPr sz="1200" b="0">
                <a:solidFill>
                  <a:srgbClr val="6C757D"/>
                </a:solidFill>
                <a:latin typeface="Segoe UI"/>
              </a:rPr>
              <a:t>Sentiment minimizes noise in sparse</a:t>
            </a:r>
          </a:p>
          <a:p>
            <a:pPr>
              <a:spcBef>
                <a:spcPts val="200"/>
              </a:spcBef>
              <a:spcAft>
                <a:spcPts val="800"/>
              </a:spcAft>
            </a:pPr>
            <a:r>
              <a:rPr sz="1200" b="0">
                <a:solidFill>
                  <a:srgbClr val="6C757D"/>
                </a:solidFill>
                <a:latin typeface="Segoe UI"/>
              </a:rPr>
              <a:t>rating matrices → more accurate &amp;</a:t>
            </a:r>
          </a:p>
          <a:p>
            <a:pPr>
              <a:spcBef>
                <a:spcPts val="200"/>
              </a:spcBef>
              <a:spcAft>
                <a:spcPts val="800"/>
              </a:spcAft>
            </a:pPr>
            <a:r>
              <a:rPr sz="1200" b="0">
                <a:solidFill>
                  <a:srgbClr val="6C757D"/>
                </a:solidFill>
                <a:latin typeface="Segoe UI"/>
              </a:rPr>
              <a:t>stable recommendations</a:t>
            </a:r>
          </a:p>
          <a:p>
            <a:pPr>
              <a:spcBef>
                <a:spcPts val="200"/>
              </a:spcBef>
              <a:spcAft>
                <a:spcPts val="800"/>
              </a:spcAft>
            </a:pPr>
            <a:r>
              <a:rPr sz="1200" b="1">
                <a:solidFill>
                  <a:srgbClr val="48CAE4"/>
                </a:solidFill>
                <a:latin typeface="Segoe UI"/>
              </a:rPr>
              <a:t>Especially helpful for controversial products</a:t>
            </a:r>
          </a:p>
        </p:txBody>
      </p:sp>
      <p:pic>
        <p:nvPicPr>
          <p:cNvPr id="51" name="Recorded Sound">
            <a:hlinkClick r:id="" action="ppaction://media"/>
            <a:extLst>
              <a:ext uri="{FF2B5EF4-FFF2-40B4-BE49-F238E27FC236}">
                <a16:creationId xmlns:a16="http://schemas.microsoft.com/office/drawing/2014/main" id="{7D747658-6E99-7327-38DC-C7F689F768A8}"/>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0393680" y="5954527"/>
            <a:ext cx="609600" cy="6096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med" advTm="50828">
        <p159:morph option="byObject"/>
      </p:transition>
    </mc:Choice>
    <mc:Fallback xmlns="">
      <p:transition spd="med" advTm="5082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0828" fill="hold"/>
                                        <p:tgtEl>
                                          <p:spTgt spid="5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5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TextBox 1"/>
          <p:cNvSpPr txBox="1"/>
          <p:nvPr/>
        </p:nvSpPr>
        <p:spPr>
          <a:xfrm>
            <a:off x="457200" y="457200"/>
            <a:ext cx="3657600" cy="2743200"/>
          </a:xfrm>
          <a:prstGeom prst="rect">
            <a:avLst/>
          </a:prstGeom>
          <a:noFill/>
        </p:spPr>
        <p:txBody>
          <a:bodyPr wrap="square">
            <a:spAutoFit/>
          </a:bodyPr>
          <a:lstStyle/>
          <a:p>
            <a:pPr algn="l"/>
            <a:r>
              <a:rPr sz="12000" b="1">
                <a:solidFill>
                  <a:srgbClr val="1D3050"/>
                </a:solidFill>
                <a:latin typeface="Segoe UI Black"/>
              </a:rPr>
              <a:t>03</a:t>
            </a:r>
          </a:p>
        </p:txBody>
      </p:sp>
      <p:sp>
        <p:nvSpPr>
          <p:cNvPr id="3" name="Rounded Rectangle 2"/>
          <p:cNvSpPr/>
          <p:nvPr/>
        </p:nvSpPr>
        <p:spPr>
          <a:xfrm>
            <a:off x="914400" y="3200400"/>
            <a:ext cx="27432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3474720"/>
            <a:ext cx="10058400" cy="1097280"/>
          </a:xfrm>
          <a:prstGeom prst="rect">
            <a:avLst/>
          </a:prstGeom>
          <a:noFill/>
        </p:spPr>
        <p:txBody>
          <a:bodyPr wrap="square">
            <a:spAutoFit/>
          </a:bodyPr>
          <a:lstStyle/>
          <a:p>
            <a:pPr algn="l"/>
            <a:r>
              <a:rPr sz="4000" b="1">
                <a:solidFill>
                  <a:srgbClr val="FFFFFF"/>
                </a:solidFill>
                <a:latin typeface="Segoe UI"/>
              </a:rPr>
              <a:t>LLM-Powered NLP Tasks</a:t>
            </a:r>
          </a:p>
        </p:txBody>
      </p:sp>
      <p:sp>
        <p:nvSpPr>
          <p:cNvPr id="5" name="TextBox 4"/>
          <p:cNvSpPr txBox="1"/>
          <p:nvPr/>
        </p:nvSpPr>
        <p:spPr>
          <a:xfrm>
            <a:off x="914400" y="4572000"/>
            <a:ext cx="9144000" cy="731520"/>
          </a:xfrm>
          <a:prstGeom prst="rect">
            <a:avLst/>
          </a:prstGeom>
          <a:noFill/>
        </p:spPr>
        <p:txBody>
          <a:bodyPr wrap="square">
            <a:spAutoFit/>
          </a:bodyPr>
          <a:lstStyle/>
          <a:p>
            <a:pPr algn="l"/>
            <a:r>
              <a:rPr sz="2000" b="0">
                <a:solidFill>
                  <a:srgbClr val="48CAE4"/>
                </a:solidFill>
                <a:latin typeface="Segoe UI"/>
              </a:rPr>
              <a:t>Review Summarization  •  Customer Service Response Generation</a:t>
            </a:r>
          </a:p>
        </p:txBody>
      </p:sp>
      <p:sp>
        <p:nvSpPr>
          <p:cNvPr id="6" name="Oval 5"/>
          <p:cNvSpPr/>
          <p:nvPr/>
        </p:nvSpPr>
        <p:spPr>
          <a:xfrm>
            <a:off x="10058400" y="914400"/>
            <a:ext cx="1371600" cy="1371600"/>
          </a:xfrm>
          <a:prstGeom prst="ellipse">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332720" y="1188720"/>
            <a:ext cx="822960" cy="82296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advTm="17586">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0">
                <a:solidFill>
                  <a:srgbClr val="6C757D"/>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1">
                <a:solidFill>
                  <a:srgbClr val="00B4D8"/>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Review Summarization with LLM</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417320"/>
            <a:ext cx="4572000" cy="4572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444752"/>
            <a:ext cx="4114800" cy="365760"/>
          </a:xfrm>
          <a:prstGeom prst="rect">
            <a:avLst/>
          </a:prstGeom>
          <a:noFill/>
        </p:spPr>
        <p:txBody>
          <a:bodyPr wrap="square">
            <a:spAutoFit/>
          </a:bodyPr>
          <a:lstStyle/>
          <a:p>
            <a:pPr algn="l"/>
            <a:r>
              <a:rPr sz="1400" b="1">
                <a:solidFill>
                  <a:srgbClr val="48CAE4"/>
                </a:solidFill>
                <a:latin typeface="Segoe UI"/>
              </a:rPr>
              <a:t>🤗  sshleifer/distilbart-cnn-12-6</a:t>
            </a:r>
          </a:p>
        </p:txBody>
      </p:sp>
      <p:sp>
        <p:nvSpPr>
          <p:cNvPr id="13" name="Rounded Rectangle 12"/>
          <p:cNvSpPr/>
          <p:nvPr/>
        </p:nvSpPr>
        <p:spPr>
          <a:xfrm>
            <a:off x="457200" y="2011680"/>
            <a:ext cx="11338560" cy="109728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103120"/>
            <a:ext cx="1371600" cy="320040"/>
          </a:xfrm>
          <a:prstGeom prst="rect">
            <a:avLst/>
          </a:prstGeom>
          <a:noFill/>
        </p:spPr>
        <p:txBody>
          <a:bodyPr wrap="square">
            <a:spAutoFit/>
          </a:bodyPr>
          <a:lstStyle/>
          <a:p>
            <a:pPr algn="l"/>
            <a:r>
              <a:rPr sz="1300" b="1">
                <a:solidFill>
                  <a:srgbClr val="FFFFFF"/>
                </a:solidFill>
                <a:latin typeface="Segoe UI"/>
              </a:rPr>
              <a:t>Pipeline:</a:t>
            </a:r>
          </a:p>
        </p:txBody>
      </p:sp>
      <p:sp>
        <p:nvSpPr>
          <p:cNvPr id="15" name="Rounded Rectangle 14"/>
          <p:cNvSpPr/>
          <p:nvPr/>
        </p:nvSpPr>
        <p:spPr>
          <a:xfrm>
            <a:off x="1828800" y="2103120"/>
            <a:ext cx="2011680" cy="8686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20240" y="2148840"/>
            <a:ext cx="1828800" cy="777240"/>
          </a:xfrm>
          <a:prstGeom prst="rect">
            <a:avLst/>
          </a:prstGeom>
          <a:noFill/>
        </p:spPr>
        <p:txBody>
          <a:bodyPr wrap="square">
            <a:spAutoFit/>
          </a:bodyPr>
          <a:lstStyle/>
          <a:p>
            <a:pPr algn="ctr"/>
            <a:r>
              <a:rPr sz="1100" b="1">
                <a:solidFill>
                  <a:srgbClr val="FFFFFF"/>
                </a:solidFill>
                <a:latin typeface="Segoe UI"/>
              </a:rPr>
              <a:t>Select 10
reviews
&gt;100 words</a:t>
            </a:r>
          </a:p>
        </p:txBody>
      </p:sp>
      <p:sp>
        <p:nvSpPr>
          <p:cNvPr id="17" name="TextBox 16"/>
          <p:cNvSpPr txBox="1"/>
          <p:nvPr/>
        </p:nvSpPr>
        <p:spPr>
          <a:xfrm>
            <a:off x="3886200" y="2286000"/>
            <a:ext cx="365760" cy="365760"/>
          </a:xfrm>
          <a:prstGeom prst="rect">
            <a:avLst/>
          </a:prstGeom>
          <a:noFill/>
        </p:spPr>
        <p:txBody>
          <a:bodyPr wrap="square">
            <a:spAutoFit/>
          </a:bodyPr>
          <a:lstStyle/>
          <a:p>
            <a:pPr algn="l"/>
            <a:r>
              <a:rPr sz="1800" b="1">
                <a:solidFill>
                  <a:srgbClr val="6C757D"/>
                </a:solidFill>
                <a:latin typeface="Segoe UI"/>
              </a:rPr>
              <a:t>→</a:t>
            </a:r>
          </a:p>
        </p:txBody>
      </p:sp>
      <p:sp>
        <p:nvSpPr>
          <p:cNvPr id="18" name="Rounded Rectangle 17"/>
          <p:cNvSpPr/>
          <p:nvPr/>
        </p:nvSpPr>
        <p:spPr>
          <a:xfrm>
            <a:off x="4297680" y="2103120"/>
            <a:ext cx="2011680" cy="868680"/>
          </a:xfrm>
          <a:prstGeom prst="roundRect">
            <a:avLst/>
          </a:prstGeom>
          <a:solidFill>
            <a:srgbClr val="48C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89120" y="2148840"/>
            <a:ext cx="1828800" cy="777240"/>
          </a:xfrm>
          <a:prstGeom prst="rect">
            <a:avLst/>
          </a:prstGeom>
          <a:noFill/>
        </p:spPr>
        <p:txBody>
          <a:bodyPr wrap="square">
            <a:spAutoFit/>
          </a:bodyPr>
          <a:lstStyle/>
          <a:p>
            <a:pPr algn="ctr"/>
            <a:r>
              <a:rPr sz="1100" b="1">
                <a:solidFill>
                  <a:srgbClr val="FFFFFF"/>
                </a:solidFill>
                <a:latin typeface="Segoe UI"/>
              </a:rPr>
              <a:t>Feed to
DistilBART
model</a:t>
            </a:r>
          </a:p>
        </p:txBody>
      </p:sp>
      <p:sp>
        <p:nvSpPr>
          <p:cNvPr id="20" name="TextBox 19"/>
          <p:cNvSpPr txBox="1"/>
          <p:nvPr/>
        </p:nvSpPr>
        <p:spPr>
          <a:xfrm>
            <a:off x="6355080" y="2286000"/>
            <a:ext cx="365760" cy="365760"/>
          </a:xfrm>
          <a:prstGeom prst="rect">
            <a:avLst/>
          </a:prstGeom>
          <a:noFill/>
        </p:spPr>
        <p:txBody>
          <a:bodyPr wrap="square">
            <a:spAutoFit/>
          </a:bodyPr>
          <a:lstStyle/>
          <a:p>
            <a:pPr algn="l"/>
            <a:r>
              <a:rPr sz="1800" b="1">
                <a:solidFill>
                  <a:srgbClr val="6C757D"/>
                </a:solidFill>
                <a:latin typeface="Segoe UI"/>
              </a:rPr>
              <a:t>→</a:t>
            </a:r>
          </a:p>
        </p:txBody>
      </p:sp>
      <p:sp>
        <p:nvSpPr>
          <p:cNvPr id="21" name="Rounded Rectangle 20"/>
          <p:cNvSpPr/>
          <p:nvPr/>
        </p:nvSpPr>
        <p:spPr>
          <a:xfrm>
            <a:off x="6766560" y="2103120"/>
            <a:ext cx="2011680" cy="868680"/>
          </a:xfrm>
          <a:prstGeom prst="roundRect">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0" y="2148840"/>
            <a:ext cx="1828800" cy="777240"/>
          </a:xfrm>
          <a:prstGeom prst="rect">
            <a:avLst/>
          </a:prstGeom>
          <a:noFill/>
        </p:spPr>
        <p:txBody>
          <a:bodyPr wrap="square">
            <a:spAutoFit/>
          </a:bodyPr>
          <a:lstStyle/>
          <a:p>
            <a:pPr algn="ctr"/>
            <a:r>
              <a:rPr sz="1100" b="1">
                <a:solidFill>
                  <a:srgbClr val="FFFFFF"/>
                </a:solidFill>
                <a:latin typeface="Segoe UI"/>
              </a:rPr>
              <a:t>Generate
abstractive
summary</a:t>
            </a:r>
          </a:p>
        </p:txBody>
      </p:sp>
      <p:sp>
        <p:nvSpPr>
          <p:cNvPr id="23" name="TextBox 22"/>
          <p:cNvSpPr txBox="1"/>
          <p:nvPr/>
        </p:nvSpPr>
        <p:spPr>
          <a:xfrm>
            <a:off x="8823960" y="2286000"/>
            <a:ext cx="365760" cy="365760"/>
          </a:xfrm>
          <a:prstGeom prst="rect">
            <a:avLst/>
          </a:prstGeom>
          <a:noFill/>
        </p:spPr>
        <p:txBody>
          <a:bodyPr wrap="square">
            <a:spAutoFit/>
          </a:bodyPr>
          <a:lstStyle/>
          <a:p>
            <a:pPr algn="l"/>
            <a:r>
              <a:rPr sz="1800" b="1">
                <a:solidFill>
                  <a:srgbClr val="6C757D"/>
                </a:solidFill>
                <a:latin typeface="Segoe UI"/>
              </a:rPr>
              <a:t>→</a:t>
            </a:r>
          </a:p>
        </p:txBody>
      </p:sp>
      <p:sp>
        <p:nvSpPr>
          <p:cNvPr id="24" name="Rounded Rectangle 23"/>
          <p:cNvSpPr/>
          <p:nvPr/>
        </p:nvSpPr>
        <p:spPr>
          <a:xfrm>
            <a:off x="9235440" y="2103120"/>
            <a:ext cx="2011680" cy="868680"/>
          </a:xfrm>
          <a:prstGeom prst="roundRect">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26880" y="2148840"/>
            <a:ext cx="1828800" cy="777240"/>
          </a:xfrm>
          <a:prstGeom prst="rect">
            <a:avLst/>
          </a:prstGeom>
          <a:noFill/>
        </p:spPr>
        <p:txBody>
          <a:bodyPr wrap="square">
            <a:spAutoFit/>
          </a:bodyPr>
          <a:lstStyle/>
          <a:p>
            <a:pPr algn="ctr"/>
            <a:r>
              <a:rPr sz="1100" b="1">
                <a:solidFill>
                  <a:srgbClr val="FFFFFF"/>
                </a:solidFill>
                <a:latin typeface="Segoe UI"/>
              </a:rPr>
              <a:t>~50 word
condensed
output</a:t>
            </a:r>
          </a:p>
        </p:txBody>
      </p:sp>
      <p:sp>
        <p:nvSpPr>
          <p:cNvPr id="26" name="Rounded Rectangle 25"/>
          <p:cNvSpPr/>
          <p:nvPr/>
        </p:nvSpPr>
        <p:spPr>
          <a:xfrm>
            <a:off x="457200" y="3337560"/>
            <a:ext cx="5486400" cy="22860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3429000"/>
            <a:ext cx="1828800" cy="274320"/>
          </a:xfrm>
          <a:prstGeom prst="rect">
            <a:avLst/>
          </a:prstGeom>
          <a:noFill/>
        </p:spPr>
        <p:txBody>
          <a:bodyPr wrap="square">
            <a:spAutoFit/>
          </a:bodyPr>
          <a:lstStyle/>
          <a:p>
            <a:pPr algn="l"/>
            <a:r>
              <a:rPr sz="1400" b="1">
                <a:solidFill>
                  <a:srgbClr val="00B4D8"/>
                </a:solidFill>
                <a:latin typeface="Segoe UI"/>
              </a:rPr>
              <a:t>Example 1</a:t>
            </a:r>
          </a:p>
        </p:txBody>
      </p:sp>
      <p:sp>
        <p:nvSpPr>
          <p:cNvPr id="28" name="TextBox 27"/>
          <p:cNvSpPr txBox="1"/>
          <p:nvPr/>
        </p:nvSpPr>
        <p:spPr>
          <a:xfrm>
            <a:off x="640080" y="3749039"/>
            <a:ext cx="1828800" cy="228600"/>
          </a:xfrm>
          <a:prstGeom prst="rect">
            <a:avLst/>
          </a:prstGeom>
          <a:noFill/>
        </p:spPr>
        <p:txBody>
          <a:bodyPr wrap="square">
            <a:spAutoFit/>
          </a:bodyPr>
          <a:lstStyle/>
          <a:p>
            <a:pPr algn="l"/>
            <a:r>
              <a:rPr sz="1100" b="1">
                <a:solidFill>
                  <a:srgbClr val="6C757D"/>
                </a:solidFill>
                <a:latin typeface="Segoe UI"/>
              </a:rPr>
              <a:t>Original (~120 words):</a:t>
            </a:r>
          </a:p>
        </p:txBody>
      </p:sp>
      <p:sp>
        <p:nvSpPr>
          <p:cNvPr id="29" name="TextBox 28"/>
          <p:cNvSpPr txBox="1"/>
          <p:nvPr/>
        </p:nvSpPr>
        <p:spPr>
          <a:xfrm>
            <a:off x="640080" y="3977639"/>
            <a:ext cx="5029200" cy="640080"/>
          </a:xfrm>
          <a:prstGeom prst="rect">
            <a:avLst/>
          </a:prstGeom>
          <a:noFill/>
        </p:spPr>
        <p:txBody>
          <a:bodyPr wrap="square">
            <a:spAutoFit/>
          </a:bodyPr>
          <a:lstStyle/>
          <a:p>
            <a:pPr algn="l"/>
            <a:r>
              <a:rPr sz="1000" b="0">
                <a:solidFill>
                  <a:srgbClr val="6C757D"/>
                </a:solidFill>
                <a:latin typeface="Segoe UI"/>
              </a:rPr>
              <a:t>"As another reviewer mentioned I don't think there is any difference in which Goop you buy… The only reason I dropped off a star is that it often hardens after a tube is opened…"</a:t>
            </a:r>
          </a:p>
        </p:txBody>
      </p:sp>
      <p:sp>
        <p:nvSpPr>
          <p:cNvPr id="30" name="TextBox 29"/>
          <p:cNvSpPr txBox="1"/>
          <p:nvPr/>
        </p:nvSpPr>
        <p:spPr>
          <a:xfrm>
            <a:off x="640080" y="4663440"/>
            <a:ext cx="2743200" cy="228600"/>
          </a:xfrm>
          <a:prstGeom prst="rect">
            <a:avLst/>
          </a:prstGeom>
          <a:noFill/>
        </p:spPr>
        <p:txBody>
          <a:bodyPr wrap="square">
            <a:spAutoFit/>
          </a:bodyPr>
          <a:lstStyle/>
          <a:p>
            <a:pPr algn="l"/>
            <a:r>
              <a:rPr sz="1100" b="1">
                <a:solidFill>
                  <a:srgbClr val="06D6A0"/>
                </a:solidFill>
                <a:latin typeface="Segoe UI"/>
              </a:rPr>
              <a:t>Generated Summary (38 words):</a:t>
            </a:r>
          </a:p>
        </p:txBody>
      </p:sp>
      <p:sp>
        <p:nvSpPr>
          <p:cNvPr id="31" name="TextBox 30"/>
          <p:cNvSpPr txBox="1"/>
          <p:nvPr/>
        </p:nvSpPr>
        <p:spPr>
          <a:xfrm>
            <a:off x="640080" y="4892040"/>
            <a:ext cx="5029200" cy="640080"/>
          </a:xfrm>
          <a:prstGeom prst="rect">
            <a:avLst/>
          </a:prstGeom>
          <a:noFill/>
        </p:spPr>
        <p:txBody>
          <a:bodyPr wrap="square">
            <a:spAutoFit/>
          </a:bodyPr>
          <a:lstStyle/>
          <a:p>
            <a:pPr algn="l"/>
            <a:r>
              <a:rPr sz="1000" b="0">
                <a:solidFill>
                  <a:srgbClr val="48CAE4"/>
                </a:solidFill>
                <a:latin typeface="Segoe UI"/>
              </a:rPr>
              <a:t>"The only reason I dropped off a star is that it often hardens after a tube is opened even though the cap is on tight. Other than that, the product itself is 5-stars all the way."</a:t>
            </a:r>
          </a:p>
        </p:txBody>
      </p:sp>
      <p:sp>
        <p:nvSpPr>
          <p:cNvPr id="32" name="Rounded Rectangle 31"/>
          <p:cNvSpPr/>
          <p:nvPr/>
        </p:nvSpPr>
        <p:spPr>
          <a:xfrm>
            <a:off x="6217920" y="3337560"/>
            <a:ext cx="5486400" cy="22860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92240" y="3429000"/>
            <a:ext cx="2743200" cy="274320"/>
          </a:xfrm>
          <a:prstGeom prst="rect">
            <a:avLst/>
          </a:prstGeom>
          <a:noFill/>
        </p:spPr>
        <p:txBody>
          <a:bodyPr wrap="square">
            <a:spAutoFit/>
          </a:bodyPr>
          <a:lstStyle/>
          <a:p>
            <a:pPr algn="l"/>
            <a:r>
              <a:rPr sz="1400" b="1">
                <a:solidFill>
                  <a:srgbClr val="FFFFFF"/>
                </a:solidFill>
                <a:latin typeface="Segoe UI"/>
              </a:rPr>
              <a:t>Observations</a:t>
            </a:r>
          </a:p>
        </p:txBody>
      </p:sp>
      <p:sp>
        <p:nvSpPr>
          <p:cNvPr id="34" name="TextBox 33"/>
          <p:cNvSpPr txBox="1"/>
          <p:nvPr/>
        </p:nvSpPr>
        <p:spPr>
          <a:xfrm>
            <a:off x="6492240" y="3794760"/>
            <a:ext cx="274320" cy="228600"/>
          </a:xfrm>
          <a:prstGeom prst="rect">
            <a:avLst/>
          </a:prstGeom>
          <a:noFill/>
        </p:spPr>
        <p:txBody>
          <a:bodyPr wrap="square">
            <a:spAutoFit/>
          </a:bodyPr>
          <a:lstStyle/>
          <a:p>
            <a:pPr algn="l"/>
            <a:r>
              <a:rPr sz="1100" b="1">
                <a:solidFill>
                  <a:srgbClr val="06D6A0"/>
                </a:solidFill>
                <a:latin typeface="Segoe UI"/>
              </a:rPr>
              <a:t>✓</a:t>
            </a:r>
          </a:p>
        </p:txBody>
      </p:sp>
      <p:sp>
        <p:nvSpPr>
          <p:cNvPr id="35" name="TextBox 34"/>
          <p:cNvSpPr txBox="1"/>
          <p:nvPr/>
        </p:nvSpPr>
        <p:spPr>
          <a:xfrm>
            <a:off x="6766560" y="3794760"/>
            <a:ext cx="4572000" cy="228600"/>
          </a:xfrm>
          <a:prstGeom prst="rect">
            <a:avLst/>
          </a:prstGeom>
          <a:noFill/>
        </p:spPr>
        <p:txBody>
          <a:bodyPr wrap="square">
            <a:spAutoFit/>
          </a:bodyPr>
          <a:lstStyle/>
          <a:p>
            <a:pPr algn="l"/>
            <a:r>
              <a:rPr sz="1100" b="0">
                <a:solidFill>
                  <a:srgbClr val="ADB5BD"/>
                </a:solidFill>
                <a:latin typeface="Segoe UI"/>
              </a:rPr>
              <a:t>Captures main sentiment &amp; key aspects</a:t>
            </a:r>
          </a:p>
        </p:txBody>
      </p:sp>
      <p:sp>
        <p:nvSpPr>
          <p:cNvPr id="36" name="TextBox 35"/>
          <p:cNvSpPr txBox="1"/>
          <p:nvPr/>
        </p:nvSpPr>
        <p:spPr>
          <a:xfrm>
            <a:off x="6492240" y="4069080"/>
            <a:ext cx="274320" cy="228600"/>
          </a:xfrm>
          <a:prstGeom prst="rect">
            <a:avLst/>
          </a:prstGeom>
          <a:noFill/>
        </p:spPr>
        <p:txBody>
          <a:bodyPr wrap="square">
            <a:spAutoFit/>
          </a:bodyPr>
          <a:lstStyle/>
          <a:p>
            <a:pPr algn="l"/>
            <a:r>
              <a:rPr sz="1100" b="1">
                <a:solidFill>
                  <a:srgbClr val="06D6A0"/>
                </a:solidFill>
                <a:latin typeface="Segoe UI"/>
              </a:rPr>
              <a:t>✓</a:t>
            </a:r>
          </a:p>
        </p:txBody>
      </p:sp>
      <p:sp>
        <p:nvSpPr>
          <p:cNvPr id="37" name="TextBox 36"/>
          <p:cNvSpPr txBox="1"/>
          <p:nvPr/>
        </p:nvSpPr>
        <p:spPr>
          <a:xfrm>
            <a:off x="6766560" y="4069080"/>
            <a:ext cx="4572000" cy="228600"/>
          </a:xfrm>
          <a:prstGeom prst="rect">
            <a:avLst/>
          </a:prstGeom>
          <a:noFill/>
        </p:spPr>
        <p:txBody>
          <a:bodyPr wrap="square">
            <a:spAutoFit/>
          </a:bodyPr>
          <a:lstStyle/>
          <a:p>
            <a:pPr algn="l"/>
            <a:r>
              <a:rPr sz="1100" b="0">
                <a:solidFill>
                  <a:srgbClr val="ADB5BD"/>
                </a:solidFill>
                <a:latin typeface="Segoe UI"/>
              </a:rPr>
              <a:t>Coherent, preserves essential meaning</a:t>
            </a:r>
          </a:p>
        </p:txBody>
      </p:sp>
      <p:sp>
        <p:nvSpPr>
          <p:cNvPr id="38" name="TextBox 37"/>
          <p:cNvSpPr txBox="1"/>
          <p:nvPr/>
        </p:nvSpPr>
        <p:spPr>
          <a:xfrm>
            <a:off x="6492240" y="4343400"/>
            <a:ext cx="274320" cy="228600"/>
          </a:xfrm>
          <a:prstGeom prst="rect">
            <a:avLst/>
          </a:prstGeom>
          <a:noFill/>
        </p:spPr>
        <p:txBody>
          <a:bodyPr wrap="square">
            <a:spAutoFit/>
          </a:bodyPr>
          <a:lstStyle/>
          <a:p>
            <a:pPr algn="l"/>
            <a:r>
              <a:rPr sz="1100" b="1">
                <a:solidFill>
                  <a:srgbClr val="06D6A0"/>
                </a:solidFill>
                <a:latin typeface="Segoe UI"/>
              </a:rPr>
              <a:t>✓</a:t>
            </a:r>
          </a:p>
        </p:txBody>
      </p:sp>
      <p:sp>
        <p:nvSpPr>
          <p:cNvPr id="39" name="TextBox 38"/>
          <p:cNvSpPr txBox="1"/>
          <p:nvPr/>
        </p:nvSpPr>
        <p:spPr>
          <a:xfrm>
            <a:off x="6766560" y="4343400"/>
            <a:ext cx="4572000" cy="228600"/>
          </a:xfrm>
          <a:prstGeom prst="rect">
            <a:avLst/>
          </a:prstGeom>
          <a:noFill/>
        </p:spPr>
        <p:txBody>
          <a:bodyPr wrap="square">
            <a:spAutoFit/>
          </a:bodyPr>
          <a:lstStyle/>
          <a:p>
            <a:pPr algn="l"/>
            <a:r>
              <a:rPr sz="1100" b="0">
                <a:solidFill>
                  <a:srgbClr val="ADB5BD"/>
                </a:solidFill>
                <a:latin typeface="Segoe UI"/>
              </a:rPr>
              <a:t>Significantly reduces text length</a:t>
            </a:r>
          </a:p>
        </p:txBody>
      </p:sp>
      <p:sp>
        <p:nvSpPr>
          <p:cNvPr id="40" name="TextBox 39"/>
          <p:cNvSpPr txBox="1"/>
          <p:nvPr/>
        </p:nvSpPr>
        <p:spPr>
          <a:xfrm>
            <a:off x="6492240" y="4687975"/>
            <a:ext cx="274320" cy="228600"/>
          </a:xfrm>
          <a:prstGeom prst="rect">
            <a:avLst/>
          </a:prstGeom>
          <a:noFill/>
        </p:spPr>
        <p:txBody>
          <a:bodyPr wrap="square">
            <a:spAutoFit/>
          </a:bodyPr>
          <a:lstStyle/>
          <a:p>
            <a:pPr algn="l"/>
            <a:r>
              <a:rPr sz="1100" b="1">
                <a:solidFill>
                  <a:srgbClr val="FF6B35"/>
                </a:solidFill>
                <a:latin typeface="Segoe UI"/>
              </a:rPr>
              <a:t>△</a:t>
            </a:r>
          </a:p>
        </p:txBody>
      </p:sp>
      <p:sp>
        <p:nvSpPr>
          <p:cNvPr id="41" name="TextBox 40"/>
          <p:cNvSpPr txBox="1"/>
          <p:nvPr/>
        </p:nvSpPr>
        <p:spPr>
          <a:xfrm>
            <a:off x="6766560" y="4687975"/>
            <a:ext cx="4572000" cy="228600"/>
          </a:xfrm>
          <a:prstGeom prst="rect">
            <a:avLst/>
          </a:prstGeom>
          <a:noFill/>
        </p:spPr>
        <p:txBody>
          <a:bodyPr wrap="square">
            <a:spAutoFit/>
          </a:bodyPr>
          <a:lstStyle/>
          <a:p>
            <a:pPr algn="l"/>
            <a:r>
              <a:rPr sz="1100" b="0" dirty="0">
                <a:solidFill>
                  <a:srgbClr val="6C757D"/>
                </a:solidFill>
                <a:latin typeface="Segoe UI"/>
              </a:rPr>
              <a:t>Minor details sometimes omitted</a:t>
            </a:r>
          </a:p>
        </p:txBody>
      </p:sp>
      <p:sp>
        <p:nvSpPr>
          <p:cNvPr id="42" name="TextBox 41"/>
          <p:cNvSpPr txBox="1"/>
          <p:nvPr/>
        </p:nvSpPr>
        <p:spPr>
          <a:xfrm>
            <a:off x="6492240" y="4962295"/>
            <a:ext cx="274320" cy="228600"/>
          </a:xfrm>
          <a:prstGeom prst="rect">
            <a:avLst/>
          </a:prstGeom>
          <a:noFill/>
        </p:spPr>
        <p:txBody>
          <a:bodyPr wrap="square">
            <a:spAutoFit/>
          </a:bodyPr>
          <a:lstStyle/>
          <a:p>
            <a:pPr algn="l"/>
            <a:r>
              <a:rPr sz="1100" b="1">
                <a:solidFill>
                  <a:srgbClr val="FF6B35"/>
                </a:solidFill>
                <a:latin typeface="Segoe UI"/>
              </a:rPr>
              <a:t>△</a:t>
            </a:r>
          </a:p>
        </p:txBody>
      </p:sp>
      <p:sp>
        <p:nvSpPr>
          <p:cNvPr id="43" name="TextBox 42"/>
          <p:cNvSpPr txBox="1"/>
          <p:nvPr/>
        </p:nvSpPr>
        <p:spPr>
          <a:xfrm>
            <a:off x="6766560" y="4962295"/>
            <a:ext cx="4572000" cy="228600"/>
          </a:xfrm>
          <a:prstGeom prst="rect">
            <a:avLst/>
          </a:prstGeom>
          <a:noFill/>
        </p:spPr>
        <p:txBody>
          <a:bodyPr wrap="square">
            <a:spAutoFit/>
          </a:bodyPr>
          <a:lstStyle/>
          <a:p>
            <a:pPr algn="l"/>
            <a:r>
              <a:rPr sz="1100" b="0">
                <a:solidFill>
                  <a:srgbClr val="6C757D"/>
                </a:solidFill>
                <a:latin typeface="Segoe UI"/>
              </a:rPr>
              <a:t>Occasionally shorter than 50-word target</a:t>
            </a:r>
          </a:p>
        </p:txBody>
      </p:sp>
      <p:sp>
        <p:nvSpPr>
          <p:cNvPr id="44" name="TextBox 43"/>
          <p:cNvSpPr txBox="1"/>
          <p:nvPr/>
        </p:nvSpPr>
        <p:spPr>
          <a:xfrm>
            <a:off x="6492240" y="5236615"/>
            <a:ext cx="274320" cy="228600"/>
          </a:xfrm>
          <a:prstGeom prst="rect">
            <a:avLst/>
          </a:prstGeom>
          <a:noFill/>
        </p:spPr>
        <p:txBody>
          <a:bodyPr wrap="square">
            <a:spAutoFit/>
          </a:bodyPr>
          <a:lstStyle/>
          <a:p>
            <a:pPr algn="l"/>
            <a:r>
              <a:rPr sz="1100" b="1">
                <a:solidFill>
                  <a:srgbClr val="FF6B35"/>
                </a:solidFill>
                <a:latin typeface="Segoe UI"/>
              </a:rPr>
              <a:t>△</a:t>
            </a:r>
          </a:p>
        </p:txBody>
      </p:sp>
      <p:sp>
        <p:nvSpPr>
          <p:cNvPr id="45" name="TextBox 44"/>
          <p:cNvSpPr txBox="1"/>
          <p:nvPr/>
        </p:nvSpPr>
        <p:spPr>
          <a:xfrm>
            <a:off x="6766560" y="5236615"/>
            <a:ext cx="4572000" cy="228600"/>
          </a:xfrm>
          <a:prstGeom prst="rect">
            <a:avLst/>
          </a:prstGeom>
          <a:noFill/>
        </p:spPr>
        <p:txBody>
          <a:bodyPr wrap="square">
            <a:spAutoFit/>
          </a:bodyPr>
          <a:lstStyle/>
          <a:p>
            <a:pPr algn="l"/>
            <a:r>
              <a:rPr sz="1100" b="0">
                <a:solidFill>
                  <a:srgbClr val="6C757D"/>
                </a:solidFill>
                <a:latin typeface="Segoe UI"/>
              </a:rPr>
              <a:t>Focuses on dominant sentiment</a:t>
            </a:r>
          </a:p>
        </p:txBody>
      </p:sp>
      <p:sp>
        <p:nvSpPr>
          <p:cNvPr id="46" name="Rounded Rectangle 45"/>
          <p:cNvSpPr/>
          <p:nvPr/>
        </p:nvSpPr>
        <p:spPr>
          <a:xfrm>
            <a:off x="457200" y="5760720"/>
            <a:ext cx="11338560" cy="54864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31520" y="5833872"/>
            <a:ext cx="10789920" cy="365760"/>
          </a:xfrm>
          <a:prstGeom prst="rect">
            <a:avLst/>
          </a:prstGeom>
          <a:noFill/>
        </p:spPr>
        <p:txBody>
          <a:bodyPr wrap="square">
            <a:spAutoFit/>
          </a:bodyPr>
          <a:lstStyle/>
          <a:p>
            <a:pPr algn="l"/>
            <a:r>
              <a:rPr sz="1300" b="0">
                <a:solidFill>
                  <a:srgbClr val="48CAE4"/>
                </a:solidFill>
                <a:latin typeface="Segoe UI"/>
              </a:rPr>
              <a:t>💡  Abstractive summarization generates new sentences — more natural &amp; readable than extractive methods</a:t>
            </a:r>
          </a:p>
        </p:txBody>
      </p:sp>
    </p:spTree>
  </p:cSld>
  <p:clrMapOvr>
    <a:masterClrMapping/>
  </p:clrMapOvr>
  <mc:AlternateContent xmlns:mc="http://schemas.openxmlformats.org/markup-compatibility/2006" xmlns:p159="http://schemas.microsoft.com/office/powerpoint/2015/09/main">
    <mc:Choice Requires="p159">
      <p:transition spd="med" advTm="17181">
        <p159:morph option="byObject"/>
      </p:transition>
    </mc:Choice>
    <mc:Fallback xmlns="">
      <p:transition spd="med" advTm="1718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0">
                <a:solidFill>
                  <a:srgbClr val="6C757D"/>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1">
                <a:solidFill>
                  <a:srgbClr val="00B4D8"/>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0">
                <a:solidFill>
                  <a:srgbClr val="6C757D"/>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Automatic Customer Service Response</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1417320"/>
            <a:ext cx="4572000" cy="4572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1444752"/>
            <a:ext cx="4114800" cy="365760"/>
          </a:xfrm>
          <a:prstGeom prst="rect">
            <a:avLst/>
          </a:prstGeom>
          <a:noFill/>
        </p:spPr>
        <p:txBody>
          <a:bodyPr wrap="square">
            <a:spAutoFit/>
          </a:bodyPr>
          <a:lstStyle/>
          <a:p>
            <a:pPr algn="l"/>
            <a:r>
              <a:rPr sz="1400" b="1">
                <a:solidFill>
                  <a:srgbClr val="48CAE4"/>
                </a:solidFill>
                <a:latin typeface="Segoe UI"/>
              </a:rPr>
              <a:t>🤗  google/flan-t5-large  (instruction-tuned)</a:t>
            </a:r>
          </a:p>
        </p:txBody>
      </p:sp>
      <p:sp>
        <p:nvSpPr>
          <p:cNvPr id="13" name="Rounded Rectangle 12"/>
          <p:cNvSpPr/>
          <p:nvPr/>
        </p:nvSpPr>
        <p:spPr>
          <a:xfrm>
            <a:off x="457200" y="2011680"/>
            <a:ext cx="11338560" cy="100584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hevron 13"/>
          <p:cNvSpPr/>
          <p:nvPr/>
        </p:nvSpPr>
        <p:spPr>
          <a:xfrm>
            <a:off x="731520" y="2148840"/>
            <a:ext cx="2468880" cy="731520"/>
          </a:xfrm>
          <a:prstGeom prst="chevron">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Customer
Review</a:t>
            </a:r>
          </a:p>
        </p:txBody>
      </p:sp>
      <p:sp>
        <p:nvSpPr>
          <p:cNvPr id="15" name="Chevron 14"/>
          <p:cNvSpPr/>
          <p:nvPr/>
        </p:nvSpPr>
        <p:spPr>
          <a:xfrm>
            <a:off x="3566160" y="2148840"/>
            <a:ext cx="2468880" cy="731520"/>
          </a:xfrm>
          <a:prstGeom prst="chevron">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Extract
Complaint</a:t>
            </a:r>
          </a:p>
        </p:txBody>
      </p:sp>
      <p:sp>
        <p:nvSpPr>
          <p:cNvPr id="16" name="Chevron 15"/>
          <p:cNvSpPr/>
          <p:nvPr/>
        </p:nvSpPr>
        <p:spPr>
          <a:xfrm>
            <a:off x="6400800" y="2148840"/>
            <a:ext cx="2468880" cy="731520"/>
          </a:xfrm>
          <a:prstGeom prst="chevron">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Design
Prompt</a:t>
            </a:r>
          </a:p>
        </p:txBody>
      </p:sp>
      <p:sp>
        <p:nvSpPr>
          <p:cNvPr id="17" name="Chevron 16"/>
          <p:cNvSpPr/>
          <p:nvPr/>
        </p:nvSpPr>
        <p:spPr>
          <a:xfrm>
            <a:off x="9235440" y="2148840"/>
            <a:ext cx="2468880" cy="731520"/>
          </a:xfrm>
          <a:prstGeom prst="chevron">
            <a:avLst/>
          </a:prstGeom>
          <a:solidFill>
            <a:srgbClr val="06D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Generate
Response</a:t>
            </a:r>
          </a:p>
        </p:txBody>
      </p:sp>
      <p:sp>
        <p:nvSpPr>
          <p:cNvPr id="18" name="Rounded Rectangle 17"/>
          <p:cNvSpPr/>
          <p:nvPr/>
        </p:nvSpPr>
        <p:spPr>
          <a:xfrm>
            <a:off x="457200" y="3200400"/>
            <a:ext cx="11338560" cy="256032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291840"/>
            <a:ext cx="2743200" cy="274320"/>
          </a:xfrm>
          <a:prstGeom prst="rect">
            <a:avLst/>
          </a:prstGeom>
          <a:noFill/>
        </p:spPr>
        <p:txBody>
          <a:bodyPr wrap="square">
            <a:spAutoFit/>
          </a:bodyPr>
          <a:lstStyle/>
          <a:p>
            <a:pPr algn="l"/>
            <a:r>
              <a:rPr sz="1500" b="1">
                <a:solidFill>
                  <a:srgbClr val="FFFFFF"/>
                </a:solidFill>
                <a:latin typeface="Segoe UI"/>
              </a:rPr>
              <a:t>Sample Result</a:t>
            </a:r>
          </a:p>
        </p:txBody>
      </p:sp>
      <p:sp>
        <p:nvSpPr>
          <p:cNvPr id="20" name="TextBox 19"/>
          <p:cNvSpPr txBox="1"/>
          <p:nvPr/>
        </p:nvSpPr>
        <p:spPr>
          <a:xfrm>
            <a:off x="731520" y="3657600"/>
            <a:ext cx="2743200" cy="228600"/>
          </a:xfrm>
          <a:prstGeom prst="rect">
            <a:avLst/>
          </a:prstGeom>
          <a:noFill/>
        </p:spPr>
        <p:txBody>
          <a:bodyPr wrap="square">
            <a:spAutoFit/>
          </a:bodyPr>
          <a:lstStyle/>
          <a:p>
            <a:pPr algn="l"/>
            <a:r>
              <a:rPr sz="1200" b="1">
                <a:solidFill>
                  <a:srgbClr val="FF6B35"/>
                </a:solidFill>
                <a:latin typeface="Segoe UI"/>
              </a:rPr>
              <a:t>📩 Customer Review:</a:t>
            </a:r>
          </a:p>
        </p:txBody>
      </p:sp>
      <p:sp>
        <p:nvSpPr>
          <p:cNvPr id="21" name="TextBox 20"/>
          <p:cNvSpPr txBox="1"/>
          <p:nvPr/>
        </p:nvSpPr>
        <p:spPr>
          <a:xfrm>
            <a:off x="731520" y="3886200"/>
            <a:ext cx="10515600" cy="320040"/>
          </a:xfrm>
          <a:prstGeom prst="rect">
            <a:avLst/>
          </a:prstGeom>
          <a:noFill/>
        </p:spPr>
        <p:txBody>
          <a:bodyPr wrap="square">
            <a:spAutoFit/>
          </a:bodyPr>
          <a:lstStyle/>
          <a:p>
            <a:pPr algn="l"/>
            <a:r>
              <a:rPr sz="1100" b="0">
                <a:solidFill>
                  <a:srgbClr val="6C757D"/>
                </a:solidFill>
                <a:latin typeface="Segoe UI"/>
              </a:rPr>
              <a:t>"I've found all kinds of uses for this product… however when removing it, the adhesive pulled paint off the wall…"</a:t>
            </a:r>
          </a:p>
        </p:txBody>
      </p:sp>
      <p:sp>
        <p:nvSpPr>
          <p:cNvPr id="22" name="TextBox 21"/>
          <p:cNvSpPr txBox="1"/>
          <p:nvPr/>
        </p:nvSpPr>
        <p:spPr>
          <a:xfrm>
            <a:off x="731520" y="4297680"/>
            <a:ext cx="2743200" cy="228600"/>
          </a:xfrm>
          <a:prstGeom prst="rect">
            <a:avLst/>
          </a:prstGeom>
          <a:noFill/>
        </p:spPr>
        <p:txBody>
          <a:bodyPr wrap="square">
            <a:spAutoFit/>
          </a:bodyPr>
          <a:lstStyle/>
          <a:p>
            <a:pPr algn="l"/>
            <a:r>
              <a:rPr sz="1200" b="1">
                <a:solidFill>
                  <a:srgbClr val="7B2D8E"/>
                </a:solidFill>
                <a:latin typeface="Segoe UI"/>
              </a:rPr>
              <a:t>🔍 Extracted Complaint:</a:t>
            </a:r>
          </a:p>
        </p:txBody>
      </p:sp>
      <p:sp>
        <p:nvSpPr>
          <p:cNvPr id="23" name="TextBox 22"/>
          <p:cNvSpPr txBox="1"/>
          <p:nvPr/>
        </p:nvSpPr>
        <p:spPr>
          <a:xfrm>
            <a:off x="731520" y="4526280"/>
            <a:ext cx="10515600" cy="320040"/>
          </a:xfrm>
          <a:prstGeom prst="rect">
            <a:avLst/>
          </a:prstGeom>
          <a:noFill/>
        </p:spPr>
        <p:txBody>
          <a:bodyPr wrap="square">
            <a:spAutoFit/>
          </a:bodyPr>
          <a:lstStyle/>
          <a:p>
            <a:pPr algn="l"/>
            <a:r>
              <a:rPr sz="1100" b="0">
                <a:solidFill>
                  <a:srgbClr val="6C757D"/>
                </a:solidFill>
                <a:latin typeface="Segoe UI"/>
              </a:rPr>
              <a:t>"The adhesive pulled paint off walls and is not wall-friendly like other products."</a:t>
            </a:r>
          </a:p>
        </p:txBody>
      </p:sp>
      <p:sp>
        <p:nvSpPr>
          <p:cNvPr id="24" name="TextBox 23"/>
          <p:cNvSpPr txBox="1"/>
          <p:nvPr/>
        </p:nvSpPr>
        <p:spPr>
          <a:xfrm>
            <a:off x="731520" y="4937760"/>
            <a:ext cx="2743200" cy="228600"/>
          </a:xfrm>
          <a:prstGeom prst="rect">
            <a:avLst/>
          </a:prstGeom>
          <a:noFill/>
        </p:spPr>
        <p:txBody>
          <a:bodyPr wrap="square">
            <a:spAutoFit/>
          </a:bodyPr>
          <a:lstStyle/>
          <a:p>
            <a:pPr algn="l"/>
            <a:r>
              <a:rPr sz="1200" b="1">
                <a:solidFill>
                  <a:srgbClr val="06D6A0"/>
                </a:solidFill>
                <a:latin typeface="Segoe UI"/>
              </a:rPr>
              <a:t>💬 Generated Response:</a:t>
            </a:r>
          </a:p>
        </p:txBody>
      </p:sp>
      <p:sp>
        <p:nvSpPr>
          <p:cNvPr id="25" name="TextBox 24"/>
          <p:cNvSpPr txBox="1"/>
          <p:nvPr/>
        </p:nvSpPr>
        <p:spPr>
          <a:xfrm>
            <a:off x="731520" y="5166360"/>
            <a:ext cx="10515600" cy="365760"/>
          </a:xfrm>
          <a:prstGeom prst="rect">
            <a:avLst/>
          </a:prstGeom>
          <a:noFill/>
        </p:spPr>
        <p:txBody>
          <a:bodyPr wrap="square">
            <a:spAutoFit/>
          </a:bodyPr>
          <a:lstStyle/>
          <a:p>
            <a:pPr algn="l"/>
            <a:r>
              <a:rPr sz="1100" b="0">
                <a:solidFill>
                  <a:srgbClr val="48CAE4"/>
                </a:solidFill>
                <a:latin typeface="Segoe UI"/>
              </a:rPr>
              <a:t>"Dear Customer, thank you for taking the time to share your experience… We sincerely apologize for the issue you described… Please contact our support team and we will assist you further."</a:t>
            </a:r>
          </a:p>
        </p:txBody>
      </p:sp>
      <p:sp>
        <p:nvSpPr>
          <p:cNvPr id="26" name="Rounded Rectangle 25"/>
          <p:cNvSpPr/>
          <p:nvPr/>
        </p:nvSpPr>
        <p:spPr>
          <a:xfrm>
            <a:off x="457200" y="5897880"/>
            <a:ext cx="5486400" cy="8686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5989320"/>
            <a:ext cx="5120640" cy="320040"/>
          </a:xfrm>
          <a:prstGeom prst="rect">
            <a:avLst/>
          </a:prstGeom>
          <a:noFill/>
        </p:spPr>
        <p:txBody>
          <a:bodyPr wrap="square">
            <a:spAutoFit/>
          </a:bodyPr>
          <a:lstStyle/>
          <a:p>
            <a:pPr algn="l"/>
            <a:r>
              <a:rPr sz="1200" b="0">
                <a:solidFill>
                  <a:srgbClr val="06D6A0"/>
                </a:solidFill>
                <a:latin typeface="Segoe UI"/>
              </a:rPr>
              <a:t>✓ Coherent  •  Polite  •  Well-structured  •  Acknowledges concerns</a:t>
            </a:r>
          </a:p>
        </p:txBody>
      </p:sp>
      <p:sp>
        <p:nvSpPr>
          <p:cNvPr id="28" name="TextBox 27"/>
          <p:cNvSpPr txBox="1"/>
          <p:nvPr/>
        </p:nvSpPr>
        <p:spPr>
          <a:xfrm>
            <a:off x="640080" y="6263640"/>
            <a:ext cx="1828800" cy="228600"/>
          </a:xfrm>
          <a:prstGeom prst="rect">
            <a:avLst/>
          </a:prstGeom>
          <a:noFill/>
        </p:spPr>
        <p:txBody>
          <a:bodyPr wrap="square">
            <a:spAutoFit/>
          </a:bodyPr>
          <a:lstStyle/>
          <a:p>
            <a:pPr algn="l"/>
            <a:r>
              <a:rPr sz="1000" b="0">
                <a:solidFill>
                  <a:srgbClr val="6C757D"/>
                </a:solidFill>
                <a:latin typeface="Segoe UI"/>
              </a:rPr>
              <a:t>Strengths</a:t>
            </a:r>
          </a:p>
        </p:txBody>
      </p:sp>
      <p:sp>
        <p:nvSpPr>
          <p:cNvPr id="29" name="Rounded Rectangle 28"/>
          <p:cNvSpPr/>
          <p:nvPr/>
        </p:nvSpPr>
        <p:spPr>
          <a:xfrm>
            <a:off x="6217920" y="5897880"/>
            <a:ext cx="5577840" cy="868680"/>
          </a:xfrm>
          <a:prstGeom prst="roundRect">
            <a:avLst/>
          </a:prstGeom>
          <a:solidFill>
            <a:srgbClr val="1D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00800" y="5989320"/>
            <a:ext cx="5120640" cy="320040"/>
          </a:xfrm>
          <a:prstGeom prst="rect">
            <a:avLst/>
          </a:prstGeom>
          <a:noFill/>
        </p:spPr>
        <p:txBody>
          <a:bodyPr wrap="square">
            <a:spAutoFit/>
          </a:bodyPr>
          <a:lstStyle/>
          <a:p>
            <a:pPr algn="l"/>
            <a:r>
              <a:rPr sz="1200" b="0">
                <a:solidFill>
                  <a:srgbClr val="FF6B35"/>
                </a:solidFill>
                <a:latin typeface="Segoe UI"/>
              </a:rPr>
              <a:t>△ Generic responses  •  No business context  •  Not always actionable</a:t>
            </a:r>
          </a:p>
        </p:txBody>
      </p:sp>
      <p:sp>
        <p:nvSpPr>
          <p:cNvPr id="31" name="TextBox 30"/>
          <p:cNvSpPr txBox="1"/>
          <p:nvPr/>
        </p:nvSpPr>
        <p:spPr>
          <a:xfrm>
            <a:off x="6400800" y="6263640"/>
            <a:ext cx="1828800" cy="228600"/>
          </a:xfrm>
          <a:prstGeom prst="rect">
            <a:avLst/>
          </a:prstGeom>
          <a:noFill/>
        </p:spPr>
        <p:txBody>
          <a:bodyPr wrap="square">
            <a:spAutoFit/>
          </a:bodyPr>
          <a:lstStyle/>
          <a:p>
            <a:pPr algn="l"/>
            <a:r>
              <a:rPr sz="1000" b="0">
                <a:solidFill>
                  <a:srgbClr val="6C757D"/>
                </a:solidFill>
                <a:latin typeface="Segoe UI"/>
              </a:rPr>
              <a:t>Limitations</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0F1B2D"/>
            </a:gs>
            <a:gs pos="100000">
              <a:srgbClr val="14243E"/>
            </a:gs>
          </a:gsLst>
          <a:lin ang="5400000" scaled="1"/>
        </a:gra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F1B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828800" cy="365760"/>
          </a:xfrm>
          <a:prstGeom prst="rect">
            <a:avLst/>
          </a:prstGeom>
          <a:noFill/>
        </p:spPr>
        <p:txBody>
          <a:bodyPr wrap="square">
            <a:spAutoFit/>
          </a:bodyPr>
          <a:lstStyle/>
          <a:p>
            <a:pPr algn="l"/>
            <a:r>
              <a:rPr sz="1200" b="0">
                <a:solidFill>
                  <a:srgbClr val="6C757D"/>
                </a:solidFill>
                <a:latin typeface="Segoe UI"/>
              </a:rPr>
              <a:t>Phase 1</a:t>
            </a:r>
          </a:p>
        </p:txBody>
      </p:sp>
      <p:sp>
        <p:nvSpPr>
          <p:cNvPr id="4" name="TextBox 3"/>
          <p:cNvSpPr txBox="1"/>
          <p:nvPr/>
        </p:nvSpPr>
        <p:spPr>
          <a:xfrm>
            <a:off x="2468880" y="109728"/>
            <a:ext cx="1828800" cy="365760"/>
          </a:xfrm>
          <a:prstGeom prst="rect">
            <a:avLst/>
          </a:prstGeom>
          <a:noFill/>
        </p:spPr>
        <p:txBody>
          <a:bodyPr wrap="square">
            <a:spAutoFit/>
          </a:bodyPr>
          <a:lstStyle/>
          <a:p>
            <a:pPr algn="l"/>
            <a:r>
              <a:rPr sz="1200" b="0">
                <a:solidFill>
                  <a:srgbClr val="6C757D"/>
                </a:solidFill>
                <a:latin typeface="Segoe UI"/>
              </a:rPr>
              <a:t>Phase 2</a:t>
            </a:r>
          </a:p>
        </p:txBody>
      </p:sp>
      <p:sp>
        <p:nvSpPr>
          <p:cNvPr id="5" name="TextBox 4"/>
          <p:cNvSpPr txBox="1"/>
          <p:nvPr/>
        </p:nvSpPr>
        <p:spPr>
          <a:xfrm>
            <a:off x="4480560" y="109728"/>
            <a:ext cx="1828800" cy="365760"/>
          </a:xfrm>
          <a:prstGeom prst="rect">
            <a:avLst/>
          </a:prstGeom>
          <a:noFill/>
        </p:spPr>
        <p:txBody>
          <a:bodyPr wrap="square">
            <a:spAutoFit/>
          </a:bodyPr>
          <a:lstStyle/>
          <a:p>
            <a:pPr algn="l"/>
            <a:r>
              <a:rPr sz="1200" b="0">
                <a:solidFill>
                  <a:srgbClr val="6C757D"/>
                </a:solidFill>
                <a:latin typeface="Segoe UI"/>
              </a:rPr>
              <a:t>LLM</a:t>
            </a:r>
          </a:p>
        </p:txBody>
      </p:sp>
      <p:sp>
        <p:nvSpPr>
          <p:cNvPr id="6" name="TextBox 5"/>
          <p:cNvSpPr txBox="1"/>
          <p:nvPr/>
        </p:nvSpPr>
        <p:spPr>
          <a:xfrm>
            <a:off x="6492240" y="109728"/>
            <a:ext cx="1828800" cy="365760"/>
          </a:xfrm>
          <a:prstGeom prst="rect">
            <a:avLst/>
          </a:prstGeom>
          <a:noFill/>
        </p:spPr>
        <p:txBody>
          <a:bodyPr wrap="square">
            <a:spAutoFit/>
          </a:bodyPr>
          <a:lstStyle/>
          <a:p>
            <a:pPr algn="l"/>
            <a:r>
              <a:rPr sz="1200" b="1">
                <a:solidFill>
                  <a:srgbClr val="00B4D8"/>
                </a:solidFill>
                <a:latin typeface="Segoe UI"/>
              </a:rPr>
              <a:t>Conclusions</a:t>
            </a:r>
          </a:p>
        </p:txBody>
      </p:sp>
      <p:sp>
        <p:nvSpPr>
          <p:cNvPr id="7" name="TextBox 6"/>
          <p:cNvSpPr txBox="1"/>
          <p:nvPr/>
        </p:nvSpPr>
        <p:spPr>
          <a:xfrm>
            <a:off x="9144000" y="109728"/>
            <a:ext cx="2743200" cy="365760"/>
          </a:xfrm>
          <a:prstGeom prst="rect">
            <a:avLst/>
          </a:prstGeom>
          <a:noFill/>
        </p:spPr>
        <p:txBody>
          <a:bodyPr wrap="square">
            <a:spAutoFit/>
          </a:bodyPr>
          <a:lstStyle/>
          <a:p>
            <a:pPr algn="r"/>
            <a:r>
              <a:rPr sz="1100" b="0">
                <a:solidFill>
                  <a:srgbClr val="6C757D"/>
                </a:solidFill>
                <a:latin typeface="Segoe UI"/>
              </a:rPr>
              <a:t>COMP 262 • Group 4</a:t>
            </a:r>
          </a:p>
        </p:txBody>
      </p:sp>
      <p:sp>
        <p:nvSpPr>
          <p:cNvPr id="8" name="Rounded Rectangle 7"/>
          <p:cNvSpPr/>
          <p:nvPr/>
        </p:nvSpPr>
        <p:spPr>
          <a:xfrm>
            <a:off x="0" y="6583680"/>
            <a:ext cx="12191695"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685800"/>
            <a:ext cx="10058400" cy="640080"/>
          </a:xfrm>
          <a:prstGeom prst="rect">
            <a:avLst/>
          </a:prstGeom>
          <a:noFill/>
        </p:spPr>
        <p:txBody>
          <a:bodyPr wrap="square">
            <a:spAutoFit/>
          </a:bodyPr>
          <a:lstStyle/>
          <a:p>
            <a:pPr algn="l"/>
            <a:r>
              <a:rPr sz="2800" b="1">
                <a:solidFill>
                  <a:srgbClr val="FFFFFF"/>
                </a:solidFill>
                <a:latin typeface="Segoe UI"/>
              </a:rPr>
              <a:t>Conclusions &amp; Future Work</a:t>
            </a:r>
          </a:p>
        </p:txBody>
      </p:sp>
      <p:sp>
        <p:nvSpPr>
          <p:cNvPr id="10" name="Rounded Rectangle 9"/>
          <p:cNvSpPr/>
          <p:nvPr/>
        </p:nvSpPr>
        <p:spPr>
          <a:xfrm>
            <a:off x="640080" y="1234440"/>
            <a:ext cx="1828800" cy="109728"/>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65760" y="1463040"/>
            <a:ext cx="3657600" cy="2926080"/>
          </a:xfrm>
          <a:prstGeom prst="round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65760" y="1517904"/>
            <a:ext cx="3657600" cy="287121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594360" y="1645920"/>
            <a:ext cx="457200" cy="457200"/>
          </a:xfrm>
          <a:prstGeom prst="ellipse">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1</a:t>
            </a:r>
          </a:p>
        </p:txBody>
      </p:sp>
      <p:sp>
        <p:nvSpPr>
          <p:cNvPr id="14" name="TextBox 13"/>
          <p:cNvSpPr txBox="1"/>
          <p:nvPr/>
        </p:nvSpPr>
        <p:spPr>
          <a:xfrm>
            <a:off x="1188720" y="1691640"/>
            <a:ext cx="2560320" cy="320040"/>
          </a:xfrm>
          <a:prstGeom prst="rect">
            <a:avLst/>
          </a:prstGeom>
          <a:noFill/>
        </p:spPr>
        <p:txBody>
          <a:bodyPr wrap="square">
            <a:spAutoFit/>
          </a:bodyPr>
          <a:lstStyle/>
          <a:p>
            <a:pPr algn="l"/>
            <a:r>
              <a:rPr sz="1600" b="1">
                <a:solidFill>
                  <a:srgbClr val="FFFFFF"/>
                </a:solidFill>
                <a:latin typeface="Segoe UI"/>
              </a:rPr>
              <a:t>Phase 1: Lexicon</a:t>
            </a:r>
          </a:p>
        </p:txBody>
      </p:sp>
      <p:sp>
        <p:nvSpPr>
          <p:cNvPr id="15" name="TextBox 14"/>
          <p:cNvSpPr txBox="1"/>
          <p:nvPr/>
        </p:nvSpPr>
        <p:spPr>
          <a:xfrm>
            <a:off x="594360" y="2286000"/>
            <a:ext cx="3200400" cy="1828800"/>
          </a:xfrm>
          <a:prstGeom prst="rect">
            <a:avLst/>
          </a:prstGeom>
          <a:noFill/>
        </p:spPr>
        <p:txBody>
          <a:bodyPr wrap="square">
            <a:spAutoFit/>
          </a:bodyPr>
          <a:lstStyle/>
          <a:p>
            <a:pPr>
              <a:spcBef>
                <a:spcPts val="200"/>
              </a:spcBef>
              <a:spcAft>
                <a:spcPts val="800"/>
              </a:spcAft>
            </a:pPr>
            <a:r>
              <a:rPr sz="1200" b="0">
                <a:solidFill>
                  <a:srgbClr val="06D6A0"/>
                </a:solidFill>
                <a:latin typeface="Segoe UI"/>
              </a:rPr>
              <a:t>✓ VADER outperforms TextBlob</a:t>
            </a:r>
          </a:p>
          <a:p>
            <a:pPr>
              <a:spcBef>
                <a:spcPts val="200"/>
              </a:spcBef>
              <a:spcAft>
                <a:spcPts val="800"/>
              </a:spcAft>
            </a:pPr>
            <a:r>
              <a:rPr sz="1200" b="0">
                <a:solidFill>
                  <a:srgbClr val="6C757D"/>
                </a:solidFill>
                <a:latin typeface="Segoe UI"/>
              </a:rPr>
              <a:t>  (higher Macro F1)</a:t>
            </a:r>
          </a:p>
          <a:p>
            <a:pPr>
              <a:spcBef>
                <a:spcPts val="200"/>
              </a:spcBef>
              <a:spcAft>
                <a:spcPts val="800"/>
              </a:spcAft>
            </a:pPr>
            <a:r>
              <a:rPr sz="1200" b="0">
                <a:solidFill>
                  <a:srgbClr val="6C757D"/>
                </a:solidFill>
                <a:latin typeface="Segoe UI"/>
              </a:rPr>
              <a:t>✓ Good baseline without training</a:t>
            </a:r>
          </a:p>
          <a:p>
            <a:pPr>
              <a:spcBef>
                <a:spcPts val="200"/>
              </a:spcBef>
              <a:spcAft>
                <a:spcPts val="800"/>
              </a:spcAft>
            </a:pPr>
            <a:r>
              <a:rPr sz="1200" b="0">
                <a:solidFill>
                  <a:srgbClr val="FF6B35"/>
                </a:solidFill>
                <a:latin typeface="Segoe UI"/>
              </a:rPr>
              <a:t>△ Struggles with Neutral reviews</a:t>
            </a:r>
          </a:p>
          <a:p>
            <a:pPr>
              <a:spcBef>
                <a:spcPts val="200"/>
              </a:spcBef>
              <a:spcAft>
                <a:spcPts val="800"/>
              </a:spcAft>
            </a:pPr>
            <a:r>
              <a:rPr sz="1200" b="0">
                <a:solidFill>
                  <a:srgbClr val="FF6B35"/>
                </a:solidFill>
                <a:latin typeface="Segoe UI"/>
              </a:rPr>
              <a:t>△ Cannot learn domain sentiment</a:t>
            </a:r>
          </a:p>
        </p:txBody>
      </p:sp>
      <p:sp>
        <p:nvSpPr>
          <p:cNvPr id="16" name="Rounded Rectangle 15"/>
          <p:cNvSpPr/>
          <p:nvPr/>
        </p:nvSpPr>
        <p:spPr>
          <a:xfrm>
            <a:off x="4251960" y="1463040"/>
            <a:ext cx="3657600" cy="292608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4251960" y="1517904"/>
            <a:ext cx="3657600" cy="287121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4480560" y="1645920"/>
            <a:ext cx="457200" cy="457200"/>
          </a:xfrm>
          <a:prstGeom prst="ellipse">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2</a:t>
            </a:r>
          </a:p>
        </p:txBody>
      </p:sp>
      <p:sp>
        <p:nvSpPr>
          <p:cNvPr id="19" name="TextBox 18"/>
          <p:cNvSpPr txBox="1"/>
          <p:nvPr/>
        </p:nvSpPr>
        <p:spPr>
          <a:xfrm>
            <a:off x="5074920" y="1691640"/>
            <a:ext cx="2560320" cy="320040"/>
          </a:xfrm>
          <a:prstGeom prst="rect">
            <a:avLst/>
          </a:prstGeom>
          <a:noFill/>
        </p:spPr>
        <p:txBody>
          <a:bodyPr wrap="square">
            <a:spAutoFit/>
          </a:bodyPr>
          <a:lstStyle/>
          <a:p>
            <a:pPr algn="l"/>
            <a:r>
              <a:rPr sz="1600" b="1">
                <a:solidFill>
                  <a:srgbClr val="FFFFFF"/>
                </a:solidFill>
                <a:latin typeface="Segoe UI"/>
              </a:rPr>
              <a:t>Phase 2: ML</a:t>
            </a:r>
          </a:p>
        </p:txBody>
      </p:sp>
      <p:sp>
        <p:nvSpPr>
          <p:cNvPr id="20" name="TextBox 19"/>
          <p:cNvSpPr txBox="1"/>
          <p:nvPr/>
        </p:nvSpPr>
        <p:spPr>
          <a:xfrm>
            <a:off x="4480560" y="2286000"/>
            <a:ext cx="3200400" cy="1828800"/>
          </a:xfrm>
          <a:prstGeom prst="rect">
            <a:avLst/>
          </a:prstGeom>
          <a:noFill/>
        </p:spPr>
        <p:txBody>
          <a:bodyPr wrap="square">
            <a:spAutoFit/>
          </a:bodyPr>
          <a:lstStyle/>
          <a:p>
            <a:pPr>
              <a:spcBef>
                <a:spcPts val="200"/>
              </a:spcBef>
              <a:spcAft>
                <a:spcPts val="800"/>
              </a:spcAft>
            </a:pPr>
            <a:r>
              <a:rPr sz="1200" b="0">
                <a:solidFill>
                  <a:srgbClr val="06D6A0"/>
                </a:solidFill>
                <a:latin typeface="Segoe UI"/>
              </a:rPr>
              <a:t>✓ Linear SVM = best model</a:t>
            </a:r>
          </a:p>
          <a:p>
            <a:pPr>
              <a:spcBef>
                <a:spcPts val="200"/>
              </a:spcBef>
              <a:spcAft>
                <a:spcPts val="800"/>
              </a:spcAft>
            </a:pPr>
            <a:r>
              <a:rPr sz="1200" b="0">
                <a:solidFill>
                  <a:srgbClr val="06D6A0"/>
                </a:solidFill>
                <a:latin typeface="Segoe UI"/>
              </a:rPr>
              <a:t>✓ ML beats lexicon on all metrics</a:t>
            </a:r>
          </a:p>
          <a:p>
            <a:pPr>
              <a:spcBef>
                <a:spcPts val="200"/>
              </a:spcBef>
              <a:spcAft>
                <a:spcPts val="800"/>
              </a:spcAft>
            </a:pPr>
            <a:r>
              <a:rPr sz="1200" b="0">
                <a:solidFill>
                  <a:srgbClr val="6C757D"/>
                </a:solidFill>
                <a:latin typeface="Segoe UI"/>
              </a:rPr>
              <a:t>✓ Sentiment CF improves MAE 6.7%</a:t>
            </a:r>
          </a:p>
          <a:p>
            <a:pPr>
              <a:spcBef>
                <a:spcPts val="200"/>
              </a:spcBef>
              <a:spcAft>
                <a:spcPts val="800"/>
              </a:spcAft>
            </a:pPr>
            <a:r>
              <a:rPr sz="1200" b="0">
                <a:solidFill>
                  <a:srgbClr val="FF6B35"/>
                </a:solidFill>
                <a:latin typeface="Segoe UI"/>
              </a:rPr>
              <a:t>△ Neutral class remains hardest</a:t>
            </a:r>
          </a:p>
        </p:txBody>
      </p:sp>
      <p:sp>
        <p:nvSpPr>
          <p:cNvPr id="21" name="Rounded Rectangle 20"/>
          <p:cNvSpPr/>
          <p:nvPr/>
        </p:nvSpPr>
        <p:spPr>
          <a:xfrm>
            <a:off x="8138160" y="1463040"/>
            <a:ext cx="3657600" cy="2926080"/>
          </a:xfrm>
          <a:prstGeom prst="roundRect">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138160" y="1517904"/>
            <a:ext cx="3657600" cy="2871216"/>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8366760" y="1645920"/>
            <a:ext cx="457200" cy="457200"/>
          </a:xfrm>
          <a:prstGeom prst="ellipse">
            <a:avLst/>
          </a:prstGeom>
          <a:solidFill>
            <a:srgbClr val="7B2D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3</a:t>
            </a:r>
          </a:p>
        </p:txBody>
      </p:sp>
      <p:sp>
        <p:nvSpPr>
          <p:cNvPr id="24" name="TextBox 23"/>
          <p:cNvSpPr txBox="1"/>
          <p:nvPr/>
        </p:nvSpPr>
        <p:spPr>
          <a:xfrm>
            <a:off x="8961120" y="1691640"/>
            <a:ext cx="2560320" cy="320040"/>
          </a:xfrm>
          <a:prstGeom prst="rect">
            <a:avLst/>
          </a:prstGeom>
          <a:noFill/>
        </p:spPr>
        <p:txBody>
          <a:bodyPr wrap="square">
            <a:spAutoFit/>
          </a:bodyPr>
          <a:lstStyle/>
          <a:p>
            <a:pPr algn="l"/>
            <a:r>
              <a:rPr sz="1600" b="1">
                <a:solidFill>
                  <a:srgbClr val="FFFFFF"/>
                </a:solidFill>
                <a:latin typeface="Segoe UI"/>
              </a:rPr>
              <a:t>LLM Tasks</a:t>
            </a:r>
          </a:p>
        </p:txBody>
      </p:sp>
      <p:sp>
        <p:nvSpPr>
          <p:cNvPr id="25" name="TextBox 24"/>
          <p:cNvSpPr txBox="1"/>
          <p:nvPr/>
        </p:nvSpPr>
        <p:spPr>
          <a:xfrm>
            <a:off x="8366760" y="2286000"/>
            <a:ext cx="3200400" cy="1828800"/>
          </a:xfrm>
          <a:prstGeom prst="rect">
            <a:avLst/>
          </a:prstGeom>
          <a:noFill/>
        </p:spPr>
        <p:txBody>
          <a:bodyPr wrap="square">
            <a:spAutoFit/>
          </a:bodyPr>
          <a:lstStyle/>
          <a:p>
            <a:pPr>
              <a:spcBef>
                <a:spcPts val="200"/>
              </a:spcBef>
              <a:spcAft>
                <a:spcPts val="800"/>
              </a:spcAft>
            </a:pPr>
            <a:r>
              <a:rPr sz="1200" b="0">
                <a:solidFill>
                  <a:srgbClr val="06D6A0"/>
                </a:solidFill>
                <a:latin typeface="Segoe UI"/>
              </a:rPr>
              <a:t>✓ Effective summarization</a:t>
            </a:r>
          </a:p>
          <a:p>
            <a:pPr>
              <a:spcBef>
                <a:spcPts val="200"/>
              </a:spcBef>
              <a:spcAft>
                <a:spcPts val="800"/>
              </a:spcAft>
            </a:pPr>
            <a:r>
              <a:rPr sz="1200" b="0">
                <a:solidFill>
                  <a:srgbClr val="06D6A0"/>
                </a:solidFill>
                <a:latin typeface="Segoe UI"/>
              </a:rPr>
              <a:t>✓ Coherent CS responses</a:t>
            </a:r>
          </a:p>
          <a:p>
            <a:pPr>
              <a:spcBef>
                <a:spcPts val="200"/>
              </a:spcBef>
              <a:spcAft>
                <a:spcPts val="800"/>
              </a:spcAft>
            </a:pPr>
            <a:r>
              <a:rPr sz="1200" b="0">
                <a:solidFill>
                  <a:srgbClr val="6C757D"/>
                </a:solidFill>
                <a:latin typeface="Segoe UI"/>
              </a:rPr>
              <a:t>✓ Extends beyond classification</a:t>
            </a:r>
          </a:p>
          <a:p>
            <a:pPr>
              <a:spcBef>
                <a:spcPts val="200"/>
              </a:spcBef>
              <a:spcAft>
                <a:spcPts val="800"/>
              </a:spcAft>
            </a:pPr>
            <a:r>
              <a:rPr sz="1200" b="0">
                <a:solidFill>
                  <a:srgbClr val="FF6B35"/>
                </a:solidFill>
                <a:latin typeface="Segoe UI"/>
              </a:rPr>
              <a:t>△ Pre-trained, not fine-tuned</a:t>
            </a:r>
          </a:p>
          <a:p>
            <a:pPr>
              <a:spcBef>
                <a:spcPts val="200"/>
              </a:spcBef>
              <a:spcAft>
                <a:spcPts val="800"/>
              </a:spcAft>
            </a:pPr>
            <a:r>
              <a:rPr sz="1200" b="0">
                <a:solidFill>
                  <a:srgbClr val="FF6B35"/>
                </a:solidFill>
                <a:latin typeface="Segoe UI"/>
              </a:rPr>
              <a:t>△ Can lack domain specificity</a:t>
            </a:r>
          </a:p>
        </p:txBody>
      </p:sp>
      <p:sp>
        <p:nvSpPr>
          <p:cNvPr id="26" name="Rounded Rectangle 25"/>
          <p:cNvSpPr/>
          <p:nvPr/>
        </p:nvSpPr>
        <p:spPr>
          <a:xfrm>
            <a:off x="365760" y="4663440"/>
            <a:ext cx="11430000" cy="1828800"/>
          </a:xfrm>
          <a:prstGeom prst="roundRect">
            <a:avLst/>
          </a:prstGeom>
          <a:solidFill>
            <a:srgbClr val="1A2B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0080" y="4754880"/>
            <a:ext cx="4572000" cy="320040"/>
          </a:xfrm>
          <a:prstGeom prst="rect">
            <a:avLst/>
          </a:prstGeom>
          <a:noFill/>
        </p:spPr>
        <p:txBody>
          <a:bodyPr wrap="square">
            <a:spAutoFit/>
          </a:bodyPr>
          <a:lstStyle/>
          <a:p>
            <a:pPr algn="l"/>
            <a:r>
              <a:rPr sz="1600" b="1">
                <a:solidFill>
                  <a:srgbClr val="FFFFFF"/>
                </a:solidFill>
                <a:latin typeface="Segoe UI"/>
              </a:rPr>
              <a:t>🚀  Future Improvements</a:t>
            </a:r>
          </a:p>
        </p:txBody>
      </p:sp>
      <p:sp>
        <p:nvSpPr>
          <p:cNvPr id="28" name="TextBox 27"/>
          <p:cNvSpPr txBox="1"/>
          <p:nvPr/>
        </p:nvSpPr>
        <p:spPr>
          <a:xfrm>
            <a:off x="640080" y="5166360"/>
            <a:ext cx="274320" cy="274320"/>
          </a:xfrm>
          <a:prstGeom prst="rect">
            <a:avLst/>
          </a:prstGeom>
          <a:noFill/>
        </p:spPr>
        <p:txBody>
          <a:bodyPr wrap="square">
            <a:spAutoFit/>
          </a:bodyPr>
          <a:lstStyle/>
          <a:p>
            <a:pPr algn="l"/>
            <a:r>
              <a:rPr sz="1400" b="0">
                <a:solidFill>
                  <a:srgbClr val="FFFFFF"/>
                </a:solidFill>
                <a:latin typeface="Segoe UI Emoji"/>
              </a:rPr>
              <a:t>🔬</a:t>
            </a:r>
          </a:p>
        </p:txBody>
      </p:sp>
      <p:sp>
        <p:nvSpPr>
          <p:cNvPr id="29" name="TextBox 28"/>
          <p:cNvSpPr txBox="1"/>
          <p:nvPr/>
        </p:nvSpPr>
        <p:spPr>
          <a:xfrm>
            <a:off x="960120" y="5166360"/>
            <a:ext cx="5029200" cy="274320"/>
          </a:xfrm>
          <a:prstGeom prst="rect">
            <a:avLst/>
          </a:prstGeom>
          <a:noFill/>
        </p:spPr>
        <p:txBody>
          <a:bodyPr wrap="square">
            <a:spAutoFit/>
          </a:bodyPr>
          <a:lstStyle/>
          <a:p>
            <a:pPr algn="l"/>
            <a:r>
              <a:rPr sz="1200" b="0">
                <a:solidFill>
                  <a:srgbClr val="6C757D"/>
                </a:solidFill>
                <a:latin typeface="Segoe UI"/>
              </a:rPr>
              <a:t>Fine-tune LLMs on domain-specific datasets</a:t>
            </a:r>
          </a:p>
        </p:txBody>
      </p:sp>
      <p:sp>
        <p:nvSpPr>
          <p:cNvPr id="30" name="TextBox 29"/>
          <p:cNvSpPr txBox="1"/>
          <p:nvPr/>
        </p:nvSpPr>
        <p:spPr>
          <a:xfrm>
            <a:off x="6309360" y="5166360"/>
            <a:ext cx="274320" cy="274320"/>
          </a:xfrm>
          <a:prstGeom prst="rect">
            <a:avLst/>
          </a:prstGeom>
          <a:noFill/>
        </p:spPr>
        <p:txBody>
          <a:bodyPr wrap="square">
            <a:spAutoFit/>
          </a:bodyPr>
          <a:lstStyle/>
          <a:p>
            <a:pPr algn="l"/>
            <a:r>
              <a:rPr sz="1400" b="0">
                <a:solidFill>
                  <a:srgbClr val="FFFFFF"/>
                </a:solidFill>
                <a:latin typeface="Segoe UI Emoji"/>
              </a:rPr>
              <a:t>🔗</a:t>
            </a:r>
          </a:p>
        </p:txBody>
      </p:sp>
      <p:sp>
        <p:nvSpPr>
          <p:cNvPr id="31" name="TextBox 30"/>
          <p:cNvSpPr txBox="1"/>
          <p:nvPr/>
        </p:nvSpPr>
        <p:spPr>
          <a:xfrm>
            <a:off x="6629400" y="5166360"/>
            <a:ext cx="5029200" cy="274320"/>
          </a:xfrm>
          <a:prstGeom prst="rect">
            <a:avLst/>
          </a:prstGeom>
          <a:noFill/>
        </p:spPr>
        <p:txBody>
          <a:bodyPr wrap="square">
            <a:spAutoFit/>
          </a:bodyPr>
          <a:lstStyle/>
          <a:p>
            <a:pPr algn="l"/>
            <a:r>
              <a:rPr sz="1200" b="0">
                <a:solidFill>
                  <a:srgbClr val="6C757D"/>
                </a:solidFill>
                <a:latin typeface="Segoe UI"/>
              </a:rPr>
              <a:t>Integrate retrieval-based systems for precise responses</a:t>
            </a:r>
          </a:p>
        </p:txBody>
      </p:sp>
      <p:sp>
        <p:nvSpPr>
          <p:cNvPr id="32" name="TextBox 31"/>
          <p:cNvSpPr txBox="1"/>
          <p:nvPr/>
        </p:nvSpPr>
        <p:spPr>
          <a:xfrm>
            <a:off x="640080" y="5669280"/>
            <a:ext cx="274320" cy="274320"/>
          </a:xfrm>
          <a:prstGeom prst="rect">
            <a:avLst/>
          </a:prstGeom>
          <a:noFill/>
        </p:spPr>
        <p:txBody>
          <a:bodyPr wrap="square">
            <a:spAutoFit/>
          </a:bodyPr>
          <a:lstStyle/>
          <a:p>
            <a:pPr algn="l"/>
            <a:r>
              <a:rPr sz="1400" b="0">
                <a:solidFill>
                  <a:srgbClr val="FFFFFF"/>
                </a:solidFill>
                <a:latin typeface="Segoe UI Emoji"/>
              </a:rPr>
              <a:t>🧠</a:t>
            </a:r>
          </a:p>
        </p:txBody>
      </p:sp>
      <p:sp>
        <p:nvSpPr>
          <p:cNvPr id="33" name="TextBox 32"/>
          <p:cNvSpPr txBox="1"/>
          <p:nvPr/>
        </p:nvSpPr>
        <p:spPr>
          <a:xfrm>
            <a:off x="960120" y="5669280"/>
            <a:ext cx="5029200" cy="274320"/>
          </a:xfrm>
          <a:prstGeom prst="rect">
            <a:avLst/>
          </a:prstGeom>
          <a:noFill/>
        </p:spPr>
        <p:txBody>
          <a:bodyPr wrap="square">
            <a:spAutoFit/>
          </a:bodyPr>
          <a:lstStyle/>
          <a:p>
            <a:pPr algn="l"/>
            <a:r>
              <a:rPr sz="1200" b="0">
                <a:solidFill>
                  <a:srgbClr val="6C757D"/>
                </a:solidFill>
                <a:latin typeface="Segoe UI"/>
              </a:rPr>
              <a:t>Explore deep learning (BERT, transformers) for classification</a:t>
            </a:r>
          </a:p>
        </p:txBody>
      </p:sp>
      <p:sp>
        <p:nvSpPr>
          <p:cNvPr id="34" name="TextBox 33"/>
          <p:cNvSpPr txBox="1"/>
          <p:nvPr/>
        </p:nvSpPr>
        <p:spPr>
          <a:xfrm>
            <a:off x="6309360" y="5669280"/>
            <a:ext cx="274320" cy="274320"/>
          </a:xfrm>
          <a:prstGeom prst="rect">
            <a:avLst/>
          </a:prstGeom>
          <a:noFill/>
        </p:spPr>
        <p:txBody>
          <a:bodyPr wrap="square">
            <a:spAutoFit/>
          </a:bodyPr>
          <a:lstStyle/>
          <a:p>
            <a:pPr algn="l"/>
            <a:r>
              <a:rPr sz="1400" b="0">
                <a:solidFill>
                  <a:srgbClr val="FFFFFF"/>
                </a:solidFill>
                <a:latin typeface="Segoe UI Emoji"/>
              </a:rPr>
              <a:t>⚡</a:t>
            </a:r>
          </a:p>
        </p:txBody>
      </p:sp>
      <p:sp>
        <p:nvSpPr>
          <p:cNvPr id="35" name="TextBox 34"/>
          <p:cNvSpPr txBox="1"/>
          <p:nvPr/>
        </p:nvSpPr>
        <p:spPr>
          <a:xfrm>
            <a:off x="6629400" y="5669280"/>
            <a:ext cx="5029200" cy="274320"/>
          </a:xfrm>
          <a:prstGeom prst="rect">
            <a:avLst/>
          </a:prstGeom>
          <a:noFill/>
        </p:spPr>
        <p:txBody>
          <a:bodyPr wrap="square">
            <a:spAutoFit/>
          </a:bodyPr>
          <a:lstStyle/>
          <a:p>
            <a:pPr algn="l"/>
            <a:r>
              <a:rPr sz="1200" b="0">
                <a:solidFill>
                  <a:srgbClr val="48CAE4"/>
                </a:solidFill>
                <a:latin typeface="Segoe UI"/>
              </a:rPr>
              <a:t>Strong potential for real-world integration of all approaches</a:t>
            </a:r>
          </a:p>
        </p:txBody>
      </p:sp>
    </p:spTree>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135</TotalTime>
  <Words>1709</Words>
  <Application>Microsoft Office PowerPoint</Application>
  <PresentationFormat>Widescreen</PresentationFormat>
  <Paragraphs>433</Paragraphs>
  <Slides>19</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Consolas</vt:lpstr>
      <vt:lpstr>Segoe UI</vt:lpstr>
      <vt:lpstr>Segoe UI Black</vt:lpstr>
      <vt:lpstr>Segoe UI Emoji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Administrator</dc:creator>
  <cp:keywords/>
  <dc:description>generated using python-pptx</dc:description>
  <cp:lastModifiedBy>Farshad kamali</cp:lastModifiedBy>
  <cp:revision>38</cp:revision>
  <dcterms:created xsi:type="dcterms:W3CDTF">2013-01-27T09:14:16Z</dcterms:created>
  <dcterms:modified xsi:type="dcterms:W3CDTF">2026-04-25T16:45:10Z</dcterms:modified>
  <cp:category/>
</cp:coreProperties>
</file>