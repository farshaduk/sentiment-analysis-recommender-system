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14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96" y="3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spcAft>
                <a:spcPts val="200"/>
              </a:spcAft>
              <a:defRPr sz="2000" b="0">
                <a:solidFill>
                  <a:srgbClr val="C0C8D4"/>
                </a:solidFill>
                <a:latin typeface="Calibri"/>
              </a:defRPr>
            </a:pPr>
            <a:r>
              <a:t>COMP 262 — Natural Language Processing &amp; Recommender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00"/>
              </a:lnSpc>
              <a:spcAft>
                <a:spcPts val="20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Phase #1: Sentiment Analysis</a:t>
            </a:r>
            <a:br/>
            <a:r>
              <a:t>Lexicon-Based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3200400"/>
            <a:ext cx="2743200" cy="381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Aft>
                <a:spcPts val="200"/>
              </a:spcAft>
              <a:defRPr sz="2200" b="1">
                <a:solidFill>
                  <a:srgbClr val="1B6ED4"/>
                </a:solidFill>
                <a:latin typeface="Calibri"/>
              </a:defRPr>
            </a:pPr>
            <a:r>
              <a:t>Amazon Product Reviews — Industrial &amp; Scientific 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60"/>
              </a:lnSpc>
              <a:spcAft>
                <a:spcPts val="200"/>
              </a:spcAft>
              <a:defRPr sz="2400" b="1">
                <a:solidFill>
                  <a:srgbClr val="E8A838"/>
                </a:solidFill>
                <a:latin typeface="Calibri"/>
              </a:defRPr>
            </a:pPr>
            <a:r>
              <a:rPr lang="en-US" dirty="0" smtClean="0"/>
              <a:t>Group</a:t>
            </a:r>
            <a:r>
              <a:rPr dirty="0" smtClean="0"/>
              <a:t> </a:t>
            </a:r>
            <a:r>
              <a:rPr dirty="0"/>
              <a:t>#4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892040"/>
            <a:ext cx="1033272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E767D"/>
                </a:solidFill>
              </a:defRPr>
            </a:pPr>
            <a:r>
              <a:rPr lang="en-US" sz="1400" dirty="0" err="1" smtClean="0">
                <a:solidFill>
                  <a:srgbClr val="6E767D"/>
                </a:solidFill>
              </a:rPr>
              <a:t>Mahyar</a:t>
            </a:r>
            <a:r>
              <a:rPr lang="en-US" sz="1400" dirty="0" smtClean="0">
                <a:solidFill>
                  <a:srgbClr val="6E767D"/>
                </a:solidFill>
              </a:rPr>
              <a:t> </a:t>
            </a:r>
            <a:r>
              <a:rPr lang="en-US" sz="1400" dirty="0" err="1">
                <a:solidFill>
                  <a:srgbClr val="6E767D"/>
                </a:solidFill>
              </a:rPr>
              <a:t>Eslami</a:t>
            </a:r>
            <a:r>
              <a:rPr lang="en-US" sz="1400" dirty="0">
                <a:solidFill>
                  <a:srgbClr val="6E767D"/>
                </a:solidFill>
              </a:rPr>
              <a:t> • </a:t>
            </a:r>
            <a:r>
              <a:rPr lang="en-US" sz="1400" dirty="0" err="1">
                <a:solidFill>
                  <a:srgbClr val="6E767D"/>
                </a:solidFill>
              </a:rPr>
              <a:t>Mauli</a:t>
            </a:r>
            <a:r>
              <a:rPr lang="en-US" sz="1400" dirty="0">
                <a:solidFill>
                  <a:srgbClr val="6E767D"/>
                </a:solidFill>
              </a:rPr>
              <a:t> Gandhi • </a:t>
            </a:r>
            <a:r>
              <a:rPr lang="en-US" sz="1400" dirty="0" err="1">
                <a:solidFill>
                  <a:srgbClr val="6E767D"/>
                </a:solidFill>
              </a:rPr>
              <a:t>Rouhollah</a:t>
            </a:r>
            <a:r>
              <a:rPr lang="en-US" sz="1400" dirty="0">
                <a:solidFill>
                  <a:srgbClr val="6E767D"/>
                </a:solidFill>
              </a:rPr>
              <a:t> </a:t>
            </a:r>
            <a:r>
              <a:rPr lang="en-US" sz="1400" dirty="0" err="1">
                <a:solidFill>
                  <a:srgbClr val="6E767D"/>
                </a:solidFill>
              </a:rPr>
              <a:t>Kamali</a:t>
            </a:r>
            <a:r>
              <a:rPr lang="en-US" sz="1400" dirty="0">
                <a:solidFill>
                  <a:srgbClr val="6E767D"/>
                </a:solidFill>
              </a:rPr>
              <a:t/>
            </a:r>
            <a:br>
              <a:rPr lang="en-US" sz="1400" dirty="0">
                <a:solidFill>
                  <a:srgbClr val="6E767D"/>
                </a:solidFill>
              </a:rPr>
            </a:br>
            <a:r>
              <a:rPr lang="en-US" sz="1400" dirty="0">
                <a:solidFill>
                  <a:srgbClr val="6E767D"/>
                </a:solidFill>
              </a:rPr>
              <a:t>Jose </a:t>
            </a:r>
            <a:r>
              <a:rPr lang="en-US" sz="1400" dirty="0" err="1">
                <a:solidFill>
                  <a:srgbClr val="6E767D"/>
                </a:solidFill>
              </a:rPr>
              <a:t>Pieruccini</a:t>
            </a:r>
            <a:r>
              <a:rPr lang="en-US" sz="1400" dirty="0">
                <a:solidFill>
                  <a:srgbClr val="6E767D"/>
                </a:solidFill>
              </a:rPr>
              <a:t> Arias • </a:t>
            </a:r>
            <a:r>
              <a:rPr lang="en-US" sz="1400" dirty="0" err="1">
                <a:solidFill>
                  <a:srgbClr val="6E767D"/>
                </a:solidFill>
              </a:rPr>
              <a:t>Arbina</a:t>
            </a:r>
            <a:r>
              <a:rPr lang="en-US" sz="1400" dirty="0">
                <a:solidFill>
                  <a:srgbClr val="6E767D"/>
                </a:solidFill>
              </a:rPr>
              <a:t> </a:t>
            </a:r>
            <a:r>
              <a:rPr lang="en-US" sz="1400" dirty="0" err="1">
                <a:solidFill>
                  <a:srgbClr val="6E767D"/>
                </a:solidFill>
              </a:rPr>
              <a:t>Shemael</a:t>
            </a:r>
            <a:endParaRPr lang="en-US" sz="1400" dirty="0">
              <a:solidFill>
                <a:srgbClr val="6E767D"/>
              </a:solidFill>
            </a:endParaRPr>
          </a:p>
          <a:p>
            <a:pPr>
              <a:defRPr sz="1400">
                <a:solidFill>
                  <a:srgbClr val="6E767D"/>
                </a:solidFill>
              </a:defRPr>
            </a:pPr>
            <a:r>
              <a:rPr lang="en-US" sz="1400" dirty="0">
                <a:solidFill>
                  <a:srgbClr val="6E767D"/>
                </a:solidFill>
              </a:rPr>
              <a:t>Professor: </a:t>
            </a:r>
            <a:r>
              <a:rPr lang="en-US" sz="1400" dirty="0" err="1">
                <a:solidFill>
                  <a:srgbClr val="6E767D"/>
                </a:solidFill>
              </a:rPr>
              <a:t>Sajid</a:t>
            </a:r>
            <a:r>
              <a:rPr lang="en-US" sz="1400" dirty="0">
                <a:solidFill>
                  <a:srgbClr val="6E767D"/>
                </a:solidFill>
              </a:rPr>
              <a:t> Hussain • Winter 2026</a:t>
            </a:r>
          </a:p>
          <a:p>
            <a:pPr algn="ctr">
              <a:lnSpc>
                <a:spcPts val="1839"/>
              </a:lnSpc>
              <a:spcAft>
                <a:spcPts val="200"/>
              </a:spcAft>
              <a:defRPr sz="1600" b="0">
                <a:solidFill>
                  <a:srgbClr val="8A94A6"/>
                </a:solidFill>
                <a:latin typeface="Calibri"/>
              </a:defRPr>
            </a:pP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B6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E8A838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645920" cy="508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914400" cy="411480"/>
          </a:xfrm>
          <a:prstGeom prst="rect">
            <a:avLst/>
          </a:prstGeom>
          <a:solidFill>
            <a:srgbClr val="1B6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717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7043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Dataset Data Exploration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7043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Counts, distributions, outliers, duplicates, word cloud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914400" cy="411480"/>
          </a:xfrm>
          <a:prstGeom prst="rect">
            <a:avLst/>
          </a:prstGeom>
          <a:solidFill>
            <a:srgbClr val="1B6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265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2529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Text Pre-processing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2529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Labelling, column selection, outlier detection, basic cleaning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88920"/>
            <a:ext cx="914400" cy="411480"/>
          </a:xfrm>
          <a:prstGeom prst="rect">
            <a:avLst/>
          </a:prstGeom>
          <a:solidFill>
            <a:srgbClr val="1B6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81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8016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Lexicon Package Study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8016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VADER vs TextBlob vs SentiWordNet — comparison &amp; selection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337560"/>
            <a:ext cx="914400" cy="411480"/>
          </a:xfrm>
          <a:prstGeom prst="rect">
            <a:avLst/>
          </a:prstGeom>
          <a:solidFill>
            <a:srgbClr val="1B6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362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3502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Per-Lexicon Preprocessing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3502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Minimal (VADER) vs light cleaning (TextBlob)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886200"/>
            <a:ext cx="914400" cy="411480"/>
          </a:xfrm>
          <a:prstGeom prst="rect">
            <a:avLst/>
          </a:prstGeom>
          <a:solidFill>
            <a:srgbClr val="1B6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911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8989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Random Sampling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8989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Stratified selection of 1,000 reviews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434840"/>
            <a:ext cx="914400" cy="411480"/>
          </a:xfrm>
          <a:prstGeom prst="rect">
            <a:avLst/>
          </a:prstGeom>
          <a:solidFill>
            <a:srgbClr val="1B6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460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4475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Model Building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4475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VADER &amp; TextBlob sentiment models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983480"/>
            <a:ext cx="914400" cy="411480"/>
          </a:xfrm>
          <a:prstGeom prst="rect">
            <a:avLst/>
          </a:prstGeom>
          <a:solidFill>
            <a:srgbClr val="1B6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00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49961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Validation &amp; Comparison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49961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Accuracy, Precision, Recall, F1, confusion matrices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E8A838"/>
                </a:solidFill>
                <a:latin typeface="Calibri"/>
              </a:defRPr>
            </a:pPr>
            <a:r>
              <a:t>Step 1 — Dataset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645920" cy="508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200"/>
              </a:spcAft>
              <a:defRPr sz="1800" b="0">
                <a:solidFill>
                  <a:srgbClr val="C0C8D4"/>
                </a:solidFill>
                <a:latin typeface="Calibri"/>
              </a:defRPr>
            </a:pPr>
            <a:r>
              <a:t>Amazon Industrial &amp; Scientific Reviews (Ni et al., 2019)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645920" cy="1097280"/>
          </a:xfrm>
          <a:prstGeom prst="rect">
            <a:avLst/>
          </a:prstGeom>
          <a:solidFill>
            <a:srgbClr val="121D38"/>
          </a:solidFill>
          <a:ln w="12700">
            <a:solidFill>
              <a:srgbClr val="1B6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E8A838"/>
                </a:solidFill>
                <a:latin typeface="Calibri"/>
              </a:defRPr>
            </a:pPr>
            <a:r>
              <a:t>77,071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200"/>
              </a:spcAft>
              <a:defRPr sz="1300" b="0">
                <a:solidFill>
                  <a:srgbClr val="C0C8D4"/>
                </a:solidFill>
                <a:latin typeface="Calibri"/>
              </a:defRPr>
            </a:pPr>
            <a:r>
              <a:t>Total Reviews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828800"/>
            <a:ext cx="1645920" cy="1097280"/>
          </a:xfrm>
          <a:prstGeom prst="rect">
            <a:avLst/>
          </a:prstGeom>
          <a:solidFill>
            <a:srgbClr val="121D38"/>
          </a:solidFill>
          <a:ln w="12700">
            <a:solidFill>
              <a:srgbClr val="1B6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68880" y="1965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E8A838"/>
                </a:solidFill>
                <a:latin typeface="Calibri"/>
              </a:defRPr>
            </a:pPr>
            <a:r>
              <a:t>5,334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200"/>
              </a:spcAft>
              <a:defRPr sz="1300" b="0">
                <a:solidFill>
                  <a:srgbClr val="C0C8D4"/>
                </a:solidFill>
                <a:latin typeface="Calibri"/>
              </a:defRPr>
            </a:pPr>
            <a:r>
              <a:t>Unique Products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828800"/>
            <a:ext cx="1645920" cy="1097280"/>
          </a:xfrm>
          <a:prstGeom prst="rect">
            <a:avLst/>
          </a:prstGeom>
          <a:solidFill>
            <a:srgbClr val="121D38"/>
          </a:solidFill>
          <a:ln w="12700">
            <a:solidFill>
              <a:srgbClr val="1B6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0" y="1965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E8A838"/>
                </a:solidFill>
                <a:latin typeface="Calibri"/>
              </a:defRPr>
            </a:pPr>
            <a:r>
              <a:t>11,041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468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200"/>
              </a:spcAft>
              <a:defRPr sz="1300" b="0">
                <a:solidFill>
                  <a:srgbClr val="C0C8D4"/>
                </a:solidFill>
                <a:latin typeface="Calibri"/>
              </a:defRPr>
            </a:pPr>
            <a:r>
              <a:t>Unique Users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828800"/>
            <a:ext cx="1645920" cy="1097280"/>
          </a:xfrm>
          <a:prstGeom prst="rect">
            <a:avLst/>
          </a:prstGeom>
          <a:solidFill>
            <a:srgbClr val="121D38"/>
          </a:solidFill>
          <a:ln w="12700">
            <a:solidFill>
              <a:srgbClr val="1B6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0" y="1965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E8A838"/>
                </a:solidFill>
                <a:latin typeface="Calibri"/>
              </a:defRPr>
            </a:pPr>
            <a:r>
              <a:t>4.52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468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200"/>
              </a:spcAft>
              <a:defRPr sz="1300" b="0">
                <a:solidFill>
                  <a:srgbClr val="C0C8D4"/>
                </a:solidFill>
                <a:latin typeface="Calibri"/>
              </a:defRPr>
            </a:pPr>
            <a:r>
              <a:t>Avg Rating 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80" y="1828800"/>
            <a:ext cx="1645920" cy="1097280"/>
          </a:xfrm>
          <a:prstGeom prst="rect">
            <a:avLst/>
          </a:prstGeom>
          <a:solidFill>
            <a:srgbClr val="121D38"/>
          </a:solidFill>
          <a:ln w="12700">
            <a:solidFill>
              <a:srgbClr val="1B6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0" y="1965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E8A838"/>
                </a:solidFill>
                <a:latin typeface="Calibri"/>
              </a:defRPr>
            </a:pPr>
            <a:r>
              <a:t>44.2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2468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200"/>
              </a:spcAft>
              <a:defRPr sz="1300" b="0">
                <a:solidFill>
                  <a:srgbClr val="C0C8D4"/>
                </a:solidFill>
                <a:latin typeface="Calibri"/>
              </a:defRPr>
            </a:pPr>
            <a:r>
              <a:t>Avg Word Count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1828800"/>
            <a:ext cx="1645920" cy="1097280"/>
          </a:xfrm>
          <a:prstGeom prst="rect">
            <a:avLst/>
          </a:prstGeom>
          <a:solidFill>
            <a:srgbClr val="121D38"/>
          </a:solidFill>
          <a:ln w="12700">
            <a:solidFill>
              <a:srgbClr val="1B6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84080" y="1965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E8A838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468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200"/>
              </a:spcAft>
              <a:defRPr sz="1300" b="0">
                <a:solidFill>
                  <a:srgbClr val="C0C8D4"/>
                </a:solidFill>
                <a:latin typeface="Calibri"/>
              </a:defRPr>
            </a:pPr>
            <a:r>
              <a:t>Columns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Aft>
                <a:spcPts val="2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Rating Distribution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40080" y="3749039"/>
          <a:ext cx="4572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Rating</a:t>
                      </a:r>
                    </a:p>
                  </a:txBody>
                  <a:tcPr anchor="ctr">
                    <a:solidFill>
                      <a:srgbClr val="154C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 anchor="ctr">
                    <a:solidFill>
                      <a:srgbClr val="154C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Percentage</a:t>
                      </a:r>
                    </a:p>
                  </a:txBody>
                  <a:tcPr anchor="ctr">
                    <a:solidFill>
                      <a:srgbClr val="154C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★★★★★ (5)</a:t>
                      </a:r>
                    </a:p>
                  </a:txBody>
                  <a:tcPr anchor="ctr">
                    <a:solidFill>
                      <a:srgbClr val="141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56,150</a:t>
                      </a:r>
                    </a:p>
                  </a:txBody>
                  <a:tcPr anchor="ctr">
                    <a:solidFill>
                      <a:srgbClr val="141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72.85%</a:t>
                      </a:r>
                    </a:p>
                  </a:txBody>
                  <a:tcPr anchor="ctr">
                    <a:solidFill>
                      <a:srgbClr val="141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★★★★ (4)</a:t>
                      </a:r>
                    </a:p>
                  </a:txBody>
                  <a:tcPr anchor="ctr"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12,061</a:t>
                      </a:r>
                    </a:p>
                  </a:txBody>
                  <a:tcPr anchor="ctr"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15.65%</a:t>
                      </a:r>
                    </a:p>
                  </a:txBody>
                  <a:tcPr anchor="ctr">
                    <a:solidFill>
                      <a:srgbClr val="0E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★★★ (3)</a:t>
                      </a:r>
                    </a:p>
                  </a:txBody>
                  <a:tcPr anchor="ctr">
                    <a:solidFill>
                      <a:srgbClr val="141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4,442</a:t>
                      </a:r>
                    </a:p>
                  </a:txBody>
                  <a:tcPr anchor="ctr">
                    <a:solidFill>
                      <a:srgbClr val="141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5.76%</a:t>
                      </a:r>
                    </a:p>
                  </a:txBody>
                  <a:tcPr anchor="ctr">
                    <a:solidFill>
                      <a:srgbClr val="141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★★ (2)</a:t>
                      </a:r>
                    </a:p>
                  </a:txBody>
                  <a:tcPr anchor="ctr"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1,936</a:t>
                      </a:r>
                    </a:p>
                  </a:txBody>
                  <a:tcPr anchor="ctr"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2.51%</a:t>
                      </a:r>
                    </a:p>
                  </a:txBody>
                  <a:tcPr anchor="ctr">
                    <a:solidFill>
                      <a:srgbClr val="0E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★ (1)</a:t>
                      </a:r>
                    </a:p>
                  </a:txBody>
                  <a:tcPr anchor="ctr">
                    <a:solidFill>
                      <a:srgbClr val="141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2,482</a:t>
                      </a:r>
                    </a:p>
                  </a:txBody>
                  <a:tcPr anchor="ctr">
                    <a:solidFill>
                      <a:srgbClr val="141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3.22%</a:t>
                      </a:r>
                    </a:p>
                  </a:txBody>
                  <a:tcPr anchor="ctr">
                    <a:solidFill>
                      <a:srgbClr val="141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943600" y="32918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Key Insights</a:t>
            </a:r>
          </a:p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• Dataset is heavily skewed — 72.85% five-star ratings</a:t>
            </a:r>
          </a:p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• Median review length: 18 words (many are very short)</a:t>
            </a:r>
          </a:p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• 25,507 duplicate review texts detected</a:t>
            </a:r>
          </a:p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• 97.8% of image fields are missing</a:t>
            </a:r>
          </a:p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• 87.5% of vote fields are missing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E8A838"/>
                </a:solidFill>
                <a:latin typeface="Calibri"/>
              </a:defRPr>
            </a:pPr>
            <a:r>
              <a:t>Step 1 — Exploration Visuals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645920" cy="508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at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486400" cy="1549424"/>
          </a:xfrm>
          <a:prstGeom prst="rect">
            <a:avLst/>
          </a:prstGeom>
        </p:spPr>
      </p:pic>
      <p:pic>
        <p:nvPicPr>
          <p:cNvPr id="5" name="Picture 4" descr="word_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486400" cy="28924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Rating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Word Cloud of Review 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E8A838"/>
                </a:solidFill>
                <a:latin typeface="Calibri"/>
              </a:defRPr>
            </a:pPr>
            <a:r>
              <a:t>Step 1 — Distribution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645920" cy="508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s_per_produc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0"/>
            <a:ext cx="5760720" cy="1573058"/>
          </a:xfrm>
          <a:prstGeom prst="rect">
            <a:avLst/>
          </a:prstGeom>
        </p:spPr>
      </p:pic>
      <p:pic>
        <p:nvPicPr>
          <p:cNvPr id="5" name="Picture 4" descr="reviews_per_user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45920"/>
            <a:ext cx="5760720" cy="15730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0350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Reviews per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60350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Reviews per User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E8A838"/>
                </a:solidFill>
                <a:latin typeface="Calibri"/>
              </a:defRPr>
            </a:pPr>
            <a:r>
              <a:t>Step 1 — Review Length &amp; Rating Correlation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645920" cy="508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view_length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0"/>
            <a:ext cx="5760720" cy="4096451"/>
          </a:xfrm>
          <a:prstGeom prst="rect">
            <a:avLst/>
          </a:prstGeom>
        </p:spPr>
      </p:pic>
      <p:pic>
        <p:nvPicPr>
          <p:cNvPr id="5" name="Picture 4" descr="rating_vs_leng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45920"/>
            <a:ext cx="5760720" cy="19630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0350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Review Length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60350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Rating vs. Review Length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E8A838"/>
                </a:solidFill>
                <a:latin typeface="Calibri"/>
              </a:defRPr>
            </a:pPr>
            <a:r>
              <a:t>Step 2 — Text Pre-processing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645920" cy="508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31763" y="1606238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rPr dirty="0"/>
              <a:t>Sentiment Labelling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endParaRPr dirty="0"/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rPr dirty="0"/>
              <a:t>   ★★★★–★★★★★  (4-5)  →  Positive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rPr dirty="0"/>
              <a:t>   ★★★  (3)              →  Neutral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rPr dirty="0"/>
              <a:t>   ★–★★  (1-2)          →  Negative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endParaRPr dirty="0"/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rPr dirty="0"/>
              <a:t>Column Selection (with justification)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endParaRPr dirty="0"/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rPr dirty="0"/>
              <a:t>  • </a:t>
            </a:r>
            <a:r>
              <a:rPr dirty="0" err="1"/>
              <a:t>reviewText</a:t>
            </a:r>
            <a:r>
              <a:rPr dirty="0"/>
              <a:t> — primary input for sentiment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rPr dirty="0"/>
              <a:t>  • overall — star rating for ground-truth labels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rPr dirty="0"/>
              <a:t>  • summary — reinforces/contradicts body text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rPr dirty="0"/>
              <a:t>  • </a:t>
            </a:r>
            <a:r>
              <a:rPr dirty="0" err="1"/>
              <a:t>asin</a:t>
            </a:r>
            <a:r>
              <a:rPr dirty="0"/>
              <a:t> — product ID for per-product tracking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rPr dirty="0"/>
              <a:t>  • </a:t>
            </a:r>
            <a:r>
              <a:rPr dirty="0" err="1"/>
              <a:t>reviewerID</a:t>
            </a:r>
            <a:r>
              <a:rPr dirty="0"/>
              <a:t> — user ID for per-user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3497" y="1715506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rPr dirty="0"/>
              <a:t>Outlier Detection (IQR Method)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endParaRPr dirty="0"/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rPr dirty="0"/>
              <a:t>  • </a:t>
            </a:r>
            <a:r>
              <a:rPr dirty="0" err="1"/>
              <a:t>review_length</a:t>
            </a:r>
            <a:r>
              <a:rPr dirty="0"/>
              <a:t> outliers: 7,330 (9.51%)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rPr dirty="0"/>
              <a:t>  • </a:t>
            </a:r>
            <a:r>
              <a:rPr dirty="0" err="1"/>
              <a:t>word_count</a:t>
            </a:r>
            <a:r>
              <a:rPr dirty="0"/>
              <a:t> outliers: 7,330 (9.51%)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rPr dirty="0"/>
              <a:t>  • Outliers flagged, not removed — lexicons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rPr dirty="0"/>
              <a:t>    handle variable-length text well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endParaRPr dirty="0"/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rPr dirty="0"/>
              <a:t>Basic Text Cleaning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endParaRPr dirty="0"/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rPr dirty="0"/>
              <a:t>  • Remove null / </a:t>
            </a:r>
            <a:r>
              <a:rPr dirty="0" err="1"/>
              <a:t>NaN</a:t>
            </a:r>
            <a:r>
              <a:rPr dirty="0"/>
              <a:t> entries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rPr dirty="0"/>
              <a:t>  • Strip residual HTML tags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rPr dirty="0"/>
              <a:t>  • Remove URLs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rPr dirty="0"/>
              <a:t>  • </a:t>
            </a:r>
            <a:r>
              <a:rPr dirty="0" err="1"/>
              <a:t>Normalise</a:t>
            </a:r>
            <a:r>
              <a:rPr dirty="0"/>
              <a:t> whitespace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rPr dirty="0"/>
              <a:t>  • Created '</a:t>
            </a:r>
            <a:r>
              <a:rPr dirty="0" err="1"/>
              <a:t>full_text</a:t>
            </a:r>
            <a:r>
              <a:rPr dirty="0"/>
              <a:t>' = summary + </a:t>
            </a:r>
            <a:r>
              <a:rPr dirty="0" err="1"/>
              <a:t>reviewText</a:t>
            </a:r>
            <a:endParaRPr dirty="0"/>
          </a:p>
        </p:txBody>
      </p:sp>
      <p:pic>
        <p:nvPicPr>
          <p:cNvPr id="6" name="Picture 5" descr="sentime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748" y="1214599"/>
            <a:ext cx="4114800" cy="29127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E8A838"/>
                </a:solidFill>
                <a:latin typeface="Calibri"/>
              </a:defRPr>
            </a:pPr>
            <a:r>
              <a:t>Step 3 — Lexicon Package Study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645920" cy="508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200"/>
              </a:spcAft>
              <a:defRPr sz="1800" b="0">
                <a:solidFill>
                  <a:srgbClr val="C0C8D4"/>
                </a:solidFill>
                <a:latin typeface="Calibri"/>
              </a:defRPr>
            </a:pPr>
            <a:r>
              <a:t>Comparing VADER, TextBlob, and SentiWordNet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47472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669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2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VADER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200"/>
              </a:spcAft>
              <a:defRPr sz="1300" b="0">
                <a:solidFill>
                  <a:srgbClr val="C0C8D4"/>
                </a:solidFill>
                <a:latin typeface="Calibri"/>
              </a:defRPr>
            </a:pPr>
            <a:r>
              <a:t>✓ Designed for informal / social text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300" b="0">
                <a:solidFill>
                  <a:srgbClr val="C0C8D4"/>
                </a:solidFill>
                <a:latin typeface="Calibri"/>
              </a:defRPr>
            </a:pPr>
            <a:r>
              <a:t>✓ Handles CAPS, punctuation (!!!)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300" b="0">
                <a:solidFill>
                  <a:srgbClr val="C0C8D4"/>
                </a:solidFill>
                <a:latin typeface="Calibri"/>
              </a:defRPr>
            </a:pPr>
            <a:r>
              <a:t>✓ Degree modifiers &amp; negation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300" b="0">
                <a:solidFill>
                  <a:srgbClr val="C0C8D4"/>
                </a:solidFill>
                <a:latin typeface="Calibri"/>
              </a:defRPr>
            </a:pPr>
            <a:r>
              <a:t>✓ Fastest execution (0.001s)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300" b="0">
                <a:solidFill>
                  <a:srgbClr val="C0C8D4"/>
                </a:solidFill>
                <a:latin typeface="Calibri"/>
              </a:defRPr>
            </a:pPr>
            <a:r>
              <a:t>✓ Compound score aggregation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300" b="0">
                <a:solidFill>
                  <a:srgbClr val="C0C8D4"/>
                </a:solidFill>
                <a:latin typeface="Calibri"/>
              </a:defRPr>
            </a:pPr>
            <a:r>
              <a:t>✗ Rule-based — not trainable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300" b="0">
                <a:solidFill>
                  <a:srgbClr val="C0C8D4"/>
                </a:solidFill>
                <a:latin typeface="Calibri"/>
              </a:defRPr>
            </a:pPr>
            <a:r>
              <a:t>✗ Weaker on formal text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828800"/>
            <a:ext cx="3474720" cy="457200"/>
          </a:xfrm>
          <a:prstGeom prst="rect">
            <a:avLst/>
          </a:prstGeom>
          <a:solidFill>
            <a:srgbClr val="1B6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60520" y="18669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2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TextBlob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37744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200"/>
              </a:spcAft>
              <a:defRPr sz="1300" b="0">
                <a:solidFill>
                  <a:srgbClr val="C0C8D4"/>
                </a:solidFill>
                <a:latin typeface="Calibri"/>
              </a:defRPr>
            </a:pPr>
            <a:r>
              <a:t>✓ Simple API (polarity + subjectivity)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300" b="0">
                <a:solidFill>
                  <a:srgbClr val="C0C8D4"/>
                </a:solidFill>
                <a:latin typeface="Calibri"/>
              </a:defRPr>
            </a:pPr>
            <a:r>
              <a:t>✓ Good general-purpose analyser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300" b="0">
                <a:solidFill>
                  <a:srgbClr val="C0C8D4"/>
                </a:solidFill>
                <a:latin typeface="Calibri"/>
              </a:defRPr>
            </a:pPr>
            <a:r>
              <a:t>✓ Subjectivity score is useful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300" b="0">
                <a:solidFill>
                  <a:srgbClr val="C0C8D4"/>
                </a:solidFill>
                <a:latin typeface="Calibri"/>
              </a:defRPr>
            </a:pPr>
            <a:r>
              <a:t>✓ Built on Pattern library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300" b="0">
                <a:solidFill>
                  <a:srgbClr val="C0C8D4"/>
                </a:solidFill>
                <a:latin typeface="Calibri"/>
              </a:defRPr>
            </a:pPr>
            <a:r>
              <a:t>✗ No capitalisation handling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300" b="0">
                <a:solidFill>
                  <a:srgbClr val="C0C8D4"/>
                </a:solidFill>
                <a:latin typeface="Calibri"/>
              </a:defRPr>
            </a:pPr>
            <a:r>
              <a:t>✗ Less nuanced for reviews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300" b="0">
                <a:solidFill>
                  <a:srgbClr val="C0C8D4"/>
                </a:solidFill>
                <a:latin typeface="Calibri"/>
              </a:defRPr>
            </a:pP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63840" y="1828800"/>
            <a:ext cx="347472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18669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2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SentiWordNet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37744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200"/>
              </a:spcAft>
              <a:defRPr sz="1300" b="0">
                <a:solidFill>
                  <a:srgbClr val="C0C8D4"/>
                </a:solidFill>
                <a:latin typeface="Calibri"/>
              </a:defRPr>
            </a:pPr>
            <a:r>
              <a:t>✓ Based on WordNet semantics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300" b="0">
                <a:solidFill>
                  <a:srgbClr val="C0C8D4"/>
                </a:solidFill>
                <a:latin typeface="Calibri"/>
              </a:defRPr>
            </a:pPr>
            <a:r>
              <a:t>✓ Separate pos / neg / obj scores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300" b="0">
                <a:solidFill>
                  <a:srgbClr val="C0C8D4"/>
                </a:solidFill>
                <a:latin typeface="Calibri"/>
              </a:defRPr>
            </a:pPr>
            <a:r>
              <a:t>✓ Word-level inspection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300" b="0">
                <a:solidFill>
                  <a:srgbClr val="C0C8D4"/>
                </a:solidFill>
                <a:latin typeface="Calibri"/>
              </a:defRPr>
            </a:pPr>
            <a:r>
              <a:t>✗ Heavy preprocessing required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300" b="0">
                <a:solidFill>
                  <a:srgbClr val="C0C8D4"/>
                </a:solidFill>
                <a:latin typeface="Calibri"/>
              </a:defRPr>
            </a:pPr>
            <a:r>
              <a:t>✗ Slowest (0.013s — 13× VADER)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300" b="0">
                <a:solidFill>
                  <a:srgbClr val="C0C8D4"/>
                </a:solidFill>
                <a:latin typeface="Calibri"/>
              </a:defRPr>
            </a:pPr>
            <a:r>
              <a:t>✗ No negation handling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300" b="0">
                <a:solidFill>
                  <a:srgbClr val="C0C8D4"/>
                </a:solidFill>
                <a:latin typeface="Calibri"/>
              </a:defRPr>
            </a:pPr>
            <a:r>
              <a:t>✗ First-synset heuristic errors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25"/>
              </a:lnSpc>
              <a:spcAft>
                <a:spcPts val="200"/>
              </a:spcAft>
              <a:defRPr sz="1500" b="0">
                <a:solidFill>
                  <a:srgbClr val="8A94A6"/>
                </a:solidFill>
                <a:latin typeface="Calibri"/>
              </a:defRPr>
            </a:pPr>
            <a:r>
              <a:t>Agreement:  VADER–TextBlob 75%  |  VADER–SentiWordNet 45%  |  TextBlob–SentiWordNet 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200"/>
              </a:spcAft>
              <a:defRPr sz="1800" b="1">
                <a:solidFill>
                  <a:srgbClr val="E8A838"/>
                </a:solidFill>
                <a:latin typeface="Calibri"/>
              </a:defRPr>
            </a:pPr>
            <a:r>
              <a:t>★  Selected: VADER &amp; TextBlob    ✗  Rejected: SentiWordNet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E8A838"/>
                </a:solidFill>
                <a:latin typeface="Calibri"/>
              </a:defRPr>
            </a:pPr>
            <a:r>
              <a:t>Step 4 — Per-Lexicon Text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645920" cy="508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200"/>
              </a:spcAft>
              <a:defRPr sz="1800" b="0">
                <a:solidFill>
                  <a:srgbClr val="C0C8D4"/>
                </a:solidFill>
                <a:latin typeface="Calibri"/>
              </a:defRPr>
            </a:pPr>
            <a:r>
              <a:t>Why minimal preprocessing preserves sentiment signals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029200" cy="3840480"/>
          </a:xfrm>
          <a:prstGeom prst="rect">
            <a:avLst/>
          </a:prstGeom>
          <a:solidFill>
            <a:srgbClr val="121D38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200"/>
              </a:spcAft>
              <a:defRPr sz="1800" b="1">
                <a:solidFill>
                  <a:srgbClr val="2ECC71"/>
                </a:solidFill>
                <a:latin typeface="Calibri"/>
              </a:defRPr>
            </a:pPr>
            <a:r>
              <a:t>VADER — Minimal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• Preserve CAPITALISATION → emphasis signal</a:t>
            </a:r>
          </a:p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• Preserve punctuation (!!!) → intensity signal</a:t>
            </a:r>
          </a:p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• Preserve degree modifiers (very, extremely)</a:t>
            </a:r>
          </a:p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• Keep negation words (not, never)</a:t>
            </a:r>
          </a:p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• Only: strip leading/trailing whitespace</a:t>
            </a:r>
          </a:p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endParaRPr/>
          </a:p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NOT applied:</a:t>
            </a:r>
          </a:p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  ✗ Lowercasing  ✗ Stop-word removal</a:t>
            </a:r>
          </a:p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  ✗ Stemming  ✗ Lemmatisation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029200" cy="3840480"/>
          </a:xfrm>
          <a:prstGeom prst="rect">
            <a:avLst/>
          </a:prstGeom>
          <a:solidFill>
            <a:srgbClr val="121D38"/>
          </a:solidFill>
          <a:ln w="12700">
            <a:solidFill>
              <a:srgbClr val="1B6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200"/>
              </a:spcAft>
              <a:defRPr sz="1800" b="1">
                <a:solidFill>
                  <a:srgbClr val="1B6ED4"/>
                </a:solidFill>
                <a:latin typeface="Calibri"/>
              </a:defRPr>
            </a:pPr>
            <a:r>
              <a:t>TextBlob — Light Cleaning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• Remove residual HTML tags</a:t>
            </a:r>
          </a:p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• Normalise whitespace</a:t>
            </a:r>
          </a:p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• TextBlob handles case-folding internally</a:t>
            </a:r>
          </a:p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• Keep original word forms for lookup</a:t>
            </a:r>
          </a:p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endParaRPr/>
          </a:p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NOT applied:</a:t>
            </a:r>
          </a:p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  ✗ Stop-word removal (removes context)</a:t>
            </a:r>
          </a:p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  ✗ Stemming (changes dictionary forms)</a:t>
            </a:r>
          </a:p>
          <a:p>
            <a:pPr algn="l">
              <a:lnSpc>
                <a:spcPts val="195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  ✗ Lemmatisation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E8A838"/>
                </a:solidFill>
                <a:latin typeface="Calibri"/>
              </a:defRPr>
            </a:pPr>
            <a:r>
              <a:t>Justification: Heavy preprocessing (stop-word removal, stemming) would strip the linguistic cues that both lexicon tools rely on for accurate sentiment scoring.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E8A838"/>
                </a:solidFill>
                <a:latin typeface="Calibri"/>
              </a:defRPr>
            </a:pPr>
            <a:r>
              <a:t>Steps 5–6 — Sampling &amp; Model Building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645920" cy="508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200"/>
              </a:spcAft>
              <a:defRPr sz="1800" b="0">
                <a:solidFill>
                  <a:srgbClr val="C0C8D4"/>
                </a:solidFill>
                <a:latin typeface="Calibri"/>
              </a:defRPr>
            </a:pPr>
            <a:r>
              <a:t>Stratified sample of 1,000 reviews → two lexicon-based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Stratified Random Sampling (Step 5)</a:t>
            </a:r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endParaRPr/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  • Sample size: 1,000 reviews</a:t>
            </a:r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  • Stratified by sentiment_label to preserve</a:t>
            </a:r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    class distribution from the full dataset</a:t>
            </a:r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  • Random seed = 42 for reproducibility</a:t>
            </a:r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endParaRPr/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Sample Class Distribution:</a:t>
            </a:r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  Positive:  ~810 reviews (81%)</a:t>
            </a:r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  Neutral:    ~58 reviews (5.8%)</a:t>
            </a:r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  Negative:   ~57 reviews (5.7%)</a:t>
            </a:r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  (mirrors full-dataset skew)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Model Building (Step 6)</a:t>
            </a:r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endParaRPr/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Model 1: VADER</a:t>
            </a:r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  • Input: full_text (summary + reviewText)</a:t>
            </a:r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  • Output: compound score → label</a:t>
            </a:r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  • Thresholds: ≥0.05 Pos, ≤-0.05 Neg</a:t>
            </a:r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endParaRPr/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Model 2: TextBlob</a:t>
            </a:r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  • Input: lightly cleaned full_text</a:t>
            </a:r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  • Output: polarity score → label</a:t>
            </a:r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  • Thresholds: &gt;0.1 Pos, &lt;-0.1 Neg</a:t>
            </a:r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endParaRPr/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Both use full_text = summary + reviewText</a:t>
            </a:r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for richer sentiment signal.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E8A838"/>
                </a:solidFill>
                <a:latin typeface="Calibri"/>
              </a:defRPr>
            </a:pPr>
            <a:r>
              <a:t>Step 7 — Model Comparison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645920" cy="508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82880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54C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VADER</a:t>
                      </a:r>
                    </a:p>
                  </a:txBody>
                  <a:tcPr anchor="ctr">
                    <a:solidFill>
                      <a:srgbClr val="154C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TextBlob</a:t>
                      </a:r>
                    </a:p>
                  </a:txBody>
                  <a:tcPr anchor="ctr">
                    <a:solidFill>
                      <a:srgbClr val="154C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Difference</a:t>
                      </a:r>
                    </a:p>
                  </a:txBody>
                  <a:tcPr anchor="ctr">
                    <a:solidFill>
                      <a:srgbClr val="154C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141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0.7930</a:t>
                      </a:r>
                    </a:p>
                  </a:txBody>
                  <a:tcPr anchor="ctr">
                    <a:solidFill>
                      <a:srgbClr val="141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0.7350</a:t>
                      </a:r>
                    </a:p>
                  </a:txBody>
                  <a:tcPr anchor="ctr">
                    <a:solidFill>
                      <a:srgbClr val="141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+0.0580</a:t>
                      </a:r>
                    </a:p>
                  </a:txBody>
                  <a:tcPr anchor="ctr">
                    <a:solidFill>
                      <a:srgbClr val="141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 (macro)</a:t>
                      </a:r>
                    </a:p>
                  </a:txBody>
                  <a:tcPr anchor="ctr"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0.4575</a:t>
                      </a:r>
                    </a:p>
                  </a:txBody>
                  <a:tcPr anchor="ctr"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0.4656</a:t>
                      </a:r>
                    </a:p>
                  </a:txBody>
                  <a:tcPr anchor="ctr"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−0.0081</a:t>
                      </a:r>
                    </a:p>
                  </a:txBody>
                  <a:tcPr anchor="ctr">
                    <a:solidFill>
                      <a:srgbClr val="0E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 (macro)</a:t>
                      </a:r>
                    </a:p>
                  </a:txBody>
                  <a:tcPr anchor="ctr">
                    <a:solidFill>
                      <a:srgbClr val="141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0.5143</a:t>
                      </a:r>
                    </a:p>
                  </a:txBody>
                  <a:tcPr anchor="ctr">
                    <a:solidFill>
                      <a:srgbClr val="141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0.4559</a:t>
                      </a:r>
                    </a:p>
                  </a:txBody>
                  <a:tcPr anchor="ctr">
                    <a:solidFill>
                      <a:srgbClr val="141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+0.0584</a:t>
                      </a:r>
                    </a:p>
                  </a:txBody>
                  <a:tcPr anchor="ctr">
                    <a:solidFill>
                      <a:srgbClr val="141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 (macro)</a:t>
                      </a:r>
                    </a:p>
                  </a:txBody>
                  <a:tcPr anchor="ctr"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0.4748</a:t>
                      </a:r>
                    </a:p>
                  </a:txBody>
                  <a:tcPr anchor="ctr"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0.4332</a:t>
                      </a:r>
                    </a:p>
                  </a:txBody>
                  <a:tcPr anchor="ctr"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+0.0416</a:t>
                      </a:r>
                    </a:p>
                  </a:txBody>
                  <a:tcPr anchor="ctr">
                    <a:solidFill>
                      <a:srgbClr val="0E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 (weighted)</a:t>
                      </a:r>
                    </a:p>
                  </a:txBody>
                  <a:tcPr anchor="ctr">
                    <a:solidFill>
                      <a:srgbClr val="141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0.8570</a:t>
                      </a:r>
                    </a:p>
                  </a:txBody>
                  <a:tcPr anchor="ctr">
                    <a:solidFill>
                      <a:srgbClr val="141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0.8550</a:t>
                      </a:r>
                    </a:p>
                  </a:txBody>
                  <a:tcPr anchor="ctr">
                    <a:solidFill>
                      <a:srgbClr val="141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+0.0020</a:t>
                      </a:r>
                    </a:p>
                  </a:txBody>
                  <a:tcPr anchor="ctr">
                    <a:solidFill>
                      <a:srgbClr val="141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 (weighted)</a:t>
                      </a:r>
                    </a:p>
                  </a:txBody>
                  <a:tcPr anchor="ctr"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0.7930</a:t>
                      </a:r>
                    </a:p>
                  </a:txBody>
                  <a:tcPr anchor="ctr"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0.7350</a:t>
                      </a:r>
                    </a:p>
                  </a:txBody>
                  <a:tcPr anchor="ctr">
                    <a:solidFill>
                      <a:srgbClr val="0E17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+0.0580</a:t>
                      </a:r>
                    </a:p>
                  </a:txBody>
                  <a:tcPr anchor="ctr">
                    <a:solidFill>
                      <a:srgbClr val="0E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 (weighted)</a:t>
                      </a:r>
                    </a:p>
                  </a:txBody>
                  <a:tcPr anchor="ctr">
                    <a:solidFill>
                      <a:srgbClr val="141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0.8212</a:t>
                      </a:r>
                    </a:p>
                  </a:txBody>
                  <a:tcPr anchor="ctr">
                    <a:solidFill>
                      <a:srgbClr val="141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0.7854</a:t>
                      </a:r>
                    </a:p>
                  </a:txBody>
                  <a:tcPr anchor="ctr">
                    <a:solidFill>
                      <a:srgbClr val="141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+0.0358</a:t>
                      </a:r>
                    </a:p>
                  </a:txBody>
                  <a:tcPr anchor="ctr">
                    <a:solidFill>
                      <a:srgbClr val="141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5486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39"/>
              </a:lnSpc>
              <a:spcAft>
                <a:spcPts val="200"/>
              </a:spcAft>
              <a:defRPr sz="1600" b="1">
                <a:solidFill>
                  <a:srgbClr val="E8A838"/>
                </a:solidFill>
                <a:latin typeface="Calibri"/>
              </a:defRPr>
            </a:pPr>
            <a:r>
              <a:t>VADER outperforms TextBlob on 6 of 7 metrics — TextBlob leads only on Precision (macro)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943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25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Agreement between models: 792 / 1,000 predictions (79.2%)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E8A838"/>
                </a:solidFill>
                <a:latin typeface="Calibri"/>
              </a:defRPr>
            </a:pPr>
            <a:r>
              <a:t>Step 7 — Confusion Matrices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645920" cy="508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onfusion_matrix_v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303520" cy="3972897"/>
          </a:xfrm>
          <a:prstGeom prst="rect">
            <a:avLst/>
          </a:prstGeom>
        </p:spPr>
      </p:pic>
      <p:pic>
        <p:nvPicPr>
          <p:cNvPr id="5" name="Picture 4" descr="confusion_matrix_textbl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303520" cy="39728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035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VADER — 207 misclassifications (20.7%)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6035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TextBlob — 265 misclassifications (26.5%)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E8A838"/>
                </a:solidFill>
                <a:latin typeface="Calibri"/>
              </a:defRPr>
            </a:pPr>
            <a:r>
              <a:t>Step 7 — Performance Visualisation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645920" cy="508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298" y="1148080"/>
            <a:ext cx="7212218" cy="53902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E8A838"/>
                </a:solidFill>
                <a:latin typeface="Calibri"/>
              </a:defRPr>
            </a:pPr>
            <a:r>
              <a:t>Step 7 — Error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645920" cy="508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200"/>
              </a:spcAft>
              <a:defRPr sz="1800" b="0">
                <a:solidFill>
                  <a:srgbClr val="C0C8D4"/>
                </a:solidFill>
                <a:latin typeface="Calibri"/>
              </a:defRPr>
            </a:pPr>
            <a:r>
              <a:t>Understanding why lexicon models 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90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VADER Misclassifications: 207 / 1,000 (20.7%)</a:t>
            </a:r>
          </a:p>
          <a:p>
            <a:pPr algn="l">
              <a:lnSpc>
                <a:spcPts val="1890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endParaRPr/>
          </a:p>
          <a:p>
            <a:pPr algn="l">
              <a:lnSpc>
                <a:spcPts val="1890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  Positive → Neutral:   95  (most common)</a:t>
            </a:r>
          </a:p>
          <a:p>
            <a:pPr algn="l">
              <a:lnSpc>
                <a:spcPts val="1890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  Positive → Negative:  37</a:t>
            </a:r>
          </a:p>
          <a:p>
            <a:pPr algn="l">
              <a:lnSpc>
                <a:spcPts val="1890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  Neutral  → Positive:  29</a:t>
            </a:r>
          </a:p>
          <a:p>
            <a:pPr algn="l">
              <a:lnSpc>
                <a:spcPts val="1890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  Neutral  → Negative:  20</a:t>
            </a:r>
          </a:p>
          <a:p>
            <a:pPr algn="l">
              <a:lnSpc>
                <a:spcPts val="1890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  Negative → Positive:  19</a:t>
            </a:r>
          </a:p>
          <a:p>
            <a:pPr algn="l">
              <a:lnSpc>
                <a:spcPts val="1890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  Negative → Neutral: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7373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90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TextBlob Misclassifications: 265 / 1,000 (26.5%)</a:t>
            </a:r>
          </a:p>
          <a:p>
            <a:pPr algn="l">
              <a:lnSpc>
                <a:spcPts val="1890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endParaRPr/>
          </a:p>
          <a:p>
            <a:pPr algn="l">
              <a:lnSpc>
                <a:spcPts val="1890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  Positive → Neutral:  165  (most common)</a:t>
            </a:r>
          </a:p>
          <a:p>
            <a:pPr algn="l">
              <a:lnSpc>
                <a:spcPts val="1890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  Neutral  → Positive:  32</a:t>
            </a:r>
          </a:p>
          <a:p>
            <a:pPr algn="l">
              <a:lnSpc>
                <a:spcPts val="1890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  Negative → Neutral:   27</a:t>
            </a:r>
          </a:p>
          <a:p>
            <a:pPr algn="l">
              <a:lnSpc>
                <a:spcPts val="1890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  Positive → Negative:  18</a:t>
            </a:r>
          </a:p>
          <a:p>
            <a:pPr algn="l">
              <a:lnSpc>
                <a:spcPts val="1890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  Negative → Positive:  16</a:t>
            </a:r>
          </a:p>
          <a:p>
            <a:pPr algn="l">
              <a:lnSpc>
                <a:spcPts val="1890"/>
              </a:lnSpc>
              <a:spcAft>
                <a:spcPts val="200"/>
              </a:spcAft>
              <a:defRPr sz="1400" b="0">
                <a:solidFill>
                  <a:srgbClr val="C0C8D4"/>
                </a:solidFill>
                <a:latin typeface="Calibri"/>
              </a:defRPr>
            </a:pPr>
            <a:r>
              <a:t>  Neutral  → Negative: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E8A838"/>
                </a:solidFill>
                <a:latin typeface="Calibri"/>
              </a:defRPr>
            </a:pPr>
            <a:r>
              <a:t>Common Failure Patterns:</a:t>
            </a:r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E8A838"/>
                </a:solidFill>
                <a:latin typeface="Calibri"/>
              </a:defRPr>
            </a:pPr>
            <a:r>
              <a:t>  • Sarcasm / irony — lexicons take words at face value</a:t>
            </a:r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E8A838"/>
                </a:solidFill>
                <a:latin typeface="Calibri"/>
              </a:defRPr>
            </a:pPr>
            <a:r>
              <a:t>  • Mixed sentiment — "Great product but shipping was awful"</a:t>
            </a:r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E8A838"/>
                </a:solidFill>
                <a:latin typeface="Calibri"/>
              </a:defRPr>
            </a:pPr>
            <a:r>
              <a:t>  • Short / vague reviews — too little text for reliable scoring</a:t>
            </a:r>
          </a:p>
          <a:p>
            <a:pPr algn="l">
              <a:lnSpc>
                <a:spcPts val="2025"/>
              </a:lnSpc>
              <a:spcAft>
                <a:spcPts val="200"/>
              </a:spcAft>
              <a:defRPr sz="1500" b="0">
                <a:solidFill>
                  <a:srgbClr val="E8A838"/>
                </a:solidFill>
                <a:latin typeface="Calibri"/>
              </a:defRPr>
            </a:pPr>
            <a:r>
              <a:t>  • Neutral class is hardest — overlaps with weak positive/negative signals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E8A838"/>
                </a:solidFill>
                <a:latin typeface="Calibri"/>
              </a:defRPr>
            </a:pPr>
            <a:r>
              <a:t>Conclusion &amp; Key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645920" cy="508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6820" y="1193800"/>
            <a:ext cx="6858000" cy="5606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200"/>
              </a:spcAft>
              <a:defRPr sz="1600" b="0">
                <a:solidFill>
                  <a:srgbClr val="C0C8D4"/>
                </a:solidFill>
                <a:latin typeface="Calibri"/>
              </a:defRPr>
            </a:pPr>
            <a:r>
              <a:rPr dirty="0"/>
              <a:t>VADER outperforms </a:t>
            </a:r>
            <a:r>
              <a:rPr dirty="0" err="1"/>
              <a:t>TextBlob</a:t>
            </a:r>
            <a:r>
              <a:rPr dirty="0"/>
              <a:t> across most metrics</a:t>
            </a:r>
          </a:p>
          <a:p>
            <a:pPr algn="l">
              <a:lnSpc>
                <a:spcPts val="2160"/>
              </a:lnSpc>
              <a:spcAft>
                <a:spcPts val="200"/>
              </a:spcAft>
              <a:defRPr sz="1600" b="0">
                <a:solidFill>
                  <a:srgbClr val="C0C8D4"/>
                </a:solidFill>
                <a:latin typeface="Calibri"/>
              </a:defRPr>
            </a:pPr>
            <a:endParaRPr dirty="0"/>
          </a:p>
          <a:p>
            <a:pPr algn="l">
              <a:lnSpc>
                <a:spcPts val="2160"/>
              </a:lnSpc>
              <a:spcAft>
                <a:spcPts val="200"/>
              </a:spcAft>
              <a:defRPr sz="1600" b="0">
                <a:solidFill>
                  <a:srgbClr val="C0C8D4"/>
                </a:solidFill>
                <a:latin typeface="Calibri"/>
              </a:defRPr>
            </a:pPr>
            <a:r>
              <a:rPr dirty="0"/>
              <a:t>   • Macro F1:  VADER 0.4748  vs  </a:t>
            </a:r>
            <a:r>
              <a:rPr dirty="0" err="1"/>
              <a:t>TextBlob</a:t>
            </a:r>
            <a:r>
              <a:rPr dirty="0"/>
              <a:t> 0.4332  (+4.2%)</a:t>
            </a:r>
          </a:p>
          <a:p>
            <a:pPr algn="l">
              <a:lnSpc>
                <a:spcPts val="2160"/>
              </a:lnSpc>
              <a:spcAft>
                <a:spcPts val="200"/>
              </a:spcAft>
              <a:defRPr sz="1600" b="0">
                <a:solidFill>
                  <a:srgbClr val="C0C8D4"/>
                </a:solidFill>
                <a:latin typeface="Calibri"/>
              </a:defRPr>
            </a:pPr>
            <a:r>
              <a:rPr dirty="0"/>
              <a:t>   • Weighted F1:  VADER 0.8212  vs  </a:t>
            </a:r>
            <a:r>
              <a:rPr dirty="0" err="1"/>
              <a:t>TextBlob</a:t>
            </a:r>
            <a:r>
              <a:rPr dirty="0"/>
              <a:t> 0.7854  (+3.6%)</a:t>
            </a:r>
          </a:p>
          <a:p>
            <a:pPr algn="l">
              <a:lnSpc>
                <a:spcPts val="2160"/>
              </a:lnSpc>
              <a:spcAft>
                <a:spcPts val="200"/>
              </a:spcAft>
              <a:defRPr sz="1600" b="0">
                <a:solidFill>
                  <a:srgbClr val="C0C8D4"/>
                </a:solidFill>
                <a:latin typeface="Calibri"/>
              </a:defRPr>
            </a:pPr>
            <a:r>
              <a:rPr dirty="0"/>
              <a:t>   • Accuracy:  VADER 79.3%  vs  </a:t>
            </a:r>
            <a:r>
              <a:rPr dirty="0" err="1"/>
              <a:t>TextBlob</a:t>
            </a:r>
            <a:r>
              <a:rPr dirty="0"/>
              <a:t> 73.5%  (+5.8%)</a:t>
            </a:r>
          </a:p>
          <a:p>
            <a:pPr algn="l">
              <a:lnSpc>
                <a:spcPts val="2160"/>
              </a:lnSpc>
              <a:spcAft>
                <a:spcPts val="200"/>
              </a:spcAft>
              <a:defRPr sz="1600" b="0">
                <a:solidFill>
                  <a:srgbClr val="C0C8D4"/>
                </a:solidFill>
                <a:latin typeface="Calibri"/>
              </a:defRPr>
            </a:pPr>
            <a:endParaRPr dirty="0"/>
          </a:p>
          <a:p>
            <a:pPr algn="l">
              <a:lnSpc>
                <a:spcPts val="2160"/>
              </a:lnSpc>
              <a:spcAft>
                <a:spcPts val="200"/>
              </a:spcAft>
              <a:defRPr sz="1600" b="0">
                <a:solidFill>
                  <a:srgbClr val="C0C8D4"/>
                </a:solidFill>
                <a:latin typeface="Calibri"/>
              </a:defRPr>
            </a:pPr>
            <a:r>
              <a:rPr dirty="0"/>
              <a:t>VADER excels with informal, short reviews with </a:t>
            </a:r>
            <a:r>
              <a:rPr dirty="0" smtClean="0"/>
              <a:t>capitalization</a:t>
            </a:r>
            <a:endParaRPr dirty="0"/>
          </a:p>
          <a:p>
            <a:pPr algn="l">
              <a:lnSpc>
                <a:spcPts val="2160"/>
              </a:lnSpc>
              <a:spcAft>
                <a:spcPts val="200"/>
              </a:spcAft>
              <a:defRPr sz="1600" b="0">
                <a:solidFill>
                  <a:srgbClr val="C0C8D4"/>
                </a:solidFill>
                <a:latin typeface="Calibri"/>
              </a:defRPr>
            </a:pPr>
            <a:r>
              <a:rPr dirty="0"/>
              <a:t>and punctuation emphasis — ideal for product reviews.</a:t>
            </a:r>
          </a:p>
          <a:p>
            <a:pPr algn="l">
              <a:lnSpc>
                <a:spcPts val="2160"/>
              </a:lnSpc>
              <a:spcAft>
                <a:spcPts val="200"/>
              </a:spcAft>
              <a:defRPr sz="1600" b="0">
                <a:solidFill>
                  <a:srgbClr val="C0C8D4"/>
                </a:solidFill>
                <a:latin typeface="Calibri"/>
              </a:defRPr>
            </a:pPr>
            <a:endParaRPr dirty="0"/>
          </a:p>
          <a:p>
            <a:pPr algn="l">
              <a:lnSpc>
                <a:spcPts val="2160"/>
              </a:lnSpc>
              <a:spcAft>
                <a:spcPts val="200"/>
              </a:spcAft>
              <a:defRPr sz="1600" b="0">
                <a:solidFill>
                  <a:srgbClr val="C0C8D4"/>
                </a:solidFill>
                <a:latin typeface="Calibri"/>
              </a:defRPr>
            </a:pPr>
            <a:r>
              <a:rPr dirty="0" err="1"/>
              <a:t>TextBlob</a:t>
            </a:r>
            <a:r>
              <a:rPr dirty="0"/>
              <a:t> is more conservative, frequently classifying</a:t>
            </a:r>
          </a:p>
          <a:p>
            <a:pPr algn="l">
              <a:lnSpc>
                <a:spcPts val="2160"/>
              </a:lnSpc>
              <a:spcAft>
                <a:spcPts val="200"/>
              </a:spcAft>
              <a:defRPr sz="1600" b="0">
                <a:solidFill>
                  <a:srgbClr val="C0C8D4"/>
                </a:solidFill>
                <a:latin typeface="Calibri"/>
              </a:defRPr>
            </a:pPr>
            <a:r>
              <a:rPr dirty="0"/>
              <a:t>reviews as Neutral — leading to higher Positive → Neutral errors.</a:t>
            </a:r>
          </a:p>
          <a:p>
            <a:pPr algn="l">
              <a:lnSpc>
                <a:spcPts val="2160"/>
              </a:lnSpc>
              <a:spcAft>
                <a:spcPts val="200"/>
              </a:spcAft>
              <a:defRPr sz="1600" b="0">
                <a:solidFill>
                  <a:srgbClr val="C0C8D4"/>
                </a:solidFill>
                <a:latin typeface="Calibri"/>
              </a:defRPr>
            </a:pPr>
            <a:endParaRPr dirty="0"/>
          </a:p>
          <a:p>
            <a:pPr algn="l">
              <a:lnSpc>
                <a:spcPts val="2160"/>
              </a:lnSpc>
              <a:spcAft>
                <a:spcPts val="200"/>
              </a:spcAft>
              <a:defRPr sz="1600" b="0">
                <a:solidFill>
                  <a:srgbClr val="C0C8D4"/>
                </a:solidFill>
                <a:latin typeface="Calibri"/>
              </a:defRPr>
            </a:pPr>
            <a:r>
              <a:rPr dirty="0"/>
              <a:t>Both models struggle with the Neutral class, sarcasm,</a:t>
            </a:r>
          </a:p>
          <a:p>
            <a:pPr algn="l">
              <a:lnSpc>
                <a:spcPts val="2160"/>
              </a:lnSpc>
              <a:spcAft>
                <a:spcPts val="200"/>
              </a:spcAft>
              <a:defRPr sz="1600" b="0">
                <a:solidFill>
                  <a:srgbClr val="C0C8D4"/>
                </a:solidFill>
                <a:latin typeface="Calibri"/>
              </a:defRPr>
            </a:pPr>
            <a:r>
              <a:rPr dirty="0"/>
              <a:t>and mixed-sentiment reviews.</a:t>
            </a:r>
          </a:p>
          <a:p>
            <a:pPr algn="l">
              <a:lnSpc>
                <a:spcPts val="2160"/>
              </a:lnSpc>
              <a:spcAft>
                <a:spcPts val="200"/>
              </a:spcAft>
              <a:defRPr sz="1600" b="0">
                <a:solidFill>
                  <a:srgbClr val="C0C8D4"/>
                </a:solidFill>
                <a:latin typeface="Calibri"/>
              </a:defRPr>
            </a:pPr>
            <a:endParaRPr dirty="0"/>
          </a:p>
          <a:p>
            <a:pPr algn="l">
              <a:lnSpc>
                <a:spcPts val="2160"/>
              </a:lnSpc>
              <a:spcAft>
                <a:spcPts val="200"/>
              </a:spcAft>
              <a:defRPr sz="1600" b="0">
                <a:solidFill>
                  <a:srgbClr val="C0C8D4"/>
                </a:solidFill>
                <a:latin typeface="Calibri"/>
              </a:defRPr>
            </a:pPr>
            <a:r>
              <a:rPr dirty="0"/>
              <a:t>Amazon review data is heavily skewed (72.85% five-star),</a:t>
            </a:r>
          </a:p>
          <a:p>
            <a:pPr algn="l">
              <a:lnSpc>
                <a:spcPts val="2160"/>
              </a:lnSpc>
              <a:spcAft>
                <a:spcPts val="200"/>
              </a:spcAft>
              <a:defRPr sz="1600" b="0">
                <a:solidFill>
                  <a:srgbClr val="C0C8D4"/>
                </a:solidFill>
                <a:latin typeface="Calibri"/>
              </a:defRPr>
            </a:pPr>
            <a:r>
              <a:rPr dirty="0"/>
              <a:t>making macro F1 the most informative metric for evaluating</a:t>
            </a:r>
          </a:p>
          <a:p>
            <a:pPr algn="l">
              <a:lnSpc>
                <a:spcPts val="2160"/>
              </a:lnSpc>
              <a:spcAft>
                <a:spcPts val="200"/>
              </a:spcAft>
              <a:defRPr sz="1600" b="0">
                <a:solidFill>
                  <a:srgbClr val="C0C8D4"/>
                </a:solidFill>
                <a:latin typeface="Calibri"/>
              </a:defRPr>
            </a:pPr>
            <a:r>
              <a:rPr dirty="0"/>
              <a:t>performance on minority classes (Neutral &amp; Negative).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828800"/>
            <a:ext cx="3657600" cy="2286000"/>
          </a:xfrm>
          <a:prstGeom prst="rect">
            <a:avLst/>
          </a:prstGeom>
          <a:solidFill>
            <a:srgbClr val="121D38"/>
          </a:solidFill>
          <a:ln w="12700">
            <a:solidFill>
              <a:srgbClr val="E8A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0" y="1920240"/>
            <a:ext cx="3657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200"/>
              </a:spcAft>
              <a:defRPr sz="1800" b="1">
                <a:solidFill>
                  <a:srgbClr val="E8A838"/>
                </a:solidFill>
                <a:latin typeface="Calibri"/>
              </a:defRPr>
            </a:pPr>
            <a:r>
              <a:t>Best Model</a:t>
            </a:r>
          </a:p>
          <a:p>
            <a:pPr algn="ctr">
              <a:lnSpc>
                <a:spcPts val="2340"/>
              </a:lnSpc>
              <a:spcAft>
                <a:spcPts val="200"/>
              </a:spcAft>
              <a:defRPr sz="1800" b="1">
                <a:solidFill>
                  <a:srgbClr val="E8A838"/>
                </a:solidFill>
                <a:latin typeface="Calibri"/>
              </a:defRPr>
            </a:pPr>
            <a:endParaRPr/>
          </a:p>
          <a:p>
            <a:pPr algn="ctr">
              <a:lnSpc>
                <a:spcPts val="2340"/>
              </a:lnSpc>
              <a:spcAft>
                <a:spcPts val="200"/>
              </a:spcAft>
              <a:defRPr sz="1800" b="1">
                <a:solidFill>
                  <a:srgbClr val="E8A838"/>
                </a:solidFill>
                <a:latin typeface="Calibri"/>
              </a:defRPr>
            </a:pPr>
            <a:r>
              <a:t>VADER</a:t>
            </a:r>
          </a:p>
          <a:p>
            <a:pPr algn="ctr">
              <a:lnSpc>
                <a:spcPts val="2340"/>
              </a:lnSpc>
              <a:spcAft>
                <a:spcPts val="200"/>
              </a:spcAft>
              <a:defRPr sz="1800" b="1">
                <a:solidFill>
                  <a:srgbClr val="E8A838"/>
                </a:solidFill>
                <a:latin typeface="Calibri"/>
              </a:defRPr>
            </a:pPr>
            <a:endParaRPr/>
          </a:p>
          <a:p>
            <a:pPr algn="ctr">
              <a:lnSpc>
                <a:spcPts val="2340"/>
              </a:lnSpc>
              <a:spcAft>
                <a:spcPts val="200"/>
              </a:spcAft>
              <a:defRPr sz="1800" b="1">
                <a:solidFill>
                  <a:srgbClr val="E8A838"/>
                </a:solidFill>
                <a:latin typeface="Calibri"/>
              </a:defRPr>
            </a:pPr>
            <a:r>
              <a:t>Macro F1: 0.4748</a:t>
            </a:r>
          </a:p>
          <a:p>
            <a:pPr algn="ctr">
              <a:lnSpc>
                <a:spcPts val="2340"/>
              </a:lnSpc>
              <a:spcAft>
                <a:spcPts val="200"/>
              </a:spcAft>
              <a:defRPr sz="1800" b="1">
                <a:solidFill>
                  <a:srgbClr val="E8A838"/>
                </a:solidFill>
                <a:latin typeface="Calibri"/>
              </a:defRPr>
            </a:pPr>
            <a:r>
              <a:t>Accuracy: 79.3%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4572000"/>
            <a:ext cx="3657600" cy="1645920"/>
          </a:xfrm>
          <a:prstGeom prst="rect">
            <a:avLst/>
          </a:prstGeom>
          <a:solidFill>
            <a:srgbClr val="121D38"/>
          </a:solidFill>
          <a:ln w="12700">
            <a:solidFill>
              <a:srgbClr val="1B6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0" y="466344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1B6ED4"/>
                </a:solidFill>
                <a:latin typeface="Calibri"/>
              </a:defRPr>
            </a:pPr>
            <a:r>
              <a:t>Next: Phase #2</a:t>
            </a:r>
          </a:p>
          <a:p>
            <a:pPr algn="ctr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1B6ED4"/>
                </a:solidFill>
                <a:latin typeface="Calibri"/>
              </a:defRPr>
            </a:pPr>
            <a:endParaRPr/>
          </a:p>
          <a:p>
            <a:pPr algn="ctr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1B6ED4"/>
                </a:solidFill>
                <a:latin typeface="Calibri"/>
              </a:defRPr>
            </a:pPr>
            <a:r>
              <a:t>Supervised ML models</a:t>
            </a:r>
          </a:p>
          <a:p>
            <a:pPr algn="ctr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1B6ED4"/>
                </a:solidFill>
                <a:latin typeface="Calibri"/>
              </a:defRPr>
            </a:pPr>
            <a:r>
              <a:t>trained on labelled data</a:t>
            </a:r>
          </a:p>
          <a:p>
            <a:pPr algn="ctr">
              <a:lnSpc>
                <a:spcPts val="1950"/>
              </a:lnSpc>
              <a:spcAft>
                <a:spcPts val="200"/>
              </a:spcAft>
              <a:defRPr sz="1500" b="0">
                <a:solidFill>
                  <a:srgbClr val="1B6ED4"/>
                </a:solidFill>
                <a:latin typeface="Calibri"/>
              </a:defRPr>
            </a:pPr>
            <a:r>
              <a:t>for improved performance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E8A838"/>
                </a:solidFill>
                <a:latin typeface="Calibri"/>
              </a:defRPr>
            </a:pPr>
            <a:r>
              <a:t>Project Architecture &amp;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645920" cy="508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Project Pipeline</a:t>
            </a:r>
          </a:p>
          <a:p>
            <a:pPr algn="l">
              <a:lnSpc>
                <a:spcPts val="210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endParaRPr/>
          </a:p>
          <a:p>
            <a:pPr algn="l">
              <a:lnSpc>
                <a:spcPts val="210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  main.py  →  orchestrates all 7 steps</a:t>
            </a:r>
          </a:p>
          <a:p>
            <a:pPr algn="l">
              <a:lnSpc>
                <a:spcPts val="210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  data_exploration.py  →  Step 1</a:t>
            </a:r>
          </a:p>
          <a:p>
            <a:pPr algn="l">
              <a:lnSpc>
                <a:spcPts val="210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  preprocessing.py  →  Step 2</a:t>
            </a:r>
          </a:p>
          <a:p>
            <a:pPr algn="l">
              <a:lnSpc>
                <a:spcPts val="210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  lexicon_analysis.py  →  Step 3</a:t>
            </a:r>
          </a:p>
          <a:p>
            <a:pPr algn="l">
              <a:lnSpc>
                <a:spcPts val="210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  sentiment_analysis.py  →  Steps 4–7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Libraries &amp; Tools</a:t>
            </a:r>
          </a:p>
          <a:p>
            <a:pPr algn="l">
              <a:lnSpc>
                <a:spcPts val="210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endParaRPr/>
          </a:p>
          <a:p>
            <a:pPr algn="l">
              <a:lnSpc>
                <a:spcPts val="210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  • pandas, numpy — data manipulation</a:t>
            </a:r>
          </a:p>
          <a:p>
            <a:pPr algn="l">
              <a:lnSpc>
                <a:spcPts val="210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  • matplotlib, seaborn — visualisation</a:t>
            </a:r>
          </a:p>
          <a:p>
            <a:pPr algn="l">
              <a:lnSpc>
                <a:spcPts val="210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  • vaderSentiment — VADER lexicon</a:t>
            </a:r>
          </a:p>
          <a:p>
            <a:pPr algn="l">
              <a:lnSpc>
                <a:spcPts val="210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  • textblob — TextBlob lexicon</a:t>
            </a:r>
          </a:p>
          <a:p>
            <a:pPr algn="l">
              <a:lnSpc>
                <a:spcPts val="210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  • nltk (SentiWordNet) — comparison only</a:t>
            </a:r>
          </a:p>
          <a:p>
            <a:pPr algn="l">
              <a:lnSpc>
                <a:spcPts val="210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  • scikit-learn — evaluation metrics</a:t>
            </a:r>
          </a:p>
          <a:p>
            <a:pPr algn="l">
              <a:lnSpc>
                <a:spcPts val="2100"/>
              </a:lnSpc>
              <a:spcAft>
                <a:spcPts val="200"/>
              </a:spcAft>
              <a:defRPr sz="1500" b="0">
                <a:solidFill>
                  <a:srgbClr val="C0C8D4"/>
                </a:solidFill>
                <a:latin typeface="Calibri"/>
              </a:defRPr>
            </a:pPr>
            <a:r>
              <a:t>  • wordcloud — text visualisation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8A94A6"/>
                </a:solidFill>
                <a:latin typeface="Calibri"/>
              </a:defRPr>
            </a:pPr>
            <a:r>
              <a:t>Generated Outputs: 16 files — reports (.txt), tables (.csv), visualisations (.png), preprocessed data (.csv)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8A94A6"/>
                </a:solidFill>
                <a:latin typeface="Calibri"/>
              </a:defRPr>
            </a:pPr>
            <a:r>
              <a:t>Dataset: Ni, J., Li, J., &amp; McAuley, J. (2019). Justifying recommendations using distantly-labeled reviews and fine-grained aspects. EMNLP-IJCNLP 2019.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520"/>
              </a:lnSpc>
              <a:spcAft>
                <a:spcPts val="20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3474720"/>
            <a:ext cx="2743200" cy="381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Aft>
                <a:spcPts val="200"/>
              </a:spcAft>
              <a:defRPr sz="2200" b="0">
                <a:solidFill>
                  <a:srgbClr val="1B6ED4"/>
                </a:solidFill>
                <a:latin typeface="Calibri"/>
              </a:defRPr>
            </a:pPr>
            <a:r>
              <a:t>Phase #1: Sentiment Analysis — Lexicon-Based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32720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200"/>
              </a:spcAft>
              <a:defRPr sz="1800" b="0">
                <a:solidFill>
                  <a:srgbClr val="C0C8D4"/>
                </a:solidFill>
                <a:latin typeface="Calibri"/>
              </a:defRPr>
            </a:pPr>
            <a:r>
              <a:rPr lang="en-US" dirty="0" smtClean="0"/>
              <a:t>Group</a:t>
            </a:r>
            <a:r>
              <a:rPr dirty="0" smtClean="0"/>
              <a:t> </a:t>
            </a:r>
            <a:r>
              <a:rPr dirty="0"/>
              <a:t>#4 — Industrial &amp; Scientific Dataset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B6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1499</Words>
  <Application>Microsoft Office PowerPoint</Application>
  <PresentationFormat>Widescreen</PresentationFormat>
  <Paragraphs>296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Administrator</cp:lastModifiedBy>
  <cp:revision>7</cp:revision>
  <dcterms:created xsi:type="dcterms:W3CDTF">2013-01-27T09:14:16Z</dcterms:created>
  <dcterms:modified xsi:type="dcterms:W3CDTF">2026-02-28T00:22:55Z</dcterms:modified>
  <cp:category/>
</cp:coreProperties>
</file>